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5" r:id="rId13"/>
    <p:sldId id="311" r:id="rId14"/>
    <p:sldId id="312"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FF99BB-7DF1-4147-8888-4F7E0E393560}" v="1" dt="2026-05-06T10:16:28.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25"/>
    <p:restoredTop sz="94610"/>
  </p:normalViewPr>
  <p:slideViewPr>
    <p:cSldViewPr snapToGrid="0" snapToObjects="1">
      <p:cViewPr varScale="1">
        <p:scale>
          <a:sx n="114" d="100"/>
          <a:sy n="114" d="100"/>
        </p:scale>
        <p:origin x="540"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022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3DB56-40B9-815E-07C9-26F4B7F9B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B99FB-9ECD-6091-64D1-35385BC584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8BC2DF-DFE5-A2C8-98C2-C8CC7F5124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875074-29B5-3B86-324D-80443DAF6B5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48060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095B-2C0C-81A5-7459-F7A95A23B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E7D59-BA84-9774-0E4C-182BBE8471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DA27F0-DAD8-4B7C-1715-202A30BC3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A7193E-7EA9-117E-FEEE-3AC007C1375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0638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00C4CC"/>
          </a:solidFill>
          <a:ln w="12700">
            <a:solidFill>
              <a:srgbClr val="00C4CC"/>
            </a:solidFill>
            <a:prstDash val="solid"/>
          </a:ln>
        </p:spPr>
        <p:txBody>
          <a:bodyPr/>
          <a:lstStyle/>
          <a:p>
            <a:endParaRPr lang="en-US"/>
          </a:p>
        </p:txBody>
      </p:sp>
      <p:sp>
        <p:nvSpPr>
          <p:cNvPr id="3" name="Text 1"/>
          <p:cNvSpPr/>
          <p:nvPr/>
        </p:nvSpPr>
        <p:spPr>
          <a:xfrm>
            <a:off x="256032" y="292608"/>
            <a:ext cx="8229600" cy="256032"/>
          </a:xfrm>
          <a:prstGeom prst="rect">
            <a:avLst/>
          </a:prstGeom>
          <a:noFill/>
          <a:ln/>
        </p:spPr>
        <p:txBody>
          <a:bodyPr wrap="square" lIns="0" tIns="0" rIns="0" bIns="0" rtlCol="0" anchor="ctr"/>
          <a:lstStyle/>
          <a:p>
            <a:pPr marL="0" indent="0">
              <a:buNone/>
            </a:pPr>
            <a:r>
              <a:rPr lang="en-US" sz="850" kern="0" spc="300" dirty="0">
                <a:solidFill>
                  <a:srgbClr val="A8B8D8"/>
                </a:solidFill>
                <a:latin typeface="Calibri" pitchFamily="34" charset="0"/>
                <a:ea typeface="Calibri" pitchFamily="34" charset="-122"/>
                <a:cs typeface="Calibri" pitchFamily="34" charset="-120"/>
              </a:rPr>
              <a:t>MODERN WORKPLACE ENGINEERING</a:t>
            </a:r>
            <a:endParaRPr lang="en-US" sz="850" dirty="0"/>
          </a:p>
        </p:txBody>
      </p:sp>
      <p:sp>
        <p:nvSpPr>
          <p:cNvPr id="4" name="Text 2"/>
          <p:cNvSpPr/>
          <p:nvPr/>
        </p:nvSpPr>
        <p:spPr>
          <a:xfrm>
            <a:off x="256032" y="777240"/>
            <a:ext cx="6486674" cy="1371600"/>
          </a:xfrm>
          <a:prstGeom prst="rect">
            <a:avLst/>
          </a:prstGeom>
          <a:noFill/>
          <a:ln/>
        </p:spPr>
        <p:txBody>
          <a:bodyPr wrap="square" lIns="0" tIns="0" rIns="0" bIns="0" rtlCol="0" anchor="ctr"/>
          <a:lstStyle/>
          <a:p>
            <a:pPr marL="0" indent="0">
              <a:buNone/>
            </a:pPr>
            <a:r>
              <a:rPr lang="en-US" sz="7200" b="1" dirty="0">
                <a:solidFill>
                  <a:srgbClr val="FFFFFF"/>
                </a:solidFill>
                <a:latin typeface="Trebuchet MS" pitchFamily="34" charset="0"/>
                <a:ea typeface="Trebuchet MS" pitchFamily="34" charset="-122"/>
                <a:cs typeface="Trebuchet MS" pitchFamily="34" charset="-120"/>
              </a:rPr>
              <a:t>LaunchPad</a:t>
            </a:r>
            <a:endParaRPr lang="en-US" sz="7200" dirty="0"/>
          </a:p>
        </p:txBody>
      </p:sp>
      <p:sp>
        <p:nvSpPr>
          <p:cNvPr id="5" name="Text 3"/>
          <p:cNvSpPr/>
          <p:nvPr/>
        </p:nvSpPr>
        <p:spPr>
          <a:xfrm>
            <a:off x="256032" y="2176272"/>
            <a:ext cx="3449276" cy="594360"/>
          </a:xfrm>
          <a:prstGeom prst="rect">
            <a:avLst/>
          </a:prstGeom>
          <a:noFill/>
          <a:ln/>
        </p:spPr>
        <p:txBody>
          <a:bodyPr wrap="square" lIns="0" tIns="0" rIns="0" bIns="0" rtlCol="0" anchor="ctr"/>
          <a:lstStyle/>
          <a:p>
            <a:pPr marL="0" indent="0">
              <a:buNone/>
            </a:pPr>
            <a:r>
              <a:rPr lang="en-US" sz="2600" i="1" dirty="0">
                <a:solidFill>
                  <a:srgbClr val="00C4CC"/>
                </a:solidFill>
                <a:latin typeface="Trebuchet MS" pitchFamily="34" charset="0"/>
                <a:ea typeface="Trebuchet MS" pitchFamily="34" charset="-122"/>
                <a:cs typeface="Trebuchet MS" pitchFamily="34" charset="-120"/>
              </a:rPr>
              <a:t>Where’s my desk?</a:t>
            </a:r>
            <a:endParaRPr lang="en-US" sz="2600" dirty="0"/>
          </a:p>
        </p:txBody>
      </p:sp>
      <p:sp>
        <p:nvSpPr>
          <p:cNvPr id="6" name="Text 4"/>
          <p:cNvSpPr/>
          <p:nvPr/>
        </p:nvSpPr>
        <p:spPr>
          <a:xfrm>
            <a:off x="256032" y="2834640"/>
            <a:ext cx="2841395" cy="384048"/>
          </a:xfrm>
          <a:prstGeom prst="rect">
            <a:avLst/>
          </a:prstGeom>
          <a:noFill/>
          <a:ln/>
        </p:spPr>
        <p:txBody>
          <a:bodyPr wrap="square" lIns="0" tIns="0" rIns="0" bIns="0" rtlCol="0" anchor="ctr"/>
          <a:lstStyle/>
          <a:p>
            <a:pPr marL="0" indent="0">
              <a:buNone/>
            </a:pPr>
            <a:r>
              <a:rPr lang="en-US" sz="1700" dirty="0">
                <a:solidFill>
                  <a:srgbClr val="A8B8D8"/>
                </a:solidFill>
                <a:latin typeface="Calibri" pitchFamily="34" charset="0"/>
                <a:ea typeface="Calibri" pitchFamily="34" charset="-122"/>
                <a:cs typeface="Calibri" pitchFamily="34" charset="-120"/>
              </a:rPr>
              <a:t>Theme: Desk Booking System</a:t>
            </a:r>
            <a:endParaRPr lang="en-US" sz="1700" dirty="0"/>
          </a:p>
        </p:txBody>
      </p:sp>
      <p:sp>
        <p:nvSpPr>
          <p:cNvPr id="7" name="Text 5"/>
          <p:cNvSpPr/>
          <p:nvPr/>
        </p:nvSpPr>
        <p:spPr>
          <a:xfrm>
            <a:off x="256032" y="4553712"/>
            <a:ext cx="8229600" cy="320040"/>
          </a:xfrm>
          <a:prstGeom prst="rect">
            <a:avLst/>
          </a:prstGeom>
          <a:noFill/>
          <a:ln/>
        </p:spPr>
        <p:txBody>
          <a:bodyPr wrap="square" lIns="0" tIns="0" rIns="0" bIns="0" rtlCol="0" anchor="ctr"/>
          <a:lstStyle/>
          <a:p>
            <a:pPr marL="0" indent="0">
              <a:buNone/>
            </a:pPr>
            <a:r>
              <a:rPr lang="en-US" sz="1100" dirty="0">
                <a:solidFill>
                  <a:srgbClr val="6B7FA3"/>
                </a:solidFill>
                <a:latin typeface="Calibri" pitchFamily="34" charset="0"/>
                <a:ea typeface="Calibri" pitchFamily="34" charset="-122"/>
                <a:cs typeface="Calibri" pitchFamily="34" charset="-120"/>
              </a:rPr>
              <a:t>Duration: 2 Days   |   Format: In-Person   |   11–12 May 2026</a:t>
            </a:r>
            <a:endParaRPr lang="en-US" sz="1100" dirty="0"/>
          </a:p>
        </p:txBody>
      </p:sp>
      <p:pic>
        <p:nvPicPr>
          <p:cNvPr id="8" name="Image 0" descr="preencoded.png"/>
          <p:cNvPicPr>
            <a:picLocks noChangeAspect="1"/>
          </p:cNvPicPr>
          <p:nvPr/>
        </p:nvPicPr>
        <p:blipFill>
          <a:blip r:embed="rId3">
            <a:alphaModFix amt="82000"/>
          </a:blip>
          <a:stretch>
            <a:fillRect/>
          </a:stretch>
        </p:blipFill>
        <p:spPr>
          <a:xfrm>
            <a:off x="7223760" y="64008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LeftPanel"/>
          <p:cNvSpPr/>
          <p:nvPr/>
        </p:nvSpPr>
        <p:spPr>
          <a:xfrm>
            <a:off x="0" y="0"/>
            <a:ext cx="4114800" cy="5143500"/>
          </a:xfrm>
          <a:prstGeom prst="rect">
            <a:avLst/>
          </a:prstGeom>
          <a:solidFill>
            <a:srgbClr val="1A2744"/>
          </a:solidFill>
          <a:ln w="0">
            <a:noFill/>
          </a:ln>
        </p:spPr>
        <p:txBody>
          <a:bodyPr/>
          <a:lstStyle/>
          <a:p>
            <a:endParaRPr lang="en-US"/>
          </a:p>
        </p:txBody>
      </p:sp>
      <p:sp>
        <p:nvSpPr>
          <p:cNvPr id="3" name="LeftAccent"/>
          <p:cNvSpPr/>
          <p:nvPr/>
        </p:nvSpPr>
        <p:spPr>
          <a:xfrm>
            <a:off x="0" y="0"/>
            <a:ext cx="73152" cy="5143500"/>
          </a:xfrm>
          <a:prstGeom prst="rect">
            <a:avLst/>
          </a:prstGeom>
          <a:solidFill>
            <a:srgbClr val="00C4CC"/>
          </a:solidFill>
          <a:ln w="0">
            <a:noFill/>
          </a:ln>
        </p:spPr>
        <p:txBody>
          <a:bodyPr/>
          <a:lstStyle/>
          <a:p>
            <a:endParaRPr lang="en-US"/>
          </a:p>
        </p:txBody>
      </p:sp>
      <p:sp>
        <p:nvSpPr>
          <p:cNvPr id="4" name="MWELabel"/>
          <p:cNvSpPr/>
          <p:nvPr/>
        </p:nvSpPr>
        <p:spPr>
          <a:xfrm>
            <a:off x="182880" y="256032"/>
            <a:ext cx="3164619" cy="228600"/>
          </a:xfrm>
          <a:prstGeom prst="rect">
            <a:avLst/>
          </a:prstGeom>
          <a:noFill/>
          <a:ln w="0">
            <a:noFill/>
          </a:ln>
        </p:spPr>
        <p:txBody>
          <a:bodyPr wrap="square" lIns="0" tIns="0" rIns="0" bIns="0" rtlCol="0" anchor="ctr"/>
          <a:lstStyle/>
          <a:p>
            <a:pPr marL="0" indent="0">
              <a:buNone/>
            </a:pPr>
            <a:r>
              <a:rPr lang="en-US" sz="950" b="1" kern="0" spc="300" dirty="0">
                <a:solidFill>
                  <a:srgbClr val="00C4CC"/>
                </a:solidFill>
                <a:latin typeface="Trebuchet MS" pitchFamily="34" charset="0"/>
              </a:rPr>
              <a:t>MODERN WORKPLACE ENGINEERING</a:t>
            </a:r>
          </a:p>
        </p:txBody>
      </p:sp>
      <p:sp>
        <p:nvSpPr>
          <p:cNvPr id="5" name="Wordmark"/>
          <p:cNvSpPr/>
          <p:nvPr/>
        </p:nvSpPr>
        <p:spPr>
          <a:xfrm>
            <a:off x="182880" y="950000"/>
            <a:ext cx="3164619" cy="700000"/>
          </a:xfrm>
          <a:prstGeom prst="rect">
            <a:avLst/>
          </a:prstGeom>
          <a:noFill/>
          <a:ln w="0">
            <a:noFill/>
          </a:ln>
        </p:spPr>
        <p:txBody>
          <a:bodyPr wrap="square" lIns="0" tIns="0" rIns="0" bIns="0" rtlCol="0" anchor="ctr"/>
          <a:lstStyle/>
          <a:p>
            <a:pPr marL="0" indent="0">
              <a:buNone/>
            </a:pPr>
            <a:r>
              <a:rPr lang="en-US" sz="4400" b="1" dirty="0">
                <a:solidFill>
                  <a:srgbClr val="FFFFFF"/>
                </a:solidFill>
                <a:latin typeface="Trebuchet MS" pitchFamily="34" charset="0"/>
              </a:rPr>
              <a:t>LaunchPad</a:t>
            </a:r>
          </a:p>
        </p:txBody>
      </p:sp>
      <p:sp>
        <p:nvSpPr>
          <p:cNvPr id="6" name="Tagline"/>
          <p:cNvSpPr/>
          <p:nvPr/>
        </p:nvSpPr>
        <p:spPr>
          <a:xfrm>
            <a:off x="182881" y="1820000"/>
            <a:ext cx="2033098" cy="292608"/>
          </a:xfrm>
          <a:prstGeom prst="rect">
            <a:avLst/>
          </a:prstGeom>
          <a:noFill/>
          <a:ln w="0">
            <a:noFill/>
          </a:ln>
        </p:spPr>
        <p:txBody>
          <a:bodyPr wrap="square" lIns="0" tIns="0" rIns="0" bIns="0" rtlCol="0" anchor="ctr"/>
          <a:lstStyle/>
          <a:p>
            <a:pPr marL="0" indent="0">
              <a:buNone/>
            </a:pPr>
            <a:r>
              <a:rPr lang="en-US" sz="1400" i="1" dirty="0">
                <a:solidFill>
                  <a:srgbClr val="A8B8D8"/>
                </a:solidFill>
                <a:latin typeface="Calibri" pitchFamily="34" charset="0"/>
              </a:rPr>
              <a:t>Giving good ideas, lift off!</a:t>
            </a:r>
          </a:p>
        </p:txBody>
      </p:sp>
      <p:sp>
        <p:nvSpPr>
          <p:cNvPr id="7" name="Divider"/>
          <p:cNvSpPr/>
          <p:nvPr/>
        </p:nvSpPr>
        <p:spPr>
          <a:xfrm>
            <a:off x="182880" y="2200000"/>
            <a:ext cx="600000" cy="36576"/>
          </a:xfrm>
          <a:prstGeom prst="rect">
            <a:avLst/>
          </a:prstGeom>
          <a:solidFill>
            <a:srgbClr val="00C4CC"/>
          </a:solidFill>
          <a:ln w="0">
            <a:noFill/>
          </a:ln>
        </p:spPr>
        <p:txBody>
          <a:bodyPr/>
          <a:lstStyle/>
          <a:p>
            <a:endParaRPr lang="en-US"/>
          </a:p>
        </p:txBody>
      </p:sp>
      <p:sp>
        <p:nvSpPr>
          <p:cNvPr id="8" name="BrandBlurb"/>
          <p:cNvSpPr/>
          <p:nvPr/>
        </p:nvSpPr>
        <p:spPr>
          <a:xfrm>
            <a:off x="182880" y="2270000"/>
            <a:ext cx="3749040" cy="1340000"/>
          </a:xfrm>
          <a:prstGeom prst="rect">
            <a:avLst/>
          </a:prstGeom>
          <a:noFill/>
          <a:ln w="0">
            <a:noFill/>
          </a:ln>
        </p:spPr>
        <p:txBody>
          <a:bodyPr wrap="square" lIns="0" tIns="0" rIns="0" bIns="0" rtlCol="0" anchor="t"/>
          <a:lstStyle/>
          <a:p>
            <a:pPr marL="0" indent="0">
              <a:buNone/>
            </a:pPr>
            <a:r>
              <a:rPr lang="en-US" sz="1050" dirty="0">
                <a:solidFill>
                  <a:srgbClr val="A8B8D8"/>
                </a:solidFill>
                <a:latin typeface="Calibri" pitchFamily="34" charset="0"/>
              </a:rPr>
              <a:t>LaunchPad is the hackathon programme for Modern Workplaces Engineering. It runs annually, giving our engineers dedicated time and space to build, experiment, and innovate beyond the constraints of day-to-day delivery.</a:t>
            </a:r>
          </a:p>
          <a:p>
            <a:pPr marL="0" indent="0">
              <a:buNone/>
            </a:pPr>
            <a:endParaRPr lang="en-US" sz="1050" dirty="0"/>
          </a:p>
          <a:p>
            <a:pPr marL="0" indent="0">
              <a:buNone/>
            </a:pPr>
            <a:r>
              <a:rPr lang="en-US" sz="1050" dirty="0">
                <a:solidFill>
                  <a:srgbClr val="A8B8D8"/>
                </a:solidFill>
                <a:latin typeface="Calibri" pitchFamily="34" charset="0"/>
              </a:rPr>
              <a:t>Each edition takes on a real problem. The best ideas don’t get shelved — they feed directly into what gets built next.</a:t>
            </a:r>
          </a:p>
        </p:txBody>
      </p:sp>
      <p:sp>
        <p:nvSpPr>
          <p:cNvPr id="9" name="YearBadgeBg"/>
          <p:cNvSpPr/>
          <p:nvPr/>
        </p:nvSpPr>
        <p:spPr>
          <a:xfrm>
            <a:off x="182880" y="4600000"/>
            <a:ext cx="730000" cy="310000"/>
          </a:xfrm>
          <a:prstGeom prst="rect">
            <a:avLst/>
          </a:prstGeom>
          <a:solidFill>
            <a:srgbClr val="00C4CC"/>
          </a:solidFill>
          <a:ln w="0">
            <a:noFill/>
          </a:ln>
        </p:spPr>
        <p:txBody>
          <a:bodyPr/>
          <a:lstStyle/>
          <a:p>
            <a:endParaRPr lang="en-US"/>
          </a:p>
        </p:txBody>
      </p:sp>
      <p:sp>
        <p:nvSpPr>
          <p:cNvPr id="10" name="YearBadgeText"/>
          <p:cNvSpPr/>
          <p:nvPr/>
        </p:nvSpPr>
        <p:spPr>
          <a:xfrm>
            <a:off x="182880" y="4600000"/>
            <a:ext cx="730000" cy="310000"/>
          </a:xfrm>
          <a:prstGeom prst="rect">
            <a:avLst/>
          </a:prstGeom>
          <a:noFill/>
          <a:ln w="0">
            <a:noFill/>
          </a:ln>
        </p:spPr>
        <p:txBody>
          <a:bodyPr wrap="square" lIns="0" tIns="0" rIns="0" bIns="0" rtlCol="0" anchor="ctr"/>
          <a:lstStyle/>
          <a:p>
            <a:pPr marL="0" indent="0" algn="ctr">
              <a:buNone/>
            </a:pPr>
            <a:r>
              <a:rPr lang="en-US" sz="1100" b="1" dirty="0">
                <a:solidFill>
                  <a:srgbClr val="1A2744"/>
                </a:solidFill>
                <a:latin typeface="Trebuchet MS" pitchFamily="34" charset="0"/>
              </a:rPr>
              <a:t>‘26</a:t>
            </a:r>
          </a:p>
        </p:txBody>
      </p:sp>
      <p:sp>
        <p:nvSpPr>
          <p:cNvPr id="11" name="YearLabel"/>
          <p:cNvSpPr/>
          <p:nvPr/>
        </p:nvSpPr>
        <p:spPr>
          <a:xfrm>
            <a:off x="950000" y="4610000"/>
            <a:ext cx="2800000" cy="280000"/>
          </a:xfrm>
          <a:prstGeom prst="rect">
            <a:avLst/>
          </a:prstGeom>
          <a:noFill/>
          <a:ln w="0">
            <a:noFill/>
          </a:ln>
        </p:spPr>
        <p:txBody>
          <a:bodyPr wrap="square" lIns="0" tIns="0" rIns="0" bIns="0" rtlCol="0" anchor="ctr"/>
          <a:lstStyle/>
          <a:p>
            <a:pPr marL="0" indent="0">
              <a:buNone/>
            </a:pPr>
            <a:r>
              <a:rPr lang="en-US" sz="900" dirty="0">
                <a:solidFill>
                  <a:srgbClr val="6B7FA3"/>
                </a:solidFill>
                <a:latin typeface="Calibri" pitchFamily="34" charset="0"/>
              </a:rPr>
              <a:t>11–12 May 2026  ·  Leeds</a:t>
            </a:r>
          </a:p>
        </p:txBody>
      </p:sp>
      <p:sp>
        <p:nvSpPr>
          <p:cNvPr id="20" name="RightTitle"/>
          <p:cNvSpPr/>
          <p:nvPr/>
        </p:nvSpPr>
        <p:spPr>
          <a:xfrm>
            <a:off x="4388280" y="256032"/>
            <a:ext cx="3141104" cy="420624"/>
          </a:xfrm>
          <a:prstGeom prst="rect">
            <a:avLst/>
          </a:prstGeom>
          <a:noFill/>
          <a:ln w="0">
            <a:noFill/>
          </a:ln>
        </p:spPr>
        <p:txBody>
          <a:bodyPr wrap="square" lIns="0" tIns="0" rIns="0" bIns="0" rtlCol="0" anchor="ctr"/>
          <a:lstStyle/>
          <a:p>
            <a:pPr marL="0" indent="0">
              <a:buNone/>
            </a:pPr>
            <a:r>
              <a:rPr lang="en-US" sz="2400" b="1" dirty="0">
                <a:solidFill>
                  <a:srgbClr val="1A2744"/>
                </a:solidFill>
                <a:latin typeface="Trebuchet MS" pitchFamily="34" charset="0"/>
              </a:rPr>
              <a:t>What is a hackathon?</a:t>
            </a:r>
          </a:p>
        </p:txBody>
      </p:sp>
      <p:sp>
        <p:nvSpPr>
          <p:cNvPr id="21" name="HackIntro"/>
          <p:cNvSpPr/>
          <p:nvPr/>
        </p:nvSpPr>
        <p:spPr>
          <a:xfrm>
            <a:off x="4388280" y="749808"/>
            <a:ext cx="4573080" cy="310000"/>
          </a:xfrm>
          <a:prstGeom prst="rect">
            <a:avLst/>
          </a:prstGeom>
          <a:noFill/>
          <a:ln w="0">
            <a:noFill/>
          </a:ln>
        </p:spPr>
        <p:txBody>
          <a:bodyPr wrap="square" lIns="0" tIns="0" rIns="0" bIns="0" rtlCol="0" anchor="ctr"/>
          <a:lstStyle/>
          <a:p>
            <a:pPr marL="0" indent="0">
              <a:buNone/>
            </a:pPr>
            <a:r>
              <a:rPr lang="en-US" sz="1050" dirty="0">
                <a:solidFill>
                  <a:srgbClr val="374151"/>
                </a:solidFill>
                <a:latin typeface="Calibri" pitchFamily="34" charset="0"/>
              </a:rPr>
              <a:t>A hackathon is an event where people engage in rapid, collaborative engineering over a short, fixed period — typically 24 to 48 hours. The goal is to produce something real by the end.</a:t>
            </a:r>
          </a:p>
        </p:txBody>
      </p:sp>
      <p:sp>
        <p:nvSpPr>
          <p:cNvPr id="30" name="C1bg"/>
          <p:cNvSpPr/>
          <p:nvPr/>
        </p:nvSpPr>
        <p:spPr>
          <a:xfrm>
            <a:off x="4388280" y="1200000"/>
            <a:ext cx="1410000" cy="1050000"/>
          </a:xfrm>
          <a:prstGeom prst="rect">
            <a:avLst/>
          </a:prstGeom>
          <a:solidFill>
            <a:srgbClr val="FFFFFF"/>
          </a:solidFill>
          <a:ln w="6350">
            <a:solidFill>
              <a:srgbClr val="DDE6F5"/>
            </a:solidFill>
            <a:prstDash val="solid"/>
          </a:ln>
        </p:spPr>
        <p:txBody>
          <a:bodyPr/>
          <a:lstStyle/>
          <a:p>
            <a:endParaRPr lang="en-US"/>
          </a:p>
        </p:txBody>
      </p:sp>
      <p:sp>
        <p:nvSpPr>
          <p:cNvPr id="31" name="C1bar"/>
          <p:cNvSpPr/>
          <p:nvPr/>
        </p:nvSpPr>
        <p:spPr>
          <a:xfrm>
            <a:off x="4388280" y="1200000"/>
            <a:ext cx="1410000" cy="45720"/>
          </a:xfrm>
          <a:prstGeom prst="rect">
            <a:avLst/>
          </a:prstGeom>
          <a:solidFill>
            <a:srgbClr val="00C4CC"/>
          </a:solidFill>
          <a:ln w="0">
            <a:noFill/>
          </a:ln>
        </p:spPr>
        <p:txBody>
          <a:bodyPr/>
          <a:lstStyle/>
          <a:p>
            <a:endParaRPr lang="en-US"/>
          </a:p>
        </p:txBody>
      </p:sp>
      <p:sp>
        <p:nvSpPr>
          <p:cNvPr id="32" name="C1text"/>
          <p:cNvSpPr/>
          <p:nvPr/>
        </p:nvSpPr>
        <p:spPr>
          <a:xfrm>
            <a:off x="4461432" y="1263000"/>
            <a:ext cx="1263648" cy="950000"/>
          </a:xfrm>
          <a:prstGeom prst="rect">
            <a:avLst/>
          </a:prstGeom>
          <a:noFill/>
          <a:ln w="0">
            <a:noFill/>
          </a:ln>
        </p:spPr>
        <p:txBody>
          <a:bodyPr wrap="square" lIns="0" tIns="0" rIns="0" bIns="0" rtlCol="0" anchor="t"/>
          <a:lstStyle/>
          <a:p>
            <a:pPr marL="0" indent="0">
              <a:buNone/>
            </a:pPr>
            <a:r>
              <a:rPr lang="en-US" sz="1200" b="1" dirty="0">
                <a:solidFill>
                  <a:srgbClr val="1A2744"/>
                </a:solidFill>
                <a:latin typeface="Trebuchet MS" pitchFamily="34" charset="0"/>
              </a:rPr>
              <a:t>Collaborate</a:t>
            </a:r>
          </a:p>
          <a:p>
            <a:pPr marL="0" indent="0">
              <a:buNone/>
            </a:pPr>
            <a:endParaRPr lang="en-US" sz="900" dirty="0"/>
          </a:p>
          <a:p>
            <a:pPr marL="0" indent="0">
              <a:buNone/>
            </a:pPr>
            <a:r>
              <a:rPr lang="en-US" sz="900" dirty="0">
                <a:solidFill>
                  <a:srgbClr val="6B7FA3"/>
                </a:solidFill>
                <a:latin typeface="Calibri" pitchFamily="34" charset="0"/>
              </a:rPr>
              <a:t>Mixed teams of engineers, designers, and domain thinkers working toward a shared goal.</a:t>
            </a:r>
          </a:p>
        </p:txBody>
      </p:sp>
      <p:sp>
        <p:nvSpPr>
          <p:cNvPr id="40" name="C2bg"/>
          <p:cNvSpPr/>
          <p:nvPr/>
        </p:nvSpPr>
        <p:spPr>
          <a:xfrm>
            <a:off x="5871280" y="1200000"/>
            <a:ext cx="1410000" cy="1050000"/>
          </a:xfrm>
          <a:prstGeom prst="rect">
            <a:avLst/>
          </a:prstGeom>
          <a:solidFill>
            <a:srgbClr val="FFFFFF"/>
          </a:solidFill>
          <a:ln w="6350">
            <a:solidFill>
              <a:srgbClr val="DDE6F5"/>
            </a:solidFill>
            <a:prstDash val="solid"/>
          </a:ln>
        </p:spPr>
        <p:txBody>
          <a:bodyPr/>
          <a:lstStyle/>
          <a:p>
            <a:endParaRPr lang="en-US"/>
          </a:p>
        </p:txBody>
      </p:sp>
      <p:sp>
        <p:nvSpPr>
          <p:cNvPr id="41" name="C2bar"/>
          <p:cNvSpPr/>
          <p:nvPr/>
        </p:nvSpPr>
        <p:spPr>
          <a:xfrm>
            <a:off x="5871280" y="1200000"/>
            <a:ext cx="1410000" cy="45720"/>
          </a:xfrm>
          <a:prstGeom prst="rect">
            <a:avLst/>
          </a:prstGeom>
          <a:solidFill>
            <a:srgbClr val="00C4CC"/>
          </a:solidFill>
          <a:ln w="0">
            <a:noFill/>
          </a:ln>
        </p:spPr>
        <p:txBody>
          <a:bodyPr/>
          <a:lstStyle/>
          <a:p>
            <a:endParaRPr lang="en-US"/>
          </a:p>
        </p:txBody>
      </p:sp>
      <p:sp>
        <p:nvSpPr>
          <p:cNvPr id="42" name="C2text"/>
          <p:cNvSpPr/>
          <p:nvPr/>
        </p:nvSpPr>
        <p:spPr>
          <a:xfrm>
            <a:off x="5944432" y="1263000"/>
            <a:ext cx="1263648" cy="950000"/>
          </a:xfrm>
          <a:prstGeom prst="rect">
            <a:avLst/>
          </a:prstGeom>
          <a:noFill/>
          <a:ln w="0">
            <a:noFill/>
          </a:ln>
        </p:spPr>
        <p:txBody>
          <a:bodyPr wrap="square" lIns="0" tIns="0" rIns="0" bIns="0" rtlCol="0" anchor="t"/>
          <a:lstStyle/>
          <a:p>
            <a:pPr marL="0" indent="0">
              <a:buNone/>
            </a:pPr>
            <a:r>
              <a:rPr lang="en-US" sz="1200" b="1" dirty="0">
                <a:solidFill>
                  <a:srgbClr val="1A2744"/>
                </a:solidFill>
                <a:latin typeface="Trebuchet MS" pitchFamily="34" charset="0"/>
              </a:rPr>
              <a:t>Build</a:t>
            </a:r>
          </a:p>
          <a:p>
            <a:pPr marL="0" indent="0">
              <a:buNone/>
            </a:pPr>
            <a:endParaRPr lang="en-US" sz="900" dirty="0"/>
          </a:p>
          <a:p>
            <a:pPr marL="0" indent="0">
              <a:buNone/>
            </a:pPr>
            <a:r>
              <a:rPr lang="en-US" sz="900" dirty="0">
                <a:solidFill>
                  <a:srgbClr val="6B7FA3"/>
                </a:solidFill>
                <a:latin typeface="Calibri" pitchFamily="34" charset="0"/>
              </a:rPr>
              <a:t>Functioning software, not slides. Something demoable exists at the end of every hackathon.</a:t>
            </a:r>
          </a:p>
        </p:txBody>
      </p:sp>
      <p:sp>
        <p:nvSpPr>
          <p:cNvPr id="50" name="C3bg"/>
          <p:cNvSpPr/>
          <p:nvPr/>
        </p:nvSpPr>
        <p:spPr>
          <a:xfrm>
            <a:off x="7354280" y="1200000"/>
            <a:ext cx="1410000" cy="1050000"/>
          </a:xfrm>
          <a:prstGeom prst="rect">
            <a:avLst/>
          </a:prstGeom>
          <a:solidFill>
            <a:srgbClr val="FFFFFF"/>
          </a:solidFill>
          <a:ln w="6350">
            <a:solidFill>
              <a:srgbClr val="DDE6F5"/>
            </a:solidFill>
            <a:prstDash val="solid"/>
          </a:ln>
        </p:spPr>
        <p:txBody>
          <a:bodyPr/>
          <a:lstStyle/>
          <a:p>
            <a:endParaRPr lang="en-US"/>
          </a:p>
        </p:txBody>
      </p:sp>
      <p:sp>
        <p:nvSpPr>
          <p:cNvPr id="51" name="C3bar"/>
          <p:cNvSpPr/>
          <p:nvPr/>
        </p:nvSpPr>
        <p:spPr>
          <a:xfrm>
            <a:off x="7354280" y="1200000"/>
            <a:ext cx="1410000" cy="45720"/>
          </a:xfrm>
          <a:prstGeom prst="rect">
            <a:avLst/>
          </a:prstGeom>
          <a:solidFill>
            <a:srgbClr val="00C4CC"/>
          </a:solidFill>
          <a:ln w="0">
            <a:noFill/>
          </a:ln>
        </p:spPr>
        <p:txBody>
          <a:bodyPr/>
          <a:lstStyle/>
          <a:p>
            <a:endParaRPr lang="en-US"/>
          </a:p>
        </p:txBody>
      </p:sp>
      <p:sp>
        <p:nvSpPr>
          <p:cNvPr id="52" name="C3text"/>
          <p:cNvSpPr/>
          <p:nvPr/>
        </p:nvSpPr>
        <p:spPr>
          <a:xfrm>
            <a:off x="7427432" y="1263000"/>
            <a:ext cx="1263648" cy="950000"/>
          </a:xfrm>
          <a:prstGeom prst="rect">
            <a:avLst/>
          </a:prstGeom>
          <a:noFill/>
          <a:ln w="0">
            <a:noFill/>
          </a:ln>
        </p:spPr>
        <p:txBody>
          <a:bodyPr wrap="square" lIns="0" tIns="0" rIns="0" bIns="0" rtlCol="0" anchor="t"/>
          <a:lstStyle/>
          <a:p>
            <a:pPr marL="0" indent="0">
              <a:buNone/>
            </a:pPr>
            <a:r>
              <a:rPr lang="en-US" sz="1200" b="1" dirty="0">
                <a:solidFill>
                  <a:srgbClr val="1A2744"/>
                </a:solidFill>
                <a:latin typeface="Trebuchet MS" pitchFamily="34" charset="0"/>
              </a:rPr>
              <a:t>Impact</a:t>
            </a:r>
          </a:p>
          <a:p>
            <a:pPr marL="0" indent="0">
              <a:buNone/>
            </a:pPr>
            <a:endParaRPr lang="en-US" sz="900" dirty="0"/>
          </a:p>
          <a:p>
            <a:pPr marL="0" indent="0">
              <a:buNone/>
            </a:pPr>
            <a:r>
              <a:rPr lang="en-US" sz="900" dirty="0">
                <a:solidFill>
                  <a:srgbClr val="6B7FA3"/>
                </a:solidFill>
                <a:latin typeface="Calibri" pitchFamily="34" charset="0"/>
              </a:rPr>
              <a:t>The strongest ideas move forward. Winning concepts feed directly into what gets designed and built.</a:t>
            </a:r>
          </a:p>
        </p:txBody>
      </p:sp>
      <p:sp>
        <p:nvSpPr>
          <p:cNvPr id="60" name="ExtDesc"/>
          <p:cNvSpPr/>
          <p:nvPr/>
        </p:nvSpPr>
        <p:spPr>
          <a:xfrm>
            <a:off x="4388280" y="2370000"/>
            <a:ext cx="4573080" cy="1600000"/>
          </a:xfrm>
          <a:prstGeom prst="rect">
            <a:avLst/>
          </a:prstGeom>
          <a:noFill/>
          <a:ln w="0">
            <a:noFill/>
          </a:ln>
        </p:spPr>
        <p:txBody>
          <a:bodyPr wrap="square" lIns="0" tIns="0" rIns="0" bIns="0" rtlCol="0" anchor="t"/>
          <a:lstStyle/>
          <a:p>
            <a:pPr marL="0" indent="0">
              <a:buNone/>
            </a:pPr>
            <a:r>
              <a:rPr lang="en-US" sz="1050" dirty="0">
                <a:solidFill>
                  <a:srgbClr val="374151"/>
                </a:solidFill>
                <a:latin typeface="Calibri" pitchFamily="34" charset="0"/>
              </a:rPr>
              <a:t>Hackathons bring together people with different skills — engineers, designers, product thinkers — and give them a focused problem, a hard deadline, and the freedom to approach it however they choose. The constraint is the point: two days forces decisions, surfaces creative thinking, and produces something tangible.</a:t>
            </a:r>
          </a:p>
          <a:p>
            <a:pPr marL="0" indent="0">
              <a:buNone/>
            </a:pPr>
            <a:endParaRPr lang="en-US" sz="1050" dirty="0"/>
          </a:p>
          <a:p>
            <a:pPr marL="0" indent="0">
              <a:buNone/>
            </a:pPr>
            <a:r>
              <a:rPr lang="en-US" sz="1050" dirty="0">
                <a:solidFill>
                  <a:srgbClr val="374151"/>
                </a:solidFill>
                <a:latin typeface="Calibri" pitchFamily="34" charset="0"/>
              </a:rPr>
              <a:t>They’re also a proven vehicle for skill development. Participants build problem-solving, critical thinking, and hands-on experience with tools and technologies they might not touch in their day jobs — including AI-assisted development.</a:t>
            </a:r>
          </a:p>
        </p:txBody>
      </p:sp>
      <p:sp>
        <p:nvSpPr>
          <p:cNvPr id="70" name="FooterBar"/>
          <p:cNvSpPr/>
          <p:nvPr/>
        </p:nvSpPr>
        <p:spPr>
          <a:xfrm>
            <a:off x="4114800" y="4800000"/>
            <a:ext cx="5029200" cy="343500"/>
          </a:xfrm>
          <a:prstGeom prst="rect">
            <a:avLst/>
          </a:prstGeom>
          <a:solidFill>
            <a:srgbClr val="1A2744"/>
          </a:solidFill>
          <a:ln w="0">
            <a:noFill/>
          </a:ln>
        </p:spPr>
        <p:txBody>
          <a:bodyPr/>
          <a:lstStyle/>
          <a:p>
            <a:endParaRPr lang="en-US"/>
          </a:p>
        </p:txBody>
      </p:sp>
      <p:sp>
        <p:nvSpPr>
          <p:cNvPr id="71" name="FooterText"/>
          <p:cNvSpPr/>
          <p:nvPr/>
        </p:nvSpPr>
        <p:spPr>
          <a:xfrm>
            <a:off x="4297680" y="4800000"/>
            <a:ext cx="4846320" cy="343500"/>
          </a:xfrm>
          <a:prstGeom prst="rect">
            <a:avLst/>
          </a:prstGeom>
          <a:noFill/>
          <a:ln w="0">
            <a:noFill/>
          </a:ln>
        </p:spPr>
        <p:txBody>
          <a:bodyPr wrap="square" lIns="0" tIns="0" rIns="0" bIns="0" rtlCol="0" anchor="ctr"/>
          <a:lstStyle/>
          <a:p>
            <a:pPr marL="0" indent="0">
              <a:buNone/>
            </a:pPr>
            <a:r>
              <a:rPr lang="en-US" sz="950" i="1" dirty="0">
                <a:solidFill>
                  <a:srgbClr val="A8B8D8"/>
                </a:solidFill>
                <a:latin typeface="Calibri" pitchFamily="34" charset="0"/>
              </a:rPr>
              <a:t>Hackathon: from “hack” (exploratory programming) + “marathon” — rapid, collaborative engineering toward a real outcome.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744"/>
        </a:solidFill>
        <a:effectLst/>
      </p:bgPr>
    </p:bg>
    <p:spTree>
      <p:nvGrpSpPr>
        <p:cNvPr id="1" name=""/>
        <p:cNvGrpSpPr/>
        <p:nvPr/>
      </p:nvGrpSpPr>
      <p:grpSpPr>
        <a:xfrm>
          <a:off x="0" y="0"/>
          <a:ext cx="0" cy="0"/>
          <a:chOff x="0" y="0"/>
          <a:chExt cx="0" cy="0"/>
        </a:xfrm>
      </p:grpSpPr>
      <p:sp>
        <p:nvSpPr>
          <p:cNvPr id="2" name="Text 0"/>
          <p:cNvSpPr/>
          <p:nvPr/>
        </p:nvSpPr>
        <p:spPr>
          <a:xfrm>
            <a:off x="457200" y="256032"/>
            <a:ext cx="2174682" cy="475488"/>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What &amp; Why</a:t>
            </a:r>
            <a:endParaRPr lang="en-US" sz="2800" dirty="0"/>
          </a:p>
        </p:txBody>
      </p:sp>
      <p:sp>
        <p:nvSpPr>
          <p:cNvPr id="3" name="Shape 1"/>
          <p:cNvSpPr/>
          <p:nvPr/>
        </p:nvSpPr>
        <p:spPr>
          <a:xfrm>
            <a:off x="457200" y="804672"/>
            <a:ext cx="8229600" cy="36576"/>
          </a:xfrm>
          <a:prstGeom prst="rect">
            <a:avLst/>
          </a:prstGeom>
          <a:solidFill>
            <a:srgbClr val="00C4CC"/>
          </a:solidFill>
          <a:ln w="12700">
            <a:solidFill>
              <a:srgbClr val="00C4CC"/>
            </a:solidFill>
            <a:prstDash val="solid"/>
          </a:ln>
        </p:spPr>
        <p:txBody>
          <a:bodyPr/>
          <a:lstStyle/>
          <a:p>
            <a:endParaRPr lang="en-US"/>
          </a:p>
        </p:txBody>
      </p:sp>
      <p:sp>
        <p:nvSpPr>
          <p:cNvPr id="4" name="Shape 2"/>
          <p:cNvSpPr/>
          <p:nvPr/>
        </p:nvSpPr>
        <p:spPr>
          <a:xfrm>
            <a:off x="365760" y="914400"/>
            <a:ext cx="3977640" cy="4120000"/>
          </a:xfrm>
          <a:prstGeom prst="rect">
            <a:avLst/>
          </a:prstGeom>
          <a:solidFill>
            <a:srgbClr val="243558"/>
          </a:solidFill>
          <a:ln w="12700">
            <a:solidFill>
              <a:srgbClr val="2D4270"/>
            </a:solidFill>
            <a:prstDash val="solid"/>
          </a:ln>
        </p:spPr>
        <p:txBody>
          <a:bodyPr/>
          <a:lstStyle/>
          <a:p>
            <a:endParaRPr lang="en-US"/>
          </a:p>
        </p:txBody>
      </p:sp>
      <p:sp>
        <p:nvSpPr>
          <p:cNvPr id="5" name="Shape 3"/>
          <p:cNvSpPr/>
          <p:nvPr/>
        </p:nvSpPr>
        <p:spPr>
          <a:xfrm>
            <a:off x="365760" y="960120"/>
            <a:ext cx="64008" cy="4120000"/>
          </a:xfrm>
          <a:prstGeom prst="rect">
            <a:avLst/>
          </a:prstGeom>
          <a:solidFill>
            <a:srgbClr val="00C4CC"/>
          </a:solidFill>
          <a:ln w="12700">
            <a:solidFill>
              <a:srgbClr val="00C4C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978408"/>
            <a:ext cx="384048" cy="384048"/>
          </a:xfrm>
          <a:prstGeom prst="rect">
            <a:avLst/>
          </a:prstGeom>
        </p:spPr>
      </p:pic>
      <p:sp>
        <p:nvSpPr>
          <p:cNvPr id="7" name="Text 4"/>
          <p:cNvSpPr/>
          <p:nvPr/>
        </p:nvSpPr>
        <p:spPr>
          <a:xfrm>
            <a:off x="1024128" y="960120"/>
            <a:ext cx="1194286" cy="384048"/>
          </a:xfrm>
          <a:prstGeom prst="rect">
            <a:avLst/>
          </a:prstGeom>
          <a:noFill/>
          <a:ln/>
        </p:spPr>
        <p:txBody>
          <a:bodyPr wrap="square" lIns="0" tIns="0" rIns="0" bIns="0" rtlCol="0" anchor="ctr"/>
          <a:lstStyle/>
          <a:p>
            <a:pPr marL="0" indent="0">
              <a:buNone/>
            </a:pPr>
            <a:r>
              <a:rPr lang="en-US" sz="1400" b="1" dirty="0">
                <a:solidFill>
                  <a:srgbClr val="00C4CC"/>
                </a:solidFill>
                <a:latin typeface="Trebuchet MS" pitchFamily="34" charset="0"/>
                <a:ea typeface="Trebuchet MS" pitchFamily="34" charset="-122"/>
                <a:cs typeface="Trebuchet MS" pitchFamily="34" charset="-120"/>
              </a:rPr>
              <a:t>The Problem</a:t>
            </a:r>
            <a:endParaRPr lang="en-US" sz="1400" dirty="0"/>
          </a:p>
        </p:txBody>
      </p:sp>
      <p:sp>
        <p:nvSpPr>
          <p:cNvPr id="8" name="Text 5"/>
          <p:cNvSpPr/>
          <p:nvPr/>
        </p:nvSpPr>
        <p:spPr>
          <a:xfrm>
            <a:off x="457200" y="1279580"/>
            <a:ext cx="3959352" cy="3870297"/>
          </a:xfrm>
          <a:prstGeom prst="rect">
            <a:avLst/>
          </a:prstGeom>
          <a:noFill/>
          <a:ln/>
        </p:spPr>
        <p:txBody>
          <a:bodyPr wrap="square" rtlCol="0" anchor="ctr"/>
          <a:lstStyle/>
          <a:p>
            <a:pPr marL="0" indent="0">
              <a:buNone/>
            </a:pPr>
            <a:r>
              <a:rPr lang="en-US" sz="1100" dirty="0">
                <a:solidFill>
                  <a:srgbClr val="A8B8D8"/>
                </a:solidFill>
                <a:latin typeface="Calibri" pitchFamily="34" charset="0"/>
                <a:ea typeface="Calibri" pitchFamily="34" charset="-122"/>
                <a:cs typeface="Calibri" pitchFamily="34" charset="-120"/>
              </a:rPr>
              <a:t>Following the delivery of the Group Location Strategy, many office buildings are now at or near full capacity. While this improves space utilization, it has introduced challenges for colleagues who want to book desks and collaborate effectively within the office. </a:t>
            </a:r>
          </a:p>
          <a:p>
            <a:pPr marL="0" indent="0">
              <a:buNone/>
            </a:pPr>
            <a:endParaRPr lang="en-US" sz="1100" dirty="0"/>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Today, colleagues often struggle to:</a:t>
            </a:r>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Sit near their team or key collaborators</a:t>
            </a:r>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See when colleagues will be in the office to allow for pre-planning</a:t>
            </a:r>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Understand desk availability once they arrive on a floor</a:t>
            </a:r>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Manage bookings flexibly when their plans change</a:t>
            </a:r>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Remember to check in or cancel bookings which leads to blocked capacity</a:t>
            </a:r>
          </a:p>
          <a:p>
            <a:pPr marL="285750" indent="-285750">
              <a:buFont typeface="Arial" panose="020B0604020202020204" pitchFamily="34" charset="0"/>
              <a:buChar char="•"/>
            </a:pPr>
            <a:r>
              <a:rPr lang="en-US" sz="1100" dirty="0">
                <a:solidFill>
                  <a:srgbClr val="A8B8D8"/>
                </a:solidFill>
                <a:latin typeface="Calibri" pitchFamily="34" charset="0"/>
                <a:cs typeface="Calibri" pitchFamily="34" charset="-120"/>
              </a:rPr>
              <a:t>Identify Desks with the right equipment or attributes for their needs</a:t>
            </a:r>
          </a:p>
          <a:p>
            <a:pPr marL="285750" indent="-285750">
              <a:buFont typeface="Arial" panose="020B0604020202020204" pitchFamily="34" charset="0"/>
              <a:buChar char="•"/>
            </a:pPr>
            <a:endParaRPr lang="en-US" sz="1100" dirty="0">
              <a:solidFill>
                <a:srgbClr val="A8B8D8"/>
              </a:solidFill>
              <a:latin typeface="Calibri" pitchFamily="34" charset="0"/>
              <a:cs typeface="Calibri" pitchFamily="34" charset="-120"/>
            </a:endParaRPr>
          </a:p>
          <a:p>
            <a:r>
              <a:rPr lang="en-US" sz="1100" dirty="0">
                <a:solidFill>
                  <a:srgbClr val="A8B8D8"/>
                </a:solidFill>
                <a:latin typeface="Calibri" pitchFamily="34" charset="0"/>
                <a:cs typeface="Calibri" pitchFamily="34" charset="-120"/>
              </a:rPr>
              <a:t>Additionally, the current desk booking system:</a:t>
            </a:r>
          </a:p>
          <a:p>
            <a:pPr marL="171450" indent="-171450">
              <a:buFont typeface="Arial" panose="020B0604020202020204" pitchFamily="34" charset="0"/>
              <a:buChar char="•"/>
            </a:pPr>
            <a:r>
              <a:rPr lang="en-US" sz="1100" dirty="0">
                <a:solidFill>
                  <a:srgbClr val="A8B8D8"/>
                </a:solidFill>
                <a:latin typeface="Calibri" pitchFamily="34" charset="0"/>
                <a:cs typeface="Calibri" pitchFamily="34" charset="-120"/>
              </a:rPr>
              <a:t>Has poor integration with the wider workplace toolset</a:t>
            </a:r>
          </a:p>
          <a:p>
            <a:pPr marL="171450" indent="-171450">
              <a:buFont typeface="Arial" panose="020B0604020202020204" pitchFamily="34" charset="0"/>
              <a:buChar char="•"/>
            </a:pPr>
            <a:r>
              <a:rPr lang="en-US" sz="1100" dirty="0">
                <a:solidFill>
                  <a:srgbClr val="A8B8D8"/>
                </a:solidFill>
                <a:latin typeface="Calibri" pitchFamily="34" charset="0"/>
                <a:cs typeface="Calibri" pitchFamily="34" charset="-120"/>
              </a:rPr>
              <a:t>Has vendor-imposed API limitations that create bottlenecks</a:t>
            </a:r>
          </a:p>
          <a:p>
            <a:pPr marL="171450" indent="-171450">
              <a:buFont typeface="Arial" panose="020B0604020202020204" pitchFamily="34" charset="0"/>
              <a:buChar char="•"/>
            </a:pPr>
            <a:r>
              <a:rPr lang="en-US" sz="1100" dirty="0">
                <a:solidFill>
                  <a:srgbClr val="A8B8D8"/>
                </a:solidFill>
                <a:latin typeface="Calibri" pitchFamily="34" charset="0"/>
                <a:cs typeface="Calibri" pitchFamily="34" charset="-120"/>
              </a:rPr>
              <a:t>Has limitations in data analytics and reporting, meaning insights are hard to analyse and act upon</a:t>
            </a:r>
          </a:p>
        </p:txBody>
      </p:sp>
      <p:sp>
        <p:nvSpPr>
          <p:cNvPr id="9" name="Shape 6"/>
          <p:cNvSpPr/>
          <p:nvPr/>
        </p:nvSpPr>
        <p:spPr>
          <a:xfrm>
            <a:off x="4709160" y="960120"/>
            <a:ext cx="4069080" cy="4120000"/>
          </a:xfrm>
          <a:prstGeom prst="rect">
            <a:avLst/>
          </a:prstGeom>
          <a:solidFill>
            <a:srgbClr val="243558"/>
          </a:solidFill>
          <a:ln w="12700">
            <a:solidFill>
              <a:srgbClr val="2D4270"/>
            </a:solidFill>
            <a:prstDash val="solid"/>
          </a:ln>
        </p:spPr>
        <p:txBody>
          <a:bodyPr/>
          <a:lstStyle/>
          <a:p>
            <a:endParaRPr lang="en-US"/>
          </a:p>
        </p:txBody>
      </p:sp>
      <p:sp>
        <p:nvSpPr>
          <p:cNvPr id="10" name="Shape 7"/>
          <p:cNvSpPr/>
          <p:nvPr/>
        </p:nvSpPr>
        <p:spPr>
          <a:xfrm>
            <a:off x="4709160" y="960120"/>
            <a:ext cx="64008" cy="4120000"/>
          </a:xfrm>
          <a:prstGeom prst="rect">
            <a:avLst/>
          </a:prstGeom>
          <a:solidFill>
            <a:srgbClr val="00C4CC"/>
          </a:solidFill>
          <a:ln w="12700">
            <a:solidFill>
              <a:srgbClr val="00C4C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00600" y="980717"/>
            <a:ext cx="384048" cy="384048"/>
          </a:xfrm>
          <a:prstGeom prst="rect">
            <a:avLst/>
          </a:prstGeom>
        </p:spPr>
      </p:pic>
      <p:sp>
        <p:nvSpPr>
          <p:cNvPr id="12" name="Text 8"/>
          <p:cNvSpPr/>
          <p:nvPr/>
        </p:nvSpPr>
        <p:spPr>
          <a:xfrm>
            <a:off x="5212080" y="978408"/>
            <a:ext cx="1673750" cy="384048"/>
          </a:xfrm>
          <a:prstGeom prst="rect">
            <a:avLst/>
          </a:prstGeom>
          <a:noFill/>
          <a:ln/>
        </p:spPr>
        <p:txBody>
          <a:bodyPr wrap="square" lIns="0" tIns="0" rIns="0" bIns="0" rtlCol="0" anchor="ctr"/>
          <a:lstStyle/>
          <a:p>
            <a:pPr marL="0" indent="0">
              <a:buNone/>
            </a:pPr>
            <a:r>
              <a:rPr lang="en-US" sz="1400" b="1" dirty="0">
                <a:solidFill>
                  <a:srgbClr val="00C4CC"/>
                </a:solidFill>
                <a:latin typeface="Trebuchet MS" pitchFamily="34" charset="0"/>
                <a:ea typeface="Trebuchet MS" pitchFamily="34" charset="-122"/>
                <a:cs typeface="Trebuchet MS" pitchFamily="34" charset="-120"/>
              </a:rPr>
              <a:t>Why a Hackathon?</a:t>
            </a:r>
            <a:endParaRPr lang="en-US" sz="1400" dirty="0"/>
          </a:p>
        </p:txBody>
      </p:sp>
      <p:pic>
        <p:nvPicPr>
          <p:cNvPr id="13" name="Image 2" descr="preencoded.png"/>
          <p:cNvPicPr>
            <a:picLocks noChangeAspect="1"/>
          </p:cNvPicPr>
          <p:nvPr/>
        </p:nvPicPr>
        <p:blipFill>
          <a:blip r:embed="rId5"/>
          <a:stretch>
            <a:fillRect/>
          </a:stretch>
        </p:blipFill>
        <p:spPr>
          <a:xfrm>
            <a:off x="4846320" y="1609344"/>
            <a:ext cx="228600" cy="228600"/>
          </a:xfrm>
          <a:prstGeom prst="rect">
            <a:avLst/>
          </a:prstGeom>
        </p:spPr>
      </p:pic>
      <p:sp>
        <p:nvSpPr>
          <p:cNvPr id="14" name="Text 9"/>
          <p:cNvSpPr/>
          <p:nvPr/>
        </p:nvSpPr>
        <p:spPr>
          <a:xfrm>
            <a:off x="5166360" y="1572768"/>
            <a:ext cx="3493008" cy="384048"/>
          </a:xfrm>
          <a:prstGeom prst="rect">
            <a:avLst/>
          </a:prstGeom>
          <a:noFill/>
          <a:ln/>
        </p:spPr>
        <p:txBody>
          <a:bodyPr wrap="square" lIns="0" tIns="0" rIns="0" bIns="0" rtlCol="0" anchor="ctr"/>
          <a:lstStyle/>
          <a:p>
            <a:pPr marL="0" indent="0">
              <a:buNone/>
            </a:pPr>
            <a:r>
              <a:rPr lang="en-US" sz="1150" dirty="0">
                <a:solidFill>
                  <a:srgbClr val="A8B8D8"/>
                </a:solidFill>
                <a:latin typeface="Calibri" pitchFamily="34" charset="0"/>
                <a:ea typeface="Calibri" pitchFamily="34" charset="-122"/>
                <a:cs typeface="Calibri" pitchFamily="34" charset="-120"/>
              </a:rPr>
              <a:t>We've all felt the pain of the current system — that makes us well placed to build something better.</a:t>
            </a:r>
            <a:endParaRPr lang="en-US" sz="1150" dirty="0"/>
          </a:p>
        </p:txBody>
      </p:sp>
      <p:pic>
        <p:nvPicPr>
          <p:cNvPr id="15" name="Image 3" descr="preencoded.png"/>
          <p:cNvPicPr>
            <a:picLocks noChangeAspect="1"/>
          </p:cNvPicPr>
          <p:nvPr/>
        </p:nvPicPr>
        <p:blipFill>
          <a:blip r:embed="rId5"/>
          <a:stretch>
            <a:fillRect/>
          </a:stretch>
        </p:blipFill>
        <p:spPr>
          <a:xfrm>
            <a:off x="4846320" y="2267712"/>
            <a:ext cx="228600" cy="228600"/>
          </a:xfrm>
          <a:prstGeom prst="rect">
            <a:avLst/>
          </a:prstGeom>
        </p:spPr>
      </p:pic>
      <p:sp>
        <p:nvSpPr>
          <p:cNvPr id="16" name="Text 10"/>
          <p:cNvSpPr/>
          <p:nvPr/>
        </p:nvSpPr>
        <p:spPr>
          <a:xfrm>
            <a:off x="5166360" y="2231136"/>
            <a:ext cx="3493008" cy="338328"/>
          </a:xfrm>
          <a:prstGeom prst="rect">
            <a:avLst/>
          </a:prstGeom>
          <a:noFill/>
          <a:ln/>
        </p:spPr>
        <p:txBody>
          <a:bodyPr wrap="square" lIns="0" tIns="0" rIns="0" bIns="0" rtlCol="0" anchor="ctr"/>
          <a:lstStyle/>
          <a:p>
            <a:pPr marL="0" indent="0">
              <a:buNone/>
            </a:pPr>
            <a:r>
              <a:rPr lang="en-US" sz="1150" dirty="0">
                <a:solidFill>
                  <a:srgbClr val="A8B8D8"/>
                </a:solidFill>
                <a:latin typeface="Calibri" pitchFamily="34" charset="0"/>
                <a:ea typeface="Calibri" pitchFamily="34" charset="-122"/>
                <a:cs typeface="Calibri" pitchFamily="34" charset="-120"/>
              </a:rPr>
              <a:t>We're at the start of our AI adoption journey. This is a vehicle to trial LLMs and build real hands-on experience.</a:t>
            </a:r>
            <a:endParaRPr lang="en-US" sz="1150" dirty="0"/>
          </a:p>
        </p:txBody>
      </p:sp>
      <p:pic>
        <p:nvPicPr>
          <p:cNvPr id="17" name="Image 4" descr="preencoded.png"/>
          <p:cNvPicPr>
            <a:picLocks noChangeAspect="1"/>
          </p:cNvPicPr>
          <p:nvPr/>
        </p:nvPicPr>
        <p:blipFill>
          <a:blip r:embed="rId5"/>
          <a:stretch>
            <a:fillRect/>
          </a:stretch>
        </p:blipFill>
        <p:spPr>
          <a:xfrm>
            <a:off x="4841748" y="2784348"/>
            <a:ext cx="228600" cy="228600"/>
          </a:xfrm>
          <a:prstGeom prst="rect">
            <a:avLst/>
          </a:prstGeom>
        </p:spPr>
      </p:pic>
      <p:sp>
        <p:nvSpPr>
          <p:cNvPr id="18" name="Text 11"/>
          <p:cNvSpPr/>
          <p:nvPr/>
        </p:nvSpPr>
        <p:spPr>
          <a:xfrm>
            <a:off x="5161788" y="2747772"/>
            <a:ext cx="3493008" cy="594360"/>
          </a:xfrm>
          <a:prstGeom prst="rect">
            <a:avLst/>
          </a:prstGeom>
          <a:noFill/>
          <a:ln/>
        </p:spPr>
        <p:txBody>
          <a:bodyPr wrap="square" lIns="0" tIns="0" rIns="0" bIns="0" rtlCol="0" anchor="ctr"/>
          <a:lstStyle/>
          <a:p>
            <a:pPr marL="0" indent="0">
              <a:buNone/>
            </a:pPr>
            <a:r>
              <a:rPr lang="en-US" sz="1150" dirty="0">
                <a:solidFill>
                  <a:srgbClr val="A8B8D8"/>
                </a:solidFill>
                <a:latin typeface="Calibri" pitchFamily="34" charset="0"/>
                <a:ea typeface="Calibri" pitchFamily="34" charset="-122"/>
                <a:cs typeface="Calibri" pitchFamily="34" charset="-120"/>
              </a:rPr>
              <a:t>The best ideas won't be shelved — they'll feed into a formal requirements specification for a future enterprise-grade implementation.</a:t>
            </a:r>
            <a:endParaRPr lang="en-US" sz="1150" dirty="0"/>
          </a:p>
        </p:txBody>
      </p:sp>
      <p:pic>
        <p:nvPicPr>
          <p:cNvPr id="19" name="Image 5" descr="preencoded.png"/>
          <p:cNvPicPr>
            <a:picLocks noChangeAspect="1"/>
          </p:cNvPicPr>
          <p:nvPr/>
        </p:nvPicPr>
        <p:blipFill>
          <a:blip r:embed="rId5"/>
          <a:stretch>
            <a:fillRect/>
          </a:stretch>
        </p:blipFill>
        <p:spPr>
          <a:xfrm>
            <a:off x="4841748" y="3505444"/>
            <a:ext cx="228600" cy="228600"/>
          </a:xfrm>
          <a:prstGeom prst="rect">
            <a:avLst/>
          </a:prstGeom>
        </p:spPr>
      </p:pic>
      <p:sp>
        <p:nvSpPr>
          <p:cNvPr id="20" name="Text 12"/>
          <p:cNvSpPr/>
          <p:nvPr/>
        </p:nvSpPr>
        <p:spPr>
          <a:xfrm>
            <a:off x="5161788" y="3468868"/>
            <a:ext cx="3493008" cy="398856"/>
          </a:xfrm>
          <a:prstGeom prst="rect">
            <a:avLst/>
          </a:prstGeom>
          <a:noFill/>
          <a:ln/>
        </p:spPr>
        <p:txBody>
          <a:bodyPr wrap="square" lIns="0" tIns="0" rIns="0" bIns="0" rtlCol="0" anchor="ctr"/>
          <a:lstStyle/>
          <a:p>
            <a:pPr marL="0" indent="0">
              <a:buNone/>
            </a:pPr>
            <a:r>
              <a:rPr lang="en-US" sz="1150" dirty="0">
                <a:solidFill>
                  <a:srgbClr val="A8B8D8"/>
                </a:solidFill>
                <a:latin typeface="Calibri" pitchFamily="34" charset="0"/>
                <a:ea typeface="Calibri" pitchFamily="34" charset="-122"/>
                <a:cs typeface="Calibri" pitchFamily="34" charset="-120"/>
              </a:rPr>
              <a:t>It builds a culture of innovation and experimentation, not just operating.</a:t>
            </a:r>
            <a:endParaRPr lang="en-US" sz="1150" dirty="0"/>
          </a:p>
        </p:txBody>
      </p:sp>
      <p:pic>
        <p:nvPicPr>
          <p:cNvPr id="21" name="Image 6" descr="preencoded.png"/>
          <p:cNvPicPr>
            <a:picLocks noChangeAspect="1"/>
          </p:cNvPicPr>
          <p:nvPr/>
        </p:nvPicPr>
        <p:blipFill>
          <a:blip r:embed="rId5"/>
          <a:stretch>
            <a:fillRect/>
          </a:stretch>
        </p:blipFill>
        <p:spPr>
          <a:xfrm>
            <a:off x="4841748" y="4020528"/>
            <a:ext cx="228600" cy="228600"/>
          </a:xfrm>
          <a:prstGeom prst="rect">
            <a:avLst/>
          </a:prstGeom>
        </p:spPr>
      </p:pic>
      <p:sp>
        <p:nvSpPr>
          <p:cNvPr id="22" name="Text 13"/>
          <p:cNvSpPr/>
          <p:nvPr/>
        </p:nvSpPr>
        <p:spPr>
          <a:xfrm>
            <a:off x="5161788" y="3983952"/>
            <a:ext cx="3493008" cy="398856"/>
          </a:xfrm>
          <a:prstGeom prst="rect">
            <a:avLst/>
          </a:prstGeom>
          <a:noFill/>
          <a:ln/>
        </p:spPr>
        <p:txBody>
          <a:bodyPr wrap="square" lIns="0" tIns="0" rIns="0" bIns="0" rtlCol="0" anchor="ctr"/>
          <a:lstStyle/>
          <a:p>
            <a:pPr marL="0" indent="0">
              <a:buNone/>
            </a:pPr>
            <a:r>
              <a:rPr lang="en-US" sz="1150" dirty="0">
                <a:solidFill>
                  <a:srgbClr val="A8B8D8"/>
                </a:solidFill>
                <a:latin typeface="Calibri" pitchFamily="34" charset="0"/>
                <a:ea typeface="Calibri" pitchFamily="34" charset="-122"/>
                <a:cs typeface="Calibri" pitchFamily="34" charset="-120"/>
              </a:rPr>
              <a:t>It exposes our engineers to what AI makes possible and builds familiarity with new ways of working.</a:t>
            </a:r>
            <a:endParaRPr lang="en-US" sz="1150" dirty="0"/>
          </a:p>
        </p:txBody>
      </p:sp>
      <p:pic>
        <p:nvPicPr>
          <p:cNvPr id="23" name="Image 7" descr="preencoded.png"/>
          <p:cNvPicPr>
            <a:picLocks noChangeAspect="1"/>
          </p:cNvPicPr>
          <p:nvPr/>
        </p:nvPicPr>
        <p:blipFill>
          <a:blip r:embed="rId5"/>
          <a:stretch>
            <a:fillRect/>
          </a:stretch>
        </p:blipFill>
        <p:spPr>
          <a:xfrm>
            <a:off x="4846320" y="4660000"/>
            <a:ext cx="228600" cy="228600"/>
          </a:xfrm>
          <a:prstGeom prst="rect">
            <a:avLst/>
          </a:prstGeom>
        </p:spPr>
      </p:pic>
      <p:sp>
        <p:nvSpPr>
          <p:cNvPr id="24" name="Text 14"/>
          <p:cNvSpPr/>
          <p:nvPr/>
        </p:nvSpPr>
        <p:spPr>
          <a:xfrm>
            <a:off x="5166360" y="4623424"/>
            <a:ext cx="3493008" cy="360000"/>
          </a:xfrm>
          <a:prstGeom prst="rect">
            <a:avLst/>
          </a:prstGeom>
          <a:noFill/>
          <a:ln/>
        </p:spPr>
        <p:txBody>
          <a:bodyPr wrap="square" lIns="0" tIns="0" rIns="0" bIns="0" rtlCol="0" anchor="ctr"/>
          <a:lstStyle/>
          <a:p>
            <a:pPr marL="0" indent="0">
              <a:buNone/>
            </a:pPr>
            <a:r>
              <a:rPr lang="en-US" sz="1150" dirty="0">
                <a:solidFill>
                  <a:srgbClr val="A8B8D8"/>
                </a:solidFill>
                <a:latin typeface="Calibri" pitchFamily="34" charset="0"/>
                <a:ea typeface="Calibri" pitchFamily="34" charset="-122"/>
                <a:cs typeface="Calibri" pitchFamily="34" charset="-120"/>
              </a:rPr>
              <a:t>It brings our engineers together — building relationships, socialising, and getting face time that distributed teams rarely get.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457200" y="164592"/>
            <a:ext cx="2533135" cy="384048"/>
          </a:xfrm>
          <a:prstGeom prst="rect">
            <a:avLst/>
          </a:prstGeom>
          <a:noFill/>
          <a:ln/>
        </p:spPr>
        <p:txBody>
          <a:bodyPr wrap="square" lIns="0" tIns="0" rIns="0" bIns="0" rtlCol="0" anchor="ctr"/>
          <a:lstStyle/>
          <a:p>
            <a:pPr marL="0" indent="0">
              <a:buNone/>
            </a:pPr>
            <a:r>
              <a:rPr lang="en-US" sz="2800" b="1" dirty="0">
                <a:solidFill>
                  <a:srgbClr val="1A2744"/>
                </a:solidFill>
                <a:latin typeface="Trebuchet MS" pitchFamily="34" charset="0"/>
                <a:ea typeface="Trebuchet MS" pitchFamily="34" charset="-122"/>
                <a:cs typeface="Trebuchet MS" pitchFamily="34" charset="-120"/>
              </a:rPr>
              <a:t>The Challenge</a:t>
            </a:r>
            <a:endParaRPr lang="en-US" sz="2800" dirty="0"/>
          </a:p>
        </p:txBody>
      </p:sp>
      <p:sp>
        <p:nvSpPr>
          <p:cNvPr id="3" name="Shape 1"/>
          <p:cNvSpPr/>
          <p:nvPr/>
        </p:nvSpPr>
        <p:spPr>
          <a:xfrm>
            <a:off x="256032" y="621792"/>
            <a:ext cx="8631936" cy="749808"/>
          </a:xfrm>
          <a:prstGeom prst="rect">
            <a:avLst/>
          </a:prstGeom>
          <a:solidFill>
            <a:srgbClr val="1A2744"/>
          </a:solidFill>
          <a:ln w="12700">
            <a:solidFill>
              <a:srgbClr val="1A2744"/>
            </a:solidFill>
            <a:prstDash val="solid"/>
          </a:ln>
        </p:spPr>
        <p:txBody>
          <a:bodyPr/>
          <a:lstStyle/>
          <a:p>
            <a:endParaRPr lang="en-US"/>
          </a:p>
        </p:txBody>
      </p:sp>
      <p:sp>
        <p:nvSpPr>
          <p:cNvPr id="4" name="Shape 2"/>
          <p:cNvSpPr/>
          <p:nvPr/>
        </p:nvSpPr>
        <p:spPr>
          <a:xfrm>
            <a:off x="256032" y="621792"/>
            <a:ext cx="82296" cy="749808"/>
          </a:xfrm>
          <a:prstGeom prst="rect">
            <a:avLst/>
          </a:prstGeom>
          <a:solidFill>
            <a:srgbClr val="00C4CC"/>
          </a:solidFill>
          <a:ln w="12700">
            <a:solidFill>
              <a:srgbClr val="00C4CC"/>
            </a:solidFill>
            <a:prstDash val="solid"/>
          </a:ln>
        </p:spPr>
        <p:txBody>
          <a:bodyPr/>
          <a:lstStyle/>
          <a:p>
            <a:endParaRPr lang="en-US"/>
          </a:p>
        </p:txBody>
      </p:sp>
      <p:sp>
        <p:nvSpPr>
          <p:cNvPr id="5" name="Text 3"/>
          <p:cNvSpPr/>
          <p:nvPr/>
        </p:nvSpPr>
        <p:spPr>
          <a:xfrm>
            <a:off x="457200" y="658368"/>
            <a:ext cx="8275320" cy="676656"/>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Design and build a desk booking system that you'd actually want to use — solving the real challenges of hybrid workplace management for a large, distributed organisation.</a:t>
            </a:r>
            <a:endParaRPr lang="en-US" sz="1300" dirty="0"/>
          </a:p>
        </p:txBody>
      </p:sp>
      <p:sp>
        <p:nvSpPr>
          <p:cNvPr id="6" name="Shape 4"/>
          <p:cNvSpPr/>
          <p:nvPr/>
        </p:nvSpPr>
        <p:spPr>
          <a:xfrm>
            <a:off x="256032" y="1444752"/>
            <a:ext cx="4251960" cy="182880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7" name="Shape 5"/>
          <p:cNvSpPr/>
          <p:nvPr/>
        </p:nvSpPr>
        <p:spPr>
          <a:xfrm>
            <a:off x="256032" y="1444752"/>
            <a:ext cx="64008" cy="1828800"/>
          </a:xfrm>
          <a:prstGeom prst="rect">
            <a:avLst/>
          </a:prstGeom>
          <a:solidFill>
            <a:srgbClr val="00C4CC"/>
          </a:solidFill>
          <a:ln w="12700">
            <a:solidFill>
              <a:srgbClr val="00C4CC"/>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93192" y="1554480"/>
            <a:ext cx="292608" cy="292608"/>
          </a:xfrm>
          <a:prstGeom prst="rect">
            <a:avLst/>
          </a:prstGeom>
        </p:spPr>
      </p:pic>
      <p:sp>
        <p:nvSpPr>
          <p:cNvPr id="9" name="Text 6"/>
          <p:cNvSpPr/>
          <p:nvPr/>
        </p:nvSpPr>
        <p:spPr>
          <a:xfrm>
            <a:off x="768096" y="1536192"/>
            <a:ext cx="3657600" cy="329184"/>
          </a:xfrm>
          <a:prstGeom prst="rect">
            <a:avLst/>
          </a:prstGeom>
          <a:noFill/>
          <a:ln/>
        </p:spPr>
        <p:txBody>
          <a:bodyPr wrap="square" lIns="0" tIns="0" rIns="0" bIns="0" rtlCol="0" anchor="ctr"/>
          <a:lstStyle/>
          <a:p>
            <a:pPr marL="0" indent="0">
              <a:buNone/>
            </a:pPr>
            <a:r>
              <a:rPr lang="en-US" sz="1250" b="1" dirty="0">
                <a:solidFill>
                  <a:srgbClr val="1A2744"/>
                </a:solidFill>
                <a:latin typeface="Trebuchet MS" pitchFamily="34" charset="0"/>
                <a:ea typeface="Trebuchet MS" pitchFamily="34" charset="-122"/>
                <a:cs typeface="Trebuchet MS" pitchFamily="34" charset="-120"/>
              </a:rPr>
              <a:t>Pre-requisites</a:t>
            </a:r>
            <a:endParaRPr lang="en-US" sz="1250" dirty="0"/>
          </a:p>
        </p:txBody>
      </p:sp>
      <p:sp>
        <p:nvSpPr>
          <p:cNvPr id="10" name="Text 7"/>
          <p:cNvSpPr/>
          <p:nvPr/>
        </p:nvSpPr>
        <p:spPr>
          <a:xfrm>
            <a:off x="393192" y="1920240"/>
            <a:ext cx="4114800" cy="1280160"/>
          </a:xfrm>
          <a:prstGeom prst="rect">
            <a:avLst/>
          </a:prstGeom>
          <a:noFill/>
          <a:ln/>
        </p:spPr>
        <p:txBody>
          <a:bodyPr wrap="square" rtlCol="0" anchor="ctr"/>
          <a:lstStyle/>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You team shall be provided with a Claude platform workspace and </a:t>
            </a:r>
            <a:r>
              <a:rPr lang="en-US" sz="950" dirty="0" err="1">
                <a:solidFill>
                  <a:srgbClr val="6B7FA3"/>
                </a:solidFill>
                <a:latin typeface="Calibri" pitchFamily="34" charset="0"/>
                <a:ea typeface="Calibri" pitchFamily="34" charset="-122"/>
                <a:cs typeface="Calibri" pitchFamily="34" charset="-120"/>
              </a:rPr>
              <a:t>api</a:t>
            </a:r>
            <a:r>
              <a:rPr lang="en-US" sz="950" dirty="0">
                <a:solidFill>
                  <a:srgbClr val="6B7FA3"/>
                </a:solidFill>
                <a:latin typeface="Calibri" pitchFamily="34" charset="0"/>
                <a:ea typeface="Calibri" pitchFamily="34" charset="-122"/>
                <a:cs typeface="Calibri" pitchFamily="34" charset="-120"/>
              </a:rPr>
              <a:t> key on the day. The </a:t>
            </a:r>
            <a:r>
              <a:rPr lang="en-US" sz="950" dirty="0" err="1">
                <a:solidFill>
                  <a:srgbClr val="6B7FA3"/>
                </a:solidFill>
                <a:latin typeface="Calibri" pitchFamily="34" charset="0"/>
                <a:ea typeface="Calibri" pitchFamily="34" charset="-122"/>
                <a:cs typeface="Calibri" pitchFamily="34" charset="-120"/>
              </a:rPr>
              <a:t>api</a:t>
            </a:r>
            <a:r>
              <a:rPr lang="en-US" sz="950" dirty="0">
                <a:solidFill>
                  <a:srgbClr val="6B7FA3"/>
                </a:solidFill>
                <a:latin typeface="Calibri" pitchFamily="34" charset="0"/>
                <a:ea typeface="Calibri" pitchFamily="34" charset="-122"/>
                <a:cs typeface="Calibri" pitchFamily="34" charset="-120"/>
              </a:rPr>
              <a:t> key will be credited with. $240 credit per team.</a:t>
            </a:r>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Your will be provided access to Azure with your own subscription</a:t>
            </a:r>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Install a CLI tool (e.g. VS Code) and set up Claude Code before the hackathon — see https://code.claude.com/docs/en/overview</a:t>
            </a:r>
            <a:endParaRPr lang="en-US" sz="950" dirty="0"/>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A public GitHub account is required </a:t>
            </a:r>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Bring a disconnect device for the duration of the hack to build your solution</a:t>
            </a:r>
            <a:endParaRPr lang="en-US" sz="950" dirty="0"/>
          </a:p>
        </p:txBody>
      </p:sp>
      <p:sp>
        <p:nvSpPr>
          <p:cNvPr id="11" name="Shape 8"/>
          <p:cNvSpPr/>
          <p:nvPr/>
        </p:nvSpPr>
        <p:spPr>
          <a:xfrm>
            <a:off x="4636008" y="1444752"/>
            <a:ext cx="4251960" cy="182880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12" name="Shape 9"/>
          <p:cNvSpPr/>
          <p:nvPr/>
        </p:nvSpPr>
        <p:spPr>
          <a:xfrm>
            <a:off x="4636008" y="1444752"/>
            <a:ext cx="64008" cy="1828800"/>
          </a:xfrm>
          <a:prstGeom prst="rect">
            <a:avLst/>
          </a:prstGeom>
          <a:solidFill>
            <a:srgbClr val="00C4CC"/>
          </a:solidFill>
          <a:ln w="12700">
            <a:solidFill>
              <a:srgbClr val="00C4CC"/>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73168" y="1554480"/>
            <a:ext cx="292608" cy="292608"/>
          </a:xfrm>
          <a:prstGeom prst="rect">
            <a:avLst/>
          </a:prstGeom>
        </p:spPr>
      </p:pic>
      <p:sp>
        <p:nvSpPr>
          <p:cNvPr id="14" name="Text 10"/>
          <p:cNvSpPr/>
          <p:nvPr/>
        </p:nvSpPr>
        <p:spPr>
          <a:xfrm>
            <a:off x="5148072" y="1536192"/>
            <a:ext cx="3657600" cy="329184"/>
          </a:xfrm>
          <a:prstGeom prst="rect">
            <a:avLst/>
          </a:prstGeom>
          <a:noFill/>
          <a:ln/>
        </p:spPr>
        <p:txBody>
          <a:bodyPr wrap="square" lIns="0" tIns="0" rIns="0" bIns="0" rtlCol="0" anchor="ctr"/>
          <a:lstStyle/>
          <a:p>
            <a:pPr marL="0" indent="0">
              <a:buNone/>
            </a:pPr>
            <a:r>
              <a:rPr lang="en-US" sz="1250" b="1" dirty="0">
                <a:solidFill>
                  <a:srgbClr val="1A2744"/>
                </a:solidFill>
                <a:latin typeface="Trebuchet MS" pitchFamily="34" charset="0"/>
                <a:ea typeface="Trebuchet MS" pitchFamily="34" charset="-122"/>
                <a:cs typeface="Trebuchet MS" pitchFamily="34" charset="-120"/>
              </a:rPr>
              <a:t>Constraints</a:t>
            </a:r>
            <a:endParaRPr lang="en-US" sz="1250" dirty="0"/>
          </a:p>
        </p:txBody>
      </p:sp>
      <p:sp>
        <p:nvSpPr>
          <p:cNvPr id="15" name="Text 11"/>
          <p:cNvSpPr/>
          <p:nvPr/>
        </p:nvSpPr>
        <p:spPr>
          <a:xfrm>
            <a:off x="4773168" y="1920240"/>
            <a:ext cx="4032504" cy="1164866"/>
          </a:xfrm>
          <a:prstGeom prst="rect">
            <a:avLst/>
          </a:prstGeom>
          <a:noFill/>
          <a:ln/>
        </p:spPr>
        <p:txBody>
          <a:bodyPr wrap="square" rtlCol="0" anchor="ctr"/>
          <a:lstStyle/>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Synthetic data only — no real org data should be used at any point</a:t>
            </a:r>
            <a:endParaRPr lang="en-US" sz="950" dirty="0"/>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No mandatory deployment target — but it must be demoable live</a:t>
            </a:r>
            <a:endParaRPr lang="en-US" sz="950" dirty="0"/>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External APIs used, must be publicly accessible</a:t>
            </a:r>
            <a:endParaRPr lang="en-US" sz="950" dirty="0"/>
          </a:p>
          <a:p>
            <a:pPr marL="342900" indent="-342900">
              <a:buSzPct val="100000"/>
              <a:buChar char="•"/>
            </a:pPr>
            <a:r>
              <a:rPr lang="en-US" sz="950" dirty="0">
                <a:solidFill>
                  <a:srgbClr val="6B7FA3"/>
                </a:solidFill>
                <a:latin typeface="Calibri" pitchFamily="34" charset="0"/>
                <a:ea typeface="Calibri" pitchFamily="34" charset="-122"/>
                <a:cs typeface="Calibri" pitchFamily="34" charset="-120"/>
              </a:rPr>
              <a:t>Build freeze at 13:30 on Day 2 — demo prep only after</a:t>
            </a:r>
          </a:p>
          <a:p>
            <a:pPr marL="342900" indent="-342900">
              <a:buSzPct val="100000"/>
              <a:buFontTx/>
              <a:buChar char="•"/>
            </a:pPr>
            <a:r>
              <a:rPr lang="en-US" sz="950" dirty="0">
                <a:solidFill>
                  <a:srgbClr val="6B7FA3"/>
                </a:solidFill>
                <a:latin typeface="Calibri" pitchFamily="34" charset="0"/>
                <a:ea typeface="Calibri" pitchFamily="34" charset="-122"/>
                <a:cs typeface="Calibri" pitchFamily="34" charset="-120"/>
              </a:rPr>
              <a:t>One submission per team</a:t>
            </a:r>
          </a:p>
          <a:p>
            <a:pPr marL="342900" indent="-342900">
              <a:buSzPct val="100000"/>
              <a:buFontTx/>
              <a:buChar char="•"/>
            </a:pPr>
            <a:r>
              <a:rPr lang="en-US" sz="950" dirty="0">
                <a:solidFill>
                  <a:srgbClr val="6B7FA3"/>
                </a:solidFill>
                <a:latin typeface="Calibri" pitchFamily="34" charset="0"/>
                <a:cs typeface="Calibri" pitchFamily="34" charset="-120"/>
              </a:rPr>
              <a:t>All work should be inside your fork of the LaunchPad </a:t>
            </a:r>
            <a:r>
              <a:rPr lang="en-US" sz="950" dirty="0" err="1">
                <a:solidFill>
                  <a:srgbClr val="6B7FA3"/>
                </a:solidFill>
                <a:latin typeface="Calibri" pitchFamily="34" charset="0"/>
                <a:cs typeface="Calibri" pitchFamily="34" charset="-120"/>
              </a:rPr>
              <a:t>github</a:t>
            </a:r>
            <a:r>
              <a:rPr lang="en-US" sz="950" dirty="0">
                <a:solidFill>
                  <a:srgbClr val="6B7FA3"/>
                </a:solidFill>
                <a:latin typeface="Calibri" pitchFamily="34" charset="0"/>
                <a:cs typeface="Calibri" pitchFamily="34" charset="-120"/>
              </a:rPr>
              <a:t> repo as part of the submission</a:t>
            </a:r>
            <a:endParaRPr lang="en-US" sz="950" dirty="0"/>
          </a:p>
        </p:txBody>
      </p:sp>
      <p:sp>
        <p:nvSpPr>
          <p:cNvPr id="16" name="Shape 12"/>
          <p:cNvSpPr/>
          <p:nvPr/>
        </p:nvSpPr>
        <p:spPr>
          <a:xfrm>
            <a:off x="256032" y="3346704"/>
            <a:ext cx="4251960" cy="170000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17" name="Shape 13"/>
          <p:cNvSpPr/>
          <p:nvPr/>
        </p:nvSpPr>
        <p:spPr>
          <a:xfrm>
            <a:off x="256032" y="3346704"/>
            <a:ext cx="64008" cy="1700000"/>
          </a:xfrm>
          <a:prstGeom prst="rect">
            <a:avLst/>
          </a:prstGeom>
          <a:solidFill>
            <a:srgbClr val="00C4CC"/>
          </a:solidFill>
          <a:ln w="12700">
            <a:solidFill>
              <a:srgbClr val="00C4CC"/>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393192" y="3456432"/>
            <a:ext cx="292608" cy="292608"/>
          </a:xfrm>
          <a:prstGeom prst="rect">
            <a:avLst/>
          </a:prstGeom>
        </p:spPr>
      </p:pic>
      <p:sp>
        <p:nvSpPr>
          <p:cNvPr id="19" name="Text 14"/>
          <p:cNvSpPr/>
          <p:nvPr/>
        </p:nvSpPr>
        <p:spPr>
          <a:xfrm>
            <a:off x="768096" y="3438144"/>
            <a:ext cx="3657600" cy="329184"/>
          </a:xfrm>
          <a:prstGeom prst="rect">
            <a:avLst/>
          </a:prstGeom>
          <a:noFill/>
          <a:ln/>
        </p:spPr>
        <p:txBody>
          <a:bodyPr wrap="square" lIns="0" tIns="0" rIns="0" bIns="0" rtlCol="0" anchor="ctr"/>
          <a:lstStyle/>
          <a:p>
            <a:pPr marL="0" indent="0">
              <a:buNone/>
            </a:pPr>
            <a:r>
              <a:rPr lang="en-US" sz="1250" b="1" dirty="0">
                <a:solidFill>
                  <a:srgbClr val="1A2744"/>
                </a:solidFill>
                <a:latin typeface="Trebuchet MS" pitchFamily="34" charset="0"/>
                <a:ea typeface="Trebuchet MS" pitchFamily="34" charset="-122"/>
                <a:cs typeface="Trebuchet MS" pitchFamily="34" charset="-120"/>
              </a:rPr>
              <a:t>Your Team</a:t>
            </a:r>
            <a:endParaRPr lang="en-US" sz="1250" dirty="0"/>
          </a:p>
        </p:txBody>
      </p:sp>
      <p:sp>
        <p:nvSpPr>
          <p:cNvPr id="20" name="Text 15"/>
          <p:cNvSpPr/>
          <p:nvPr/>
        </p:nvSpPr>
        <p:spPr>
          <a:xfrm>
            <a:off x="379476" y="3681454"/>
            <a:ext cx="4032504" cy="1200000"/>
          </a:xfrm>
          <a:prstGeom prst="rect">
            <a:avLst/>
          </a:prstGeom>
          <a:noFill/>
          <a:ln/>
        </p:spPr>
        <p:txBody>
          <a:bodyPr wrap="square" rtlCol="0" anchor="t"/>
          <a:lstStyle/>
          <a:p>
            <a:pPr marL="342900" indent="-342900">
              <a:lnSpc>
                <a:spcPct val="100000"/>
              </a:lnSpc>
              <a:spcBef>
                <a:spcPts val="200"/>
              </a:spcBef>
              <a:buSzPct val="100000"/>
              <a:buChar char="•"/>
            </a:pPr>
            <a:r>
              <a:rPr lang="en-GB" sz="850" dirty="0">
                <a:solidFill>
                  <a:srgbClr val="6B7FA3"/>
                </a:solidFill>
                <a:latin typeface="Calibri" pitchFamily="34" charset="0"/>
                <a:ea typeface="Calibri" pitchFamily="34" charset="-122"/>
                <a:cs typeface="Calibri" pitchFamily="34" charset="-120"/>
              </a:rPr>
              <a:t>3–5 people per team</a:t>
            </a:r>
            <a:endParaRPr lang="en-GB" sz="850" dirty="0"/>
          </a:p>
          <a:p>
            <a:pPr marL="342900" indent="-342900">
              <a:lnSpc>
                <a:spcPct val="100000"/>
              </a:lnSpc>
              <a:spcBef>
                <a:spcPts val="200"/>
              </a:spcBef>
              <a:buSzPct val="100000"/>
              <a:buChar char="•"/>
            </a:pPr>
            <a:r>
              <a:rPr lang="en-GB" sz="850" dirty="0">
                <a:solidFill>
                  <a:srgbClr val="6B7FA3"/>
                </a:solidFill>
                <a:latin typeface="Calibri" pitchFamily="34" charset="0"/>
                <a:ea typeface="Calibri" pitchFamily="34" charset="-122"/>
                <a:cs typeface="Calibri" pitchFamily="34" charset="-120"/>
              </a:rPr>
              <a:t>Nominate a team captain</a:t>
            </a:r>
          </a:p>
          <a:p>
            <a:pPr marL="342900" indent="-342900">
              <a:lnSpc>
                <a:spcPct val="100000"/>
              </a:lnSpc>
              <a:spcBef>
                <a:spcPts val="200"/>
              </a:spcBef>
              <a:buSzPct val="100000"/>
              <a:buChar char="•"/>
            </a:pPr>
            <a:r>
              <a:rPr lang="en-GB" sz="850" dirty="0">
                <a:solidFill>
                  <a:srgbClr val="6B7FA3"/>
                </a:solidFill>
                <a:latin typeface="Calibri" pitchFamily="34" charset="0"/>
                <a:ea typeface="Calibri" pitchFamily="34" charset="-122"/>
                <a:cs typeface="Calibri" pitchFamily="34" charset="-120"/>
              </a:rPr>
              <a:t>Your private GitHub repo will be waiting — invites go out once teams are confirmed</a:t>
            </a:r>
            <a:endParaRPr lang="en-GB" sz="850" dirty="0"/>
          </a:p>
          <a:p>
            <a:pPr marL="342900" indent="-342900">
              <a:lnSpc>
                <a:spcPct val="100000"/>
              </a:lnSpc>
              <a:spcBef>
                <a:spcPts val="200"/>
              </a:spcBef>
              <a:buSzPct val="100000"/>
              <a:buChar char="•"/>
            </a:pPr>
            <a:r>
              <a:rPr lang="en-GB" sz="850" dirty="0">
                <a:solidFill>
                  <a:srgbClr val="6B7FA3"/>
                </a:solidFill>
                <a:latin typeface="Calibri" pitchFamily="34" charset="0"/>
                <a:ea typeface="Calibri" pitchFamily="34" charset="-122"/>
                <a:cs typeface="Calibri" pitchFamily="34" charset="-120"/>
              </a:rPr>
              <a:t>A mentor will be assigned to your team — one per two teams, they are there to unblock not to build</a:t>
            </a:r>
            <a:endParaRPr lang="en-GB" sz="850" dirty="0"/>
          </a:p>
          <a:p>
            <a:pPr marL="342900" indent="-342900">
              <a:lnSpc>
                <a:spcPct val="100000"/>
              </a:lnSpc>
              <a:spcBef>
                <a:spcPts val="200"/>
              </a:spcBef>
              <a:buSzPct val="100000"/>
              <a:buChar char="•"/>
            </a:pPr>
            <a:r>
              <a:rPr lang="en-GB" sz="850" dirty="0">
                <a:solidFill>
                  <a:srgbClr val="6B7FA3"/>
                </a:solidFill>
                <a:latin typeface="Calibri" pitchFamily="34" charset="0"/>
                <a:ea typeface="Calibri" pitchFamily="34" charset="-122"/>
                <a:cs typeface="Calibri" pitchFamily="34" charset="-120"/>
              </a:rPr>
              <a:t>One submission per team — whatever’s on your fork at build freeze is what you demo</a:t>
            </a:r>
            <a:endParaRPr lang="en-GB" sz="850" dirty="0"/>
          </a:p>
        </p:txBody>
      </p:sp>
      <p:sp>
        <p:nvSpPr>
          <p:cNvPr id="21" name="Shape 16"/>
          <p:cNvSpPr/>
          <p:nvPr/>
        </p:nvSpPr>
        <p:spPr>
          <a:xfrm>
            <a:off x="4636008" y="3346704"/>
            <a:ext cx="4251960" cy="170000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22" name="Shape 17"/>
          <p:cNvSpPr/>
          <p:nvPr/>
        </p:nvSpPr>
        <p:spPr>
          <a:xfrm>
            <a:off x="4636008" y="3346704"/>
            <a:ext cx="64008" cy="1700000"/>
          </a:xfrm>
          <a:prstGeom prst="rect">
            <a:avLst/>
          </a:prstGeom>
          <a:solidFill>
            <a:srgbClr val="00C4CC"/>
          </a:solidFill>
          <a:ln w="12700">
            <a:solidFill>
              <a:srgbClr val="00C4CC"/>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4773168" y="3456432"/>
            <a:ext cx="292608" cy="292608"/>
          </a:xfrm>
          <a:prstGeom prst="rect">
            <a:avLst/>
          </a:prstGeom>
        </p:spPr>
      </p:pic>
      <p:sp>
        <p:nvSpPr>
          <p:cNvPr id="24" name="Text 18"/>
          <p:cNvSpPr/>
          <p:nvPr/>
        </p:nvSpPr>
        <p:spPr>
          <a:xfrm>
            <a:off x="5148072" y="3438144"/>
            <a:ext cx="3657600" cy="329184"/>
          </a:xfrm>
          <a:prstGeom prst="rect">
            <a:avLst/>
          </a:prstGeom>
          <a:noFill/>
          <a:ln/>
        </p:spPr>
        <p:txBody>
          <a:bodyPr wrap="square" lIns="0" tIns="0" rIns="0" bIns="0" rtlCol="0" anchor="ctr"/>
          <a:lstStyle/>
          <a:p>
            <a:pPr marL="0" indent="0">
              <a:buNone/>
            </a:pPr>
            <a:r>
              <a:rPr lang="en-US" sz="1250" b="1" dirty="0">
                <a:solidFill>
                  <a:srgbClr val="1A2744"/>
                </a:solidFill>
                <a:latin typeface="Trebuchet MS" pitchFamily="34" charset="0"/>
                <a:ea typeface="Trebuchet MS" pitchFamily="34" charset="-122"/>
                <a:cs typeface="Trebuchet MS" pitchFamily="34" charset="-120"/>
              </a:rPr>
              <a:t>Rules of Engagement</a:t>
            </a:r>
            <a:endParaRPr lang="en-US" sz="1250" dirty="0"/>
          </a:p>
        </p:txBody>
      </p:sp>
      <p:sp>
        <p:nvSpPr>
          <p:cNvPr id="100" name="Text RoE Bullets"/>
          <p:cNvSpPr/>
          <p:nvPr/>
        </p:nvSpPr>
        <p:spPr>
          <a:xfrm>
            <a:off x="4773168" y="3681454"/>
            <a:ext cx="4032504" cy="1200000"/>
          </a:xfrm>
          <a:prstGeom prst="rect">
            <a:avLst/>
          </a:prstGeom>
          <a:noFill/>
          <a:ln/>
        </p:spPr>
        <p:txBody>
          <a:bodyPr wrap="square" rtlCol="0" anchor="t"/>
          <a:lstStyle/>
          <a:p>
            <a:pPr marL="342900" indent="-342900">
              <a:lnSpc>
                <a:spcPct val="100000"/>
              </a:lnSpc>
              <a:spcBef>
                <a:spcPts val="200"/>
              </a:spcBef>
              <a:buSzPct val="100000"/>
              <a:buChar char="•"/>
            </a:pPr>
            <a:r>
              <a:rPr lang="en-GB" sz="950" dirty="0">
                <a:solidFill>
                  <a:srgbClr val="6B7FA3"/>
                </a:solidFill>
                <a:latin typeface="Calibri" pitchFamily="34" charset="0"/>
                <a:ea typeface="Calibri" pitchFamily="34" charset="-122"/>
                <a:cs typeface="Calibri" pitchFamily="34" charset="-120"/>
              </a:rPr>
              <a:t>Respect the room — different backgrounds and experience levels, </a:t>
            </a:r>
          </a:p>
          <a:p>
            <a:pPr marL="342900" indent="-342900">
              <a:lnSpc>
                <a:spcPct val="100000"/>
              </a:lnSpc>
              <a:spcBef>
                <a:spcPts val="200"/>
              </a:spcBef>
              <a:buSzPct val="100000"/>
              <a:buChar char="•"/>
            </a:pPr>
            <a:r>
              <a:rPr lang="en-GB" sz="950" dirty="0">
                <a:solidFill>
                  <a:srgbClr val="6B7FA3"/>
                </a:solidFill>
                <a:latin typeface="Calibri" pitchFamily="34" charset="0"/>
                <a:ea typeface="Calibri" pitchFamily="34" charset="-122"/>
                <a:cs typeface="Calibri" pitchFamily="34" charset="-120"/>
              </a:rPr>
              <a:t>Share mentor time fairly — mentors cover two teams, don’t monopolise</a:t>
            </a:r>
            <a:endParaRPr lang="en-GB" sz="950" dirty="0"/>
          </a:p>
          <a:p>
            <a:pPr marL="342900" indent="-342900">
              <a:lnSpc>
                <a:spcPct val="100000"/>
              </a:lnSpc>
              <a:spcBef>
                <a:spcPts val="200"/>
              </a:spcBef>
              <a:buSzPct val="100000"/>
              <a:buChar char="•"/>
            </a:pPr>
            <a:r>
              <a:rPr lang="en-GB" sz="950" dirty="0">
                <a:solidFill>
                  <a:srgbClr val="6B7FA3"/>
                </a:solidFill>
                <a:latin typeface="Calibri" pitchFamily="34" charset="0"/>
                <a:ea typeface="Calibri" pitchFamily="34" charset="-122"/>
                <a:cs typeface="Calibri" pitchFamily="34" charset="-120"/>
              </a:rPr>
              <a:t>Escalate early — if something’s blocking you for more than 30 minutes, flag to your mentor or the organising lead</a:t>
            </a:r>
            <a:endParaRPr lang="en-GB" sz="950" dirty="0"/>
          </a:p>
          <a:p>
            <a:pPr marL="342900" indent="-342900">
              <a:lnSpc>
                <a:spcPct val="100000"/>
              </a:lnSpc>
              <a:spcBef>
                <a:spcPts val="200"/>
              </a:spcBef>
              <a:buSzPct val="100000"/>
              <a:buChar char="•"/>
            </a:pPr>
            <a:r>
              <a:rPr lang="en-GB" sz="950" dirty="0">
                <a:solidFill>
                  <a:srgbClr val="6B7FA3"/>
                </a:solidFill>
                <a:latin typeface="Calibri" pitchFamily="34" charset="0"/>
                <a:ea typeface="Calibri" pitchFamily="34" charset="-122"/>
                <a:cs typeface="Calibri" pitchFamily="34" charset="-120"/>
              </a:rPr>
              <a:t>Demos are for everyone — laptops closed during other teams’ presentations, full attention in the room</a:t>
            </a:r>
            <a:endParaRPr lang="en-GB"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420624"/>
          </a:xfrm>
          <a:prstGeom prst="rect">
            <a:avLst/>
          </a:prstGeom>
          <a:noFill/>
          <a:ln/>
        </p:spPr>
        <p:txBody>
          <a:bodyPr wrap="square" lIns="0" tIns="0" rIns="0" bIns="0" rtlCol="0" anchor="ctr"/>
          <a:lstStyle/>
          <a:p>
            <a:pPr marL="0" indent="0">
              <a:buNone/>
            </a:pPr>
            <a:r>
              <a:rPr lang="en-US" sz="2800" b="1" dirty="0">
                <a:solidFill>
                  <a:srgbClr val="1A2744"/>
                </a:solidFill>
                <a:latin typeface="Trebuchet MS" pitchFamily="34" charset="0"/>
                <a:ea typeface="Trebuchet MS" pitchFamily="34" charset="-122"/>
                <a:cs typeface="Trebuchet MS" pitchFamily="34" charset="-120"/>
              </a:rPr>
              <a:t>The Problem Space</a:t>
            </a:r>
            <a:endParaRPr lang="en-US" sz="2800" dirty="0"/>
          </a:p>
        </p:txBody>
      </p:sp>
      <p:sp>
        <p:nvSpPr>
          <p:cNvPr id="3" name="Text 1"/>
          <p:cNvSpPr/>
          <p:nvPr/>
        </p:nvSpPr>
        <p:spPr>
          <a:xfrm>
            <a:off x="457200" y="530352"/>
            <a:ext cx="8321040" cy="329184"/>
          </a:xfrm>
          <a:prstGeom prst="rect">
            <a:avLst/>
          </a:prstGeom>
          <a:noFill/>
          <a:ln/>
        </p:spPr>
        <p:txBody>
          <a:bodyPr wrap="square" lIns="0" tIns="0" rIns="0" bIns="0" rtlCol="0" anchor="ctr"/>
          <a:lstStyle/>
          <a:p>
            <a:pPr marL="0" indent="0">
              <a:buNone/>
            </a:pPr>
            <a:r>
              <a:rPr lang="en-US" sz="1150" i="1" dirty="0">
                <a:solidFill>
                  <a:srgbClr val="6B7FA3"/>
                </a:solidFill>
                <a:latin typeface="Calibri" pitchFamily="34" charset="0"/>
                <a:ea typeface="Calibri" pitchFamily="34" charset="-122"/>
                <a:cs typeface="Calibri" pitchFamily="34" charset="-120"/>
              </a:rPr>
              <a:t>Good solutions will address these areas when building. Great solutions might reframe them entirely.</a:t>
            </a:r>
            <a:endParaRPr lang="en-US" sz="1150" dirty="0"/>
          </a:p>
        </p:txBody>
      </p:sp>
      <p:sp>
        <p:nvSpPr>
          <p:cNvPr id="4" name="Shape 2"/>
          <p:cNvSpPr/>
          <p:nvPr/>
        </p:nvSpPr>
        <p:spPr>
          <a:xfrm>
            <a:off x="256032" y="950976"/>
            <a:ext cx="2816352" cy="329184"/>
          </a:xfrm>
          <a:prstGeom prst="rect">
            <a:avLst/>
          </a:prstGeom>
          <a:solidFill>
            <a:srgbClr val="027A80"/>
          </a:solidFill>
          <a:ln w="12700">
            <a:solidFill>
              <a:srgbClr val="027A80"/>
            </a:solidFill>
            <a:prstDash val="solid"/>
          </a:ln>
        </p:spPr>
        <p:txBody>
          <a:bodyPr/>
          <a:lstStyle/>
          <a:p>
            <a:endParaRPr lang="en-US"/>
          </a:p>
        </p:txBody>
      </p:sp>
      <p:sp>
        <p:nvSpPr>
          <p:cNvPr id="5" name="Shape 3"/>
          <p:cNvSpPr/>
          <p:nvPr/>
        </p:nvSpPr>
        <p:spPr>
          <a:xfrm>
            <a:off x="256032" y="950976"/>
            <a:ext cx="64008" cy="329184"/>
          </a:xfrm>
          <a:prstGeom prst="rect">
            <a:avLst/>
          </a:prstGeom>
          <a:solidFill>
            <a:srgbClr val="00C4CC"/>
          </a:solidFill>
          <a:ln w="12700">
            <a:solidFill>
              <a:srgbClr val="00C4CC"/>
            </a:solidFill>
            <a:prstDash val="solid"/>
          </a:ln>
        </p:spPr>
        <p:txBody>
          <a:bodyPr/>
          <a:lstStyle/>
          <a:p>
            <a:endParaRPr lang="en-US"/>
          </a:p>
        </p:txBody>
      </p:sp>
      <p:sp>
        <p:nvSpPr>
          <p:cNvPr id="6" name="Text 4"/>
          <p:cNvSpPr/>
          <p:nvPr/>
        </p:nvSpPr>
        <p:spPr>
          <a:xfrm>
            <a:off x="384048" y="950976"/>
            <a:ext cx="2670048" cy="329184"/>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Finding &amp; Booking</a:t>
            </a:r>
            <a:endParaRPr lang="en-US" sz="1050" dirty="0"/>
          </a:p>
        </p:txBody>
      </p:sp>
      <p:sp>
        <p:nvSpPr>
          <p:cNvPr id="7" name="Shape 5"/>
          <p:cNvSpPr/>
          <p:nvPr/>
        </p:nvSpPr>
        <p:spPr>
          <a:xfrm>
            <a:off x="256032" y="1335024"/>
            <a:ext cx="2816352" cy="877824"/>
          </a:xfrm>
          <a:prstGeom prst="rect">
            <a:avLst/>
          </a:prstGeom>
          <a:solidFill>
            <a:srgbClr val="FFFFFF"/>
          </a:solidFill>
          <a:ln w="6350">
            <a:solidFill>
              <a:srgbClr val="DDE6F5"/>
            </a:solidFill>
            <a:prstDash val="solid"/>
          </a:ln>
        </p:spPr>
        <p:txBody>
          <a:bodyPr/>
          <a:lstStyle/>
          <a:p>
            <a:endParaRPr lang="en-US"/>
          </a:p>
        </p:txBody>
      </p:sp>
      <p:sp>
        <p:nvSpPr>
          <p:cNvPr id="8" name="Text 6"/>
          <p:cNvSpPr/>
          <p:nvPr/>
        </p:nvSpPr>
        <p:spPr>
          <a:xfrm>
            <a:off x="329184" y="1389888"/>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9" name="Text 7"/>
          <p:cNvSpPr/>
          <p:nvPr/>
        </p:nvSpPr>
        <p:spPr>
          <a:xfrm>
            <a:off x="603504" y="1389888"/>
            <a:ext cx="2395728" cy="510474"/>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How does someone know which desks are actually available before they decide to come in?</a:t>
            </a:r>
            <a:endParaRPr lang="en-US" sz="950" dirty="0"/>
          </a:p>
        </p:txBody>
      </p:sp>
      <p:sp>
        <p:nvSpPr>
          <p:cNvPr id="10" name="Shape 8"/>
          <p:cNvSpPr/>
          <p:nvPr/>
        </p:nvSpPr>
        <p:spPr>
          <a:xfrm>
            <a:off x="256032" y="2267712"/>
            <a:ext cx="2816352" cy="877824"/>
          </a:xfrm>
          <a:prstGeom prst="rect">
            <a:avLst/>
          </a:prstGeom>
          <a:solidFill>
            <a:srgbClr val="F8FAFD"/>
          </a:solidFill>
          <a:ln w="6350">
            <a:solidFill>
              <a:srgbClr val="DDE6F5"/>
            </a:solidFill>
            <a:prstDash val="solid"/>
          </a:ln>
        </p:spPr>
        <p:txBody>
          <a:bodyPr/>
          <a:lstStyle/>
          <a:p>
            <a:endParaRPr lang="en-US"/>
          </a:p>
        </p:txBody>
      </p:sp>
      <p:sp>
        <p:nvSpPr>
          <p:cNvPr id="11" name="Text 9"/>
          <p:cNvSpPr/>
          <p:nvPr/>
        </p:nvSpPr>
        <p:spPr>
          <a:xfrm>
            <a:off x="329184" y="2322576"/>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12" name="Text 10"/>
          <p:cNvSpPr/>
          <p:nvPr/>
        </p:nvSpPr>
        <p:spPr>
          <a:xfrm>
            <a:off x="603504" y="2322576"/>
            <a:ext cx="2395728" cy="516040"/>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What does booking for a morning versus a full day mean for the space — and the people who need it next?</a:t>
            </a:r>
            <a:endParaRPr lang="en-US" sz="950" dirty="0"/>
          </a:p>
        </p:txBody>
      </p:sp>
      <p:sp>
        <p:nvSpPr>
          <p:cNvPr id="13" name="Shape 11"/>
          <p:cNvSpPr/>
          <p:nvPr/>
        </p:nvSpPr>
        <p:spPr>
          <a:xfrm>
            <a:off x="256032" y="3200400"/>
            <a:ext cx="2816352" cy="877824"/>
          </a:xfrm>
          <a:prstGeom prst="rect">
            <a:avLst/>
          </a:prstGeom>
          <a:solidFill>
            <a:srgbClr val="FFFFFF"/>
          </a:solidFill>
          <a:ln w="6350">
            <a:solidFill>
              <a:srgbClr val="DDE6F5"/>
            </a:solidFill>
            <a:prstDash val="solid"/>
          </a:ln>
        </p:spPr>
        <p:txBody>
          <a:bodyPr/>
          <a:lstStyle/>
          <a:p>
            <a:endParaRPr lang="en-US"/>
          </a:p>
        </p:txBody>
      </p:sp>
      <p:sp>
        <p:nvSpPr>
          <p:cNvPr id="14" name="Text 12"/>
          <p:cNvSpPr/>
          <p:nvPr/>
        </p:nvSpPr>
        <p:spPr>
          <a:xfrm>
            <a:off x="329184" y="3255264"/>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15" name="Text 13"/>
          <p:cNvSpPr/>
          <p:nvPr/>
        </p:nvSpPr>
        <p:spPr>
          <a:xfrm>
            <a:off x="603504" y="3255264"/>
            <a:ext cx="2395728" cy="370531"/>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If someone books a desk and doesn't show up, what should happen to it?</a:t>
            </a:r>
            <a:endParaRPr lang="en-US" sz="950" dirty="0"/>
          </a:p>
        </p:txBody>
      </p:sp>
      <p:sp>
        <p:nvSpPr>
          <p:cNvPr id="16" name="Shape 14"/>
          <p:cNvSpPr/>
          <p:nvPr/>
        </p:nvSpPr>
        <p:spPr>
          <a:xfrm>
            <a:off x="256032" y="4133088"/>
            <a:ext cx="2816352" cy="877824"/>
          </a:xfrm>
          <a:prstGeom prst="rect">
            <a:avLst/>
          </a:prstGeom>
          <a:solidFill>
            <a:srgbClr val="F8FAFD"/>
          </a:solidFill>
          <a:ln w="6350">
            <a:solidFill>
              <a:srgbClr val="DDE6F5"/>
            </a:solidFill>
            <a:prstDash val="solid"/>
          </a:ln>
        </p:spPr>
        <p:txBody>
          <a:bodyPr/>
          <a:lstStyle/>
          <a:p>
            <a:endParaRPr lang="en-US"/>
          </a:p>
        </p:txBody>
      </p:sp>
      <p:sp>
        <p:nvSpPr>
          <p:cNvPr id="17" name="Text 15"/>
          <p:cNvSpPr/>
          <p:nvPr/>
        </p:nvSpPr>
        <p:spPr>
          <a:xfrm>
            <a:off x="329184" y="4187952"/>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18" name="Text 16"/>
          <p:cNvSpPr/>
          <p:nvPr/>
        </p:nvSpPr>
        <p:spPr>
          <a:xfrm>
            <a:off x="603504" y="4187952"/>
            <a:ext cx="2395728" cy="425196"/>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How does the experience differ for someone booking on behalf of a colleague?</a:t>
            </a:r>
            <a:endParaRPr lang="en-US" sz="950" dirty="0"/>
          </a:p>
        </p:txBody>
      </p:sp>
      <p:sp>
        <p:nvSpPr>
          <p:cNvPr id="19" name="Shape 17"/>
          <p:cNvSpPr/>
          <p:nvPr/>
        </p:nvSpPr>
        <p:spPr>
          <a:xfrm>
            <a:off x="3218688" y="950976"/>
            <a:ext cx="2816352" cy="329184"/>
          </a:xfrm>
          <a:prstGeom prst="rect">
            <a:avLst/>
          </a:prstGeom>
          <a:solidFill>
            <a:srgbClr val="1A5C7A"/>
          </a:solidFill>
          <a:ln w="12700">
            <a:solidFill>
              <a:srgbClr val="1A5C7A"/>
            </a:solidFill>
            <a:prstDash val="solid"/>
          </a:ln>
        </p:spPr>
        <p:txBody>
          <a:bodyPr/>
          <a:lstStyle/>
          <a:p>
            <a:endParaRPr lang="en-US"/>
          </a:p>
        </p:txBody>
      </p:sp>
      <p:sp>
        <p:nvSpPr>
          <p:cNvPr id="20" name="Shape 18"/>
          <p:cNvSpPr/>
          <p:nvPr/>
        </p:nvSpPr>
        <p:spPr>
          <a:xfrm>
            <a:off x="3218688" y="950976"/>
            <a:ext cx="64008" cy="329184"/>
          </a:xfrm>
          <a:prstGeom prst="rect">
            <a:avLst/>
          </a:prstGeom>
          <a:solidFill>
            <a:srgbClr val="00C4CC"/>
          </a:solidFill>
          <a:ln w="12700">
            <a:solidFill>
              <a:srgbClr val="00C4CC"/>
            </a:solidFill>
            <a:prstDash val="solid"/>
          </a:ln>
        </p:spPr>
        <p:txBody>
          <a:bodyPr/>
          <a:lstStyle/>
          <a:p>
            <a:endParaRPr lang="en-US"/>
          </a:p>
        </p:txBody>
      </p:sp>
      <p:sp>
        <p:nvSpPr>
          <p:cNvPr id="21" name="Text 19"/>
          <p:cNvSpPr/>
          <p:nvPr/>
        </p:nvSpPr>
        <p:spPr>
          <a:xfrm>
            <a:off x="3346704" y="950976"/>
            <a:ext cx="2670048" cy="329184"/>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Awareness &amp; Coordination</a:t>
            </a:r>
            <a:endParaRPr lang="en-US" sz="1050" dirty="0"/>
          </a:p>
        </p:txBody>
      </p:sp>
      <p:sp>
        <p:nvSpPr>
          <p:cNvPr id="22" name="Shape 20"/>
          <p:cNvSpPr/>
          <p:nvPr/>
        </p:nvSpPr>
        <p:spPr>
          <a:xfrm>
            <a:off x="3218688" y="1335024"/>
            <a:ext cx="2816352" cy="877824"/>
          </a:xfrm>
          <a:prstGeom prst="rect">
            <a:avLst/>
          </a:prstGeom>
          <a:solidFill>
            <a:srgbClr val="FFFFFF"/>
          </a:solidFill>
          <a:ln w="6350">
            <a:solidFill>
              <a:srgbClr val="DDE6F5"/>
            </a:solidFill>
            <a:prstDash val="solid"/>
          </a:ln>
        </p:spPr>
        <p:txBody>
          <a:bodyPr/>
          <a:lstStyle/>
          <a:p>
            <a:endParaRPr lang="en-US"/>
          </a:p>
        </p:txBody>
      </p:sp>
      <p:sp>
        <p:nvSpPr>
          <p:cNvPr id="23" name="Text 21"/>
          <p:cNvSpPr/>
          <p:nvPr/>
        </p:nvSpPr>
        <p:spPr>
          <a:xfrm>
            <a:off x="3291840" y="1389888"/>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24" name="Text 22"/>
          <p:cNvSpPr/>
          <p:nvPr/>
        </p:nvSpPr>
        <p:spPr>
          <a:xfrm>
            <a:off x="3566160" y="1389888"/>
            <a:ext cx="2395728" cy="510474"/>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How does someone know whether their team will be in the office on the same day they're planning to attend?</a:t>
            </a:r>
            <a:endParaRPr lang="en-US" sz="950" dirty="0"/>
          </a:p>
        </p:txBody>
      </p:sp>
      <p:sp>
        <p:nvSpPr>
          <p:cNvPr id="25" name="Shape 23"/>
          <p:cNvSpPr/>
          <p:nvPr/>
        </p:nvSpPr>
        <p:spPr>
          <a:xfrm>
            <a:off x="3218688" y="2267712"/>
            <a:ext cx="2816352" cy="877824"/>
          </a:xfrm>
          <a:prstGeom prst="rect">
            <a:avLst/>
          </a:prstGeom>
          <a:solidFill>
            <a:srgbClr val="F8FAFD"/>
          </a:solidFill>
          <a:ln w="6350">
            <a:solidFill>
              <a:srgbClr val="DDE6F5"/>
            </a:solidFill>
            <a:prstDash val="solid"/>
          </a:ln>
        </p:spPr>
        <p:txBody>
          <a:bodyPr/>
          <a:lstStyle/>
          <a:p>
            <a:endParaRPr lang="en-US"/>
          </a:p>
        </p:txBody>
      </p:sp>
      <p:sp>
        <p:nvSpPr>
          <p:cNvPr id="26" name="Text 24"/>
          <p:cNvSpPr/>
          <p:nvPr/>
        </p:nvSpPr>
        <p:spPr>
          <a:xfrm>
            <a:off x="3291840" y="2322576"/>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27" name="Text 25"/>
          <p:cNvSpPr/>
          <p:nvPr/>
        </p:nvSpPr>
        <p:spPr>
          <a:xfrm>
            <a:off x="3566160" y="2322576"/>
            <a:ext cx="2395728" cy="516040"/>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If you want to sit near your team, how does the system help you find them — or bring you together?</a:t>
            </a:r>
            <a:endParaRPr lang="en-US" sz="950" dirty="0"/>
          </a:p>
        </p:txBody>
      </p:sp>
      <p:sp>
        <p:nvSpPr>
          <p:cNvPr id="28" name="Shape 26"/>
          <p:cNvSpPr/>
          <p:nvPr/>
        </p:nvSpPr>
        <p:spPr>
          <a:xfrm>
            <a:off x="3218688" y="3200400"/>
            <a:ext cx="2816352" cy="877824"/>
          </a:xfrm>
          <a:prstGeom prst="rect">
            <a:avLst/>
          </a:prstGeom>
          <a:solidFill>
            <a:srgbClr val="FFFFFF"/>
          </a:solidFill>
          <a:ln w="6350">
            <a:solidFill>
              <a:srgbClr val="DDE6F5"/>
            </a:solidFill>
            <a:prstDash val="solid"/>
          </a:ln>
        </p:spPr>
        <p:txBody>
          <a:bodyPr/>
          <a:lstStyle/>
          <a:p>
            <a:endParaRPr lang="en-US"/>
          </a:p>
        </p:txBody>
      </p:sp>
      <p:sp>
        <p:nvSpPr>
          <p:cNvPr id="29" name="Text 27"/>
          <p:cNvSpPr/>
          <p:nvPr/>
        </p:nvSpPr>
        <p:spPr>
          <a:xfrm>
            <a:off x="3291840" y="3255264"/>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30" name="Text 28"/>
          <p:cNvSpPr/>
          <p:nvPr/>
        </p:nvSpPr>
        <p:spPr>
          <a:xfrm>
            <a:off x="3566160" y="3255264"/>
            <a:ext cx="2395728" cy="370531"/>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What happens when a team of six all need to be in the same area on the same day?</a:t>
            </a:r>
            <a:endParaRPr lang="en-US" sz="950" dirty="0"/>
          </a:p>
        </p:txBody>
      </p:sp>
      <p:sp>
        <p:nvSpPr>
          <p:cNvPr id="31" name="Shape 29"/>
          <p:cNvSpPr/>
          <p:nvPr/>
        </p:nvSpPr>
        <p:spPr>
          <a:xfrm>
            <a:off x="3218688" y="4133088"/>
            <a:ext cx="2816352" cy="877824"/>
          </a:xfrm>
          <a:prstGeom prst="rect">
            <a:avLst/>
          </a:prstGeom>
          <a:solidFill>
            <a:srgbClr val="F8FAFD"/>
          </a:solidFill>
          <a:ln w="6350">
            <a:solidFill>
              <a:srgbClr val="DDE6F5"/>
            </a:solidFill>
            <a:prstDash val="solid"/>
          </a:ln>
        </p:spPr>
        <p:txBody>
          <a:bodyPr/>
          <a:lstStyle/>
          <a:p>
            <a:endParaRPr lang="en-US"/>
          </a:p>
        </p:txBody>
      </p:sp>
      <p:sp>
        <p:nvSpPr>
          <p:cNvPr id="32" name="Text 30"/>
          <p:cNvSpPr/>
          <p:nvPr/>
        </p:nvSpPr>
        <p:spPr>
          <a:xfrm>
            <a:off x="3291840" y="4187952"/>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33" name="Text 31"/>
          <p:cNvSpPr/>
          <p:nvPr/>
        </p:nvSpPr>
        <p:spPr>
          <a:xfrm>
            <a:off x="3566160" y="4187952"/>
            <a:ext cx="2395728" cy="519220"/>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At what point does desk occupancy visibility become useful — and at what point does it become intrusive?</a:t>
            </a:r>
            <a:endParaRPr lang="en-US" sz="950" dirty="0"/>
          </a:p>
        </p:txBody>
      </p:sp>
      <p:sp>
        <p:nvSpPr>
          <p:cNvPr id="34" name="Shape 32"/>
          <p:cNvSpPr/>
          <p:nvPr/>
        </p:nvSpPr>
        <p:spPr>
          <a:xfrm>
            <a:off x="6181344" y="950976"/>
            <a:ext cx="2816352" cy="329184"/>
          </a:xfrm>
          <a:prstGeom prst="rect">
            <a:avLst/>
          </a:prstGeom>
          <a:solidFill>
            <a:srgbClr val="243558"/>
          </a:solidFill>
          <a:ln w="12700">
            <a:solidFill>
              <a:srgbClr val="243558"/>
            </a:solidFill>
            <a:prstDash val="solid"/>
          </a:ln>
        </p:spPr>
        <p:txBody>
          <a:bodyPr/>
          <a:lstStyle/>
          <a:p>
            <a:endParaRPr lang="en-US"/>
          </a:p>
        </p:txBody>
      </p:sp>
      <p:sp>
        <p:nvSpPr>
          <p:cNvPr id="35" name="Shape 33"/>
          <p:cNvSpPr/>
          <p:nvPr/>
        </p:nvSpPr>
        <p:spPr>
          <a:xfrm>
            <a:off x="6181344" y="950976"/>
            <a:ext cx="64008" cy="329184"/>
          </a:xfrm>
          <a:prstGeom prst="rect">
            <a:avLst/>
          </a:prstGeom>
          <a:solidFill>
            <a:srgbClr val="00C4CC"/>
          </a:solidFill>
          <a:ln w="12700">
            <a:solidFill>
              <a:srgbClr val="00C4CC"/>
            </a:solidFill>
            <a:prstDash val="solid"/>
          </a:ln>
        </p:spPr>
        <p:txBody>
          <a:bodyPr/>
          <a:lstStyle/>
          <a:p>
            <a:endParaRPr lang="en-US"/>
          </a:p>
        </p:txBody>
      </p:sp>
      <p:sp>
        <p:nvSpPr>
          <p:cNvPr id="36" name="Text 34"/>
          <p:cNvSpPr/>
          <p:nvPr/>
        </p:nvSpPr>
        <p:spPr>
          <a:xfrm>
            <a:off x="6309360" y="950976"/>
            <a:ext cx="2670048" cy="329184"/>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Management &amp; Oversight</a:t>
            </a:r>
            <a:endParaRPr lang="en-US" sz="1050" dirty="0"/>
          </a:p>
        </p:txBody>
      </p:sp>
      <p:sp>
        <p:nvSpPr>
          <p:cNvPr id="37" name="Shape 35"/>
          <p:cNvSpPr/>
          <p:nvPr/>
        </p:nvSpPr>
        <p:spPr>
          <a:xfrm>
            <a:off x="6181344" y="1335024"/>
            <a:ext cx="2816352" cy="877824"/>
          </a:xfrm>
          <a:prstGeom prst="rect">
            <a:avLst/>
          </a:prstGeom>
          <a:solidFill>
            <a:srgbClr val="FFFFFF"/>
          </a:solidFill>
          <a:ln w="6350">
            <a:solidFill>
              <a:srgbClr val="DDE6F5"/>
            </a:solidFill>
            <a:prstDash val="solid"/>
          </a:ln>
        </p:spPr>
        <p:txBody>
          <a:bodyPr/>
          <a:lstStyle/>
          <a:p>
            <a:endParaRPr lang="en-US"/>
          </a:p>
        </p:txBody>
      </p:sp>
      <p:sp>
        <p:nvSpPr>
          <p:cNvPr id="38" name="Text 36"/>
          <p:cNvSpPr/>
          <p:nvPr/>
        </p:nvSpPr>
        <p:spPr>
          <a:xfrm>
            <a:off x="6254496" y="1389888"/>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39" name="Text 37"/>
          <p:cNvSpPr/>
          <p:nvPr/>
        </p:nvSpPr>
        <p:spPr>
          <a:xfrm>
            <a:off x="6528816" y="1389888"/>
            <a:ext cx="2395728" cy="510474"/>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How does someone responsible for a floor know how it's being used — and whether it's being used well?</a:t>
            </a:r>
            <a:endParaRPr lang="en-US" sz="950" dirty="0"/>
          </a:p>
        </p:txBody>
      </p:sp>
      <p:sp>
        <p:nvSpPr>
          <p:cNvPr id="40" name="Shape 38"/>
          <p:cNvSpPr/>
          <p:nvPr/>
        </p:nvSpPr>
        <p:spPr>
          <a:xfrm>
            <a:off x="6181344" y="2267712"/>
            <a:ext cx="2816352" cy="877824"/>
          </a:xfrm>
          <a:prstGeom prst="rect">
            <a:avLst/>
          </a:prstGeom>
          <a:solidFill>
            <a:srgbClr val="F8FAFD"/>
          </a:solidFill>
          <a:ln w="6350">
            <a:solidFill>
              <a:srgbClr val="DDE6F5"/>
            </a:solidFill>
            <a:prstDash val="solid"/>
          </a:ln>
        </p:spPr>
        <p:txBody>
          <a:bodyPr/>
          <a:lstStyle/>
          <a:p>
            <a:endParaRPr lang="en-US"/>
          </a:p>
        </p:txBody>
      </p:sp>
      <p:sp>
        <p:nvSpPr>
          <p:cNvPr id="41" name="Text 39"/>
          <p:cNvSpPr/>
          <p:nvPr/>
        </p:nvSpPr>
        <p:spPr>
          <a:xfrm>
            <a:off x="6254496" y="2322576"/>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42" name="Text 40"/>
          <p:cNvSpPr/>
          <p:nvPr/>
        </p:nvSpPr>
        <p:spPr>
          <a:xfrm>
            <a:off x="6528816" y="2322576"/>
            <a:ext cx="2395728" cy="516040"/>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A desk is more than a surface. What attributes about a space might matter to the person booking it?</a:t>
            </a:r>
            <a:endParaRPr lang="en-US" sz="950" dirty="0"/>
          </a:p>
        </p:txBody>
      </p:sp>
      <p:sp>
        <p:nvSpPr>
          <p:cNvPr id="43" name="Shape 41"/>
          <p:cNvSpPr/>
          <p:nvPr/>
        </p:nvSpPr>
        <p:spPr>
          <a:xfrm>
            <a:off x="6181344" y="3200400"/>
            <a:ext cx="2816352" cy="877824"/>
          </a:xfrm>
          <a:prstGeom prst="rect">
            <a:avLst/>
          </a:prstGeom>
          <a:solidFill>
            <a:srgbClr val="FFFFFF"/>
          </a:solidFill>
          <a:ln w="6350">
            <a:solidFill>
              <a:srgbClr val="DDE6F5"/>
            </a:solidFill>
            <a:prstDash val="solid"/>
          </a:ln>
        </p:spPr>
        <p:txBody>
          <a:bodyPr/>
          <a:lstStyle/>
          <a:p>
            <a:endParaRPr lang="en-US"/>
          </a:p>
        </p:txBody>
      </p:sp>
      <p:sp>
        <p:nvSpPr>
          <p:cNvPr id="44" name="Text 42"/>
          <p:cNvSpPr/>
          <p:nvPr/>
        </p:nvSpPr>
        <p:spPr>
          <a:xfrm>
            <a:off x="6254496" y="3255264"/>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45" name="Text 43"/>
          <p:cNvSpPr/>
          <p:nvPr/>
        </p:nvSpPr>
        <p:spPr>
          <a:xfrm>
            <a:off x="6528816" y="3255264"/>
            <a:ext cx="2395728" cy="513654"/>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If the organisation wants to understand attendance patterns over time, what should the system be producing?</a:t>
            </a:r>
            <a:endParaRPr lang="en-US" sz="950" dirty="0"/>
          </a:p>
        </p:txBody>
      </p:sp>
      <p:sp>
        <p:nvSpPr>
          <p:cNvPr id="46" name="Shape 44"/>
          <p:cNvSpPr/>
          <p:nvPr/>
        </p:nvSpPr>
        <p:spPr>
          <a:xfrm>
            <a:off x="6181344" y="4133088"/>
            <a:ext cx="2816352" cy="877824"/>
          </a:xfrm>
          <a:prstGeom prst="rect">
            <a:avLst/>
          </a:prstGeom>
          <a:solidFill>
            <a:srgbClr val="F8FAFD"/>
          </a:solidFill>
          <a:ln w="6350">
            <a:solidFill>
              <a:srgbClr val="DDE6F5"/>
            </a:solidFill>
            <a:prstDash val="solid"/>
          </a:ln>
        </p:spPr>
        <p:txBody>
          <a:bodyPr/>
          <a:lstStyle/>
          <a:p>
            <a:endParaRPr lang="en-US"/>
          </a:p>
        </p:txBody>
      </p:sp>
      <p:sp>
        <p:nvSpPr>
          <p:cNvPr id="47" name="Text 45"/>
          <p:cNvSpPr/>
          <p:nvPr/>
        </p:nvSpPr>
        <p:spPr>
          <a:xfrm>
            <a:off x="6254496" y="4187952"/>
            <a:ext cx="256032" cy="256032"/>
          </a:xfrm>
          <a:prstGeom prst="rect">
            <a:avLst/>
          </a:prstGeom>
          <a:noFill/>
          <a:ln/>
        </p:spPr>
        <p:txBody>
          <a:bodyPr wrap="square" lIns="0" tIns="0" rIns="0" bIns="0" rtlCol="0" anchor="ctr"/>
          <a:lstStyle/>
          <a:p>
            <a:pPr marL="0" indent="0" algn="ctr">
              <a:buNone/>
            </a:pPr>
            <a:r>
              <a:rPr lang="en-US" sz="1400" b="1" dirty="0">
                <a:solidFill>
                  <a:srgbClr val="00C4CC"/>
                </a:solidFill>
                <a:latin typeface="Trebuchet MS" pitchFamily="34" charset="0"/>
                <a:ea typeface="Trebuchet MS" pitchFamily="34" charset="-122"/>
                <a:cs typeface="Trebuchet MS" pitchFamily="34" charset="-120"/>
              </a:rPr>
              <a:t>?</a:t>
            </a:r>
            <a:endParaRPr lang="en-US" sz="1400" dirty="0"/>
          </a:p>
        </p:txBody>
      </p:sp>
      <p:sp>
        <p:nvSpPr>
          <p:cNvPr id="48" name="Text 46"/>
          <p:cNvSpPr/>
          <p:nvPr/>
        </p:nvSpPr>
        <p:spPr>
          <a:xfrm>
            <a:off x="6528816" y="4187952"/>
            <a:ext cx="2395728" cy="425196"/>
          </a:xfrm>
          <a:prstGeom prst="rect">
            <a:avLst/>
          </a:prstGeom>
          <a:noFill/>
          <a:ln/>
        </p:spPr>
        <p:txBody>
          <a:bodyPr wrap="square" rtlCol="0" anchor="ctr"/>
          <a:lstStyle/>
          <a:p>
            <a:pPr marL="0" indent="0">
              <a:buNone/>
            </a:pPr>
            <a:r>
              <a:rPr lang="en-US" sz="950" dirty="0">
                <a:solidFill>
                  <a:srgbClr val="6B7FA3"/>
                </a:solidFill>
                <a:latin typeface="Calibri" pitchFamily="34" charset="0"/>
                <a:ea typeface="Calibri" pitchFamily="34" charset="-122"/>
                <a:cs typeface="Calibri" pitchFamily="34" charset="-120"/>
              </a:rPr>
              <a:t>Who should be able to control which desks are available, when, and for whom?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p:bg>
      <p:bgPr>
        <a:solidFill>
          <a:srgbClr val="1A2744"/>
        </a:solidFill>
        <a:effectLst/>
      </p:bgPr>
    </p:bg>
    <p:spTree>
      <p:nvGrpSpPr>
        <p:cNvPr id="1" name=""/>
        <p:cNvGrpSpPr/>
        <p:nvPr/>
      </p:nvGrpSpPr>
      <p:grpSpPr>
        <a:xfrm>
          <a:off x="0" y="0"/>
          <a:ext cx="0" cy="0"/>
          <a:chOff x="0" y="0"/>
          <a:chExt cx="0" cy="0"/>
        </a:xfrm>
      </p:grpSpPr>
      <p:sp>
        <p:nvSpPr>
          <p:cNvPr id="2" name="Title"/>
          <p:cNvSpPr/>
          <p:nvPr/>
        </p:nvSpPr>
        <p:spPr>
          <a:xfrm>
            <a:off x="457200" y="201168"/>
            <a:ext cx="6400800" cy="457200"/>
          </a:xfrm>
          <a:prstGeom prst="rect">
            <a:avLst/>
          </a:prstGeom>
          <a:noFill/>
          <a:ln/>
        </p:spPr>
        <p:txBody>
          <a:bodyPr wrap="square" lIns="0" tIns="0" rIns="0" bIns="0" rtlCol="0" anchor="ctr"/>
          <a:lstStyle/>
          <a:p>
            <a:pPr marL="0" indent="0">
              <a:buNone/>
            </a:pPr>
            <a:r>
              <a:rPr lang="en-GB" sz="2800" b="1" dirty="0">
                <a:solidFill>
                  <a:srgbClr val="FFFFFF"/>
                </a:solidFill>
                <a:latin typeface="Trebuchet MS" pitchFamily="34" charset="0"/>
                <a:ea typeface="Trebuchet MS" pitchFamily="34" charset="-122"/>
                <a:cs typeface="Trebuchet MS" pitchFamily="34" charset="-120"/>
              </a:rPr>
              <a:t>Side Quests</a:t>
            </a:r>
            <a:endParaRPr lang="en-GB" sz="2800" dirty="0"/>
          </a:p>
        </p:txBody>
      </p:sp>
      <p:sp>
        <p:nvSpPr>
          <p:cNvPr id="3" name="PageLabel"/>
          <p:cNvSpPr/>
          <p:nvPr/>
        </p:nvSpPr>
        <p:spPr>
          <a:xfrm>
            <a:off x="7772400" y="256032"/>
            <a:ext cx="1097280" cy="320040"/>
          </a:xfrm>
          <a:prstGeom prst="rect">
            <a:avLst/>
          </a:prstGeom>
          <a:noFill/>
          <a:ln/>
        </p:spPr>
        <p:txBody>
          <a:bodyPr wrap="square" lIns="0" tIns="0" rIns="0" bIns="0" rtlCol="0" anchor="ctr"/>
          <a:lstStyle/>
          <a:p>
            <a:pPr marL="0" indent="0" algn="r">
              <a:buNone/>
            </a:pPr>
            <a:r>
              <a:rPr lang="en-GB" sz="1200" dirty="0">
                <a:solidFill>
                  <a:srgbClr val="6B7FA3"/>
                </a:solidFill>
                <a:latin typeface="Calibri" pitchFamily="34" charset="0"/>
                <a:ea typeface="Calibri" pitchFamily="34" charset="-122"/>
                <a:cs typeface="Calibri" pitchFamily="34" charset="-120"/>
              </a:rPr>
              <a:t>1 of 2</a:t>
            </a:r>
            <a:endParaRPr lang="en-GB" sz="1200" dirty="0"/>
          </a:p>
        </p:txBody>
      </p:sp>
      <p:sp>
        <p:nvSpPr>
          <p:cNvPr id="4" name="Subtitle"/>
          <p:cNvSpPr/>
          <p:nvPr/>
        </p:nvSpPr>
        <p:spPr>
          <a:xfrm>
            <a:off x="457200" y="676656"/>
            <a:ext cx="8229600" cy="457200"/>
          </a:xfrm>
          <a:prstGeom prst="rect">
            <a:avLst/>
          </a:prstGeom>
          <a:noFill/>
          <a:ln/>
        </p:spPr>
        <p:txBody>
          <a:bodyPr wrap="square" lIns="0" tIns="0" rIns="0" bIns="0" rtlCol="0" anchor="t"/>
          <a:lstStyle/>
          <a:p>
            <a:pPr marL="0" indent="0">
              <a:lnSpc>
                <a:spcPct val="115000"/>
              </a:lnSpc>
              <a:buNone/>
            </a:pPr>
            <a:r>
              <a:rPr lang="en-GB" sz="1200" dirty="0">
                <a:solidFill>
                  <a:srgbClr val="A8B8D8"/>
                </a:solidFill>
                <a:latin typeface="Calibri" pitchFamily="34" charset="0"/>
                <a:ea typeface="Calibri" pitchFamily="34" charset="-122"/>
                <a:cs typeface="Calibri" pitchFamily="34" charset="-120"/>
              </a:rPr>
              <a:t>Extra angles worth exploring if your team finishes the core build — or your team spots one of these as a novel problem they want to solve. Pick one, several, or none. No penalty for not taking on a side quest.</a:t>
            </a:r>
            <a:endParaRPr lang="en-GB" sz="1200" dirty="0"/>
          </a:p>
        </p:txBody>
      </p:sp>
      <p:sp>
        <p:nvSpPr>
          <p:cNvPr id="5" name="card_bg"/>
          <p:cNvSpPr/>
          <p:nvPr/>
        </p:nvSpPr>
        <p:spPr>
          <a:xfrm>
            <a:off x="320040" y="1280160"/>
            <a:ext cx="2712720" cy="3600000"/>
          </a:xfrm>
          <a:prstGeom prst="rect">
            <a:avLst/>
          </a:prstGeom>
          <a:solidFill>
            <a:srgbClr val="243558"/>
          </a:solidFill>
          <a:ln w="12700">
            <a:solidFill>
              <a:srgbClr val="2D4270"/>
            </a:solidFill>
            <a:prstDash val="solid"/>
          </a:ln>
        </p:spPr>
        <p:txBody>
          <a:bodyPr/>
          <a:lstStyle/>
          <a:p>
            <a:endParaRPr lang="en-GB"/>
          </a:p>
        </p:txBody>
      </p:sp>
      <p:sp>
        <p:nvSpPr>
          <p:cNvPr id="6" name="card_accent"/>
          <p:cNvSpPr/>
          <p:nvPr/>
        </p:nvSpPr>
        <p:spPr>
          <a:xfrm>
            <a:off x="320040" y="1280160"/>
            <a:ext cx="64008" cy="3600000"/>
          </a:xfrm>
          <a:prstGeom prst="rect">
            <a:avLst/>
          </a:prstGeom>
          <a:solidFill>
            <a:srgbClr val="00C4CC"/>
          </a:solidFill>
          <a:ln w="12700">
            <a:solidFill>
              <a:srgbClr val="00C4CC"/>
            </a:solidFill>
            <a:prstDash val="solid"/>
          </a:ln>
        </p:spPr>
        <p:txBody>
          <a:bodyPr/>
          <a:lstStyle/>
          <a:p>
            <a:endParaRPr lang="en-GB"/>
          </a:p>
        </p:txBody>
      </p:sp>
      <p:sp>
        <p:nvSpPr>
          <p:cNvPr id="7" name="card_icon_sq"/>
          <p:cNvSpPr/>
          <p:nvPr/>
        </p:nvSpPr>
        <p:spPr>
          <a:xfrm>
            <a:off x="520928" y="1463040"/>
            <a:ext cx="384048" cy="384048"/>
          </a:xfrm>
          <a:prstGeom prst="rect">
            <a:avLst/>
          </a:prstGeom>
          <a:solidFill>
            <a:srgbClr val="007A80"/>
          </a:solidFill>
          <a:ln w="12700">
            <a:solidFill>
              <a:srgbClr val="007A80"/>
            </a:solidFill>
            <a:prstDash val="solid"/>
          </a:ln>
        </p:spPr>
        <p:txBody>
          <a:bodyPr/>
          <a:lstStyle/>
          <a:p>
            <a:endParaRPr lang="en-GB"/>
          </a:p>
        </p:txBody>
      </p:sp>
      <p:sp>
        <p:nvSpPr>
          <p:cNvPr id="8" name="card_icon_g"/>
          <p:cNvSpPr/>
          <p:nvPr/>
        </p:nvSpPr>
        <p:spPr>
          <a:xfrm>
            <a:off x="520928" y="146304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9" name="card_title"/>
          <p:cNvSpPr/>
          <p:nvPr/>
        </p:nvSpPr>
        <p:spPr>
          <a:xfrm>
            <a:off x="1042136" y="1463040"/>
            <a:ext cx="18991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First-Time Fit</a:t>
            </a:r>
            <a:endParaRPr lang="en-GB" sz="1400" dirty="0"/>
          </a:p>
        </p:txBody>
      </p:sp>
      <p:sp>
        <p:nvSpPr>
          <p:cNvPr id="10" name="card_body"/>
          <p:cNvSpPr/>
          <p:nvPr/>
        </p:nvSpPr>
        <p:spPr>
          <a:xfrm>
            <a:off x="566928" y="2029968"/>
            <a:ext cx="2282952" cy="1100000"/>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Help colleagues find a desk that genuinely matches their needs on the first try — not through trial and error. Go beyond equipment filters: think about the signals that make a desk right for the task, the person, or the day.</a:t>
            </a:r>
            <a:endParaRPr lang="en-GB" sz="1100" dirty="0"/>
          </a:p>
        </p:txBody>
      </p:sp>
      <p:sp>
        <p:nvSpPr>
          <p:cNvPr id="11" name="card_prompts"/>
          <p:cNvSpPr/>
          <p:nvPr/>
        </p:nvSpPr>
        <p:spPr>
          <a:xfrm>
            <a:off x="566928" y="3190928"/>
            <a:ext cx="2282952" cy="1597792"/>
          </a:xfrm>
          <a:prstGeom prst="rect">
            <a:avLst/>
          </a:prstGeom>
          <a:noFill/>
          <a:ln/>
        </p:spPr>
        <p:txBody>
          <a:bodyPr wrap="square" lIns="0" tIns="0" rIns="0" bIns="0" rtlCol="0" anchor="t"/>
          <a:lstStyle/>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What makes a desk the “right” one for a given colleague or task?</a:t>
            </a:r>
          </a:p>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How do we surface the right desks without burying people in choice?</a:t>
            </a:r>
          </a:p>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Should past bookings inform future suggestions — and how visibly?</a:t>
            </a:r>
          </a:p>
        </p:txBody>
      </p:sp>
      <p:sp>
        <p:nvSpPr>
          <p:cNvPr id="12" name="card_bg"/>
          <p:cNvSpPr/>
          <p:nvPr/>
        </p:nvSpPr>
        <p:spPr>
          <a:xfrm>
            <a:off x="3215640" y="1280160"/>
            <a:ext cx="2712720" cy="3600000"/>
          </a:xfrm>
          <a:prstGeom prst="rect">
            <a:avLst/>
          </a:prstGeom>
          <a:solidFill>
            <a:srgbClr val="243558"/>
          </a:solidFill>
          <a:ln w="12700">
            <a:solidFill>
              <a:srgbClr val="2D4270"/>
            </a:solidFill>
            <a:prstDash val="solid"/>
          </a:ln>
        </p:spPr>
        <p:txBody>
          <a:bodyPr/>
          <a:lstStyle/>
          <a:p>
            <a:endParaRPr lang="en-GB"/>
          </a:p>
        </p:txBody>
      </p:sp>
      <p:sp>
        <p:nvSpPr>
          <p:cNvPr id="13" name="card_accent"/>
          <p:cNvSpPr/>
          <p:nvPr/>
        </p:nvSpPr>
        <p:spPr>
          <a:xfrm>
            <a:off x="3215640" y="1280160"/>
            <a:ext cx="64008" cy="3600000"/>
          </a:xfrm>
          <a:prstGeom prst="rect">
            <a:avLst/>
          </a:prstGeom>
          <a:solidFill>
            <a:srgbClr val="00C4CC"/>
          </a:solidFill>
          <a:ln w="12700">
            <a:solidFill>
              <a:srgbClr val="00C4CC"/>
            </a:solidFill>
            <a:prstDash val="solid"/>
          </a:ln>
        </p:spPr>
        <p:txBody>
          <a:bodyPr/>
          <a:lstStyle/>
          <a:p>
            <a:endParaRPr lang="en-GB"/>
          </a:p>
        </p:txBody>
      </p:sp>
      <p:sp>
        <p:nvSpPr>
          <p:cNvPr id="14" name="card_icon_sq"/>
          <p:cNvSpPr/>
          <p:nvPr/>
        </p:nvSpPr>
        <p:spPr>
          <a:xfrm>
            <a:off x="3416528" y="1463040"/>
            <a:ext cx="384048" cy="384048"/>
          </a:xfrm>
          <a:prstGeom prst="rect">
            <a:avLst/>
          </a:prstGeom>
          <a:solidFill>
            <a:srgbClr val="007A80"/>
          </a:solidFill>
          <a:ln w="12700">
            <a:solidFill>
              <a:srgbClr val="007A80"/>
            </a:solidFill>
            <a:prstDash val="solid"/>
          </a:ln>
        </p:spPr>
        <p:txBody>
          <a:bodyPr/>
          <a:lstStyle/>
          <a:p>
            <a:endParaRPr lang="en-GB"/>
          </a:p>
        </p:txBody>
      </p:sp>
      <p:sp>
        <p:nvSpPr>
          <p:cNvPr id="15" name="card_icon_g"/>
          <p:cNvSpPr/>
          <p:nvPr/>
        </p:nvSpPr>
        <p:spPr>
          <a:xfrm>
            <a:off x="3416528" y="146304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16" name="card_title"/>
          <p:cNvSpPr/>
          <p:nvPr/>
        </p:nvSpPr>
        <p:spPr>
          <a:xfrm>
            <a:off x="3937736" y="1463040"/>
            <a:ext cx="18991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Arrival Confidence</a:t>
            </a:r>
            <a:endParaRPr lang="en-GB" sz="1400" dirty="0"/>
          </a:p>
        </p:txBody>
      </p:sp>
      <p:sp>
        <p:nvSpPr>
          <p:cNvPr id="17" name="card_body"/>
          <p:cNvSpPr/>
          <p:nvPr/>
        </p:nvSpPr>
        <p:spPr>
          <a:xfrm>
            <a:off x="3462528" y="2029968"/>
            <a:ext cx="2282952" cy="1100000"/>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Give colleagues certainty before they travel. How does someone know — ahead of setting off — that they’ll find a suitable desk when they walk in? Surface the signal, not just the seat count.</a:t>
            </a:r>
            <a:endParaRPr lang="en-GB" sz="1100" dirty="0"/>
          </a:p>
        </p:txBody>
      </p:sp>
      <p:sp>
        <p:nvSpPr>
          <p:cNvPr id="18" name="card_prompts"/>
          <p:cNvSpPr/>
          <p:nvPr/>
        </p:nvSpPr>
        <p:spPr>
          <a:xfrm>
            <a:off x="3462528" y="3190928"/>
            <a:ext cx="2282952" cy="1597792"/>
          </a:xfrm>
          <a:prstGeom prst="rect">
            <a:avLst/>
          </a:prstGeom>
          <a:noFill/>
          <a:ln/>
        </p:spPr>
        <p:txBody>
          <a:bodyPr wrap="square" lIns="0" tIns="0" rIns="0" bIns="0" rtlCol="0" anchor="t"/>
          <a:lstStyle/>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What level of certainty is enough to commit to a journey in?</a:t>
            </a:r>
          </a:p>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How do you signal likely availability on the floor, not just the building?</a:t>
            </a:r>
          </a:p>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What happens when confidence is low — do you suggest alternatives?</a:t>
            </a:r>
          </a:p>
        </p:txBody>
      </p:sp>
      <p:sp>
        <p:nvSpPr>
          <p:cNvPr id="19" name="card_bg"/>
          <p:cNvSpPr/>
          <p:nvPr/>
        </p:nvSpPr>
        <p:spPr>
          <a:xfrm>
            <a:off x="6111240" y="1280160"/>
            <a:ext cx="2712720" cy="3600000"/>
          </a:xfrm>
          <a:prstGeom prst="rect">
            <a:avLst/>
          </a:prstGeom>
          <a:solidFill>
            <a:srgbClr val="243558"/>
          </a:solidFill>
          <a:ln w="12700">
            <a:solidFill>
              <a:srgbClr val="2D4270"/>
            </a:solidFill>
            <a:prstDash val="solid"/>
          </a:ln>
        </p:spPr>
        <p:txBody>
          <a:bodyPr/>
          <a:lstStyle/>
          <a:p>
            <a:endParaRPr lang="en-GB"/>
          </a:p>
        </p:txBody>
      </p:sp>
      <p:sp>
        <p:nvSpPr>
          <p:cNvPr id="20" name="card_accent"/>
          <p:cNvSpPr/>
          <p:nvPr/>
        </p:nvSpPr>
        <p:spPr>
          <a:xfrm>
            <a:off x="6111240" y="1280160"/>
            <a:ext cx="64008" cy="3600000"/>
          </a:xfrm>
          <a:prstGeom prst="rect">
            <a:avLst/>
          </a:prstGeom>
          <a:solidFill>
            <a:srgbClr val="00C4CC"/>
          </a:solidFill>
          <a:ln w="12700">
            <a:solidFill>
              <a:srgbClr val="00C4CC"/>
            </a:solidFill>
            <a:prstDash val="solid"/>
          </a:ln>
        </p:spPr>
        <p:txBody>
          <a:bodyPr/>
          <a:lstStyle/>
          <a:p>
            <a:endParaRPr lang="en-GB"/>
          </a:p>
        </p:txBody>
      </p:sp>
      <p:sp>
        <p:nvSpPr>
          <p:cNvPr id="21" name="card_icon_sq"/>
          <p:cNvSpPr/>
          <p:nvPr/>
        </p:nvSpPr>
        <p:spPr>
          <a:xfrm>
            <a:off x="6312128" y="1463040"/>
            <a:ext cx="384048" cy="384048"/>
          </a:xfrm>
          <a:prstGeom prst="rect">
            <a:avLst/>
          </a:prstGeom>
          <a:solidFill>
            <a:srgbClr val="007A80"/>
          </a:solidFill>
          <a:ln w="12700">
            <a:solidFill>
              <a:srgbClr val="007A80"/>
            </a:solidFill>
            <a:prstDash val="solid"/>
          </a:ln>
        </p:spPr>
        <p:txBody>
          <a:bodyPr/>
          <a:lstStyle/>
          <a:p>
            <a:endParaRPr lang="en-GB"/>
          </a:p>
        </p:txBody>
      </p:sp>
      <p:sp>
        <p:nvSpPr>
          <p:cNvPr id="22" name="card_icon_g"/>
          <p:cNvSpPr/>
          <p:nvPr/>
        </p:nvSpPr>
        <p:spPr>
          <a:xfrm>
            <a:off x="6312128" y="146304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23" name="card_title"/>
          <p:cNvSpPr/>
          <p:nvPr/>
        </p:nvSpPr>
        <p:spPr>
          <a:xfrm>
            <a:off x="6833336" y="1463040"/>
            <a:ext cx="18991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Environmental</a:t>
            </a:r>
            <a:endParaRPr lang="en-GB" sz="1400" dirty="0"/>
          </a:p>
        </p:txBody>
      </p:sp>
      <p:sp>
        <p:nvSpPr>
          <p:cNvPr id="24" name="card_body"/>
          <p:cNvSpPr/>
          <p:nvPr/>
        </p:nvSpPr>
        <p:spPr>
          <a:xfrm>
            <a:off x="6358128" y="2029968"/>
            <a:ext cx="2282952" cy="1100000"/>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Temperature, natural light, noise, airflow, proximity to a window or aircon vent. These quietly shape whether a desk works for someone. How could these influence choice without turning booking into a form-filling exercise?</a:t>
            </a:r>
            <a:endParaRPr lang="en-GB" sz="1100" dirty="0"/>
          </a:p>
        </p:txBody>
      </p:sp>
      <p:sp>
        <p:nvSpPr>
          <p:cNvPr id="25" name="card_prompts"/>
          <p:cNvSpPr/>
          <p:nvPr/>
        </p:nvSpPr>
        <p:spPr>
          <a:xfrm>
            <a:off x="6358128" y="3190928"/>
            <a:ext cx="2282952" cy="1597792"/>
          </a:xfrm>
          <a:prstGeom prst="rect">
            <a:avLst/>
          </a:prstGeom>
          <a:noFill/>
          <a:ln/>
        </p:spPr>
        <p:txBody>
          <a:bodyPr wrap="square" lIns="0" tIns="0" rIns="0" bIns="0" rtlCol="0" anchor="t"/>
          <a:lstStyle/>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Which environmental signals are worth capturing — and how?</a:t>
            </a:r>
          </a:p>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Sensor data, colleague feedback, or both? Who owns the source of truth?</a:t>
            </a:r>
          </a:p>
          <a:p>
            <a:pPr marL="0" indent="0">
              <a:lnSpc>
                <a:spcPct val="120000"/>
              </a:lnSpc>
              <a:spcBef>
                <a:spcPts val="400"/>
              </a:spcBef>
              <a:buNone/>
            </a:pPr>
            <a:r>
              <a:rPr lang="en-GB" sz="1000" b="1" dirty="0">
                <a:solidFill>
                  <a:srgbClr val="00C4CC"/>
                </a:solidFill>
                <a:latin typeface="Calibri" pitchFamily="34" charset="0"/>
                <a:ea typeface="Calibri" pitchFamily="34" charset="-122"/>
                <a:cs typeface="Calibri" pitchFamily="34" charset="-120"/>
              </a:rPr>
              <a:t>?  </a:t>
            </a:r>
            <a:r>
              <a:rPr lang="en-GB" sz="1000" dirty="0">
                <a:solidFill>
                  <a:srgbClr val="A8B8D8"/>
                </a:solidFill>
                <a:latin typeface="Calibri" pitchFamily="34" charset="0"/>
                <a:ea typeface="Calibri" pitchFamily="34" charset="-122"/>
                <a:cs typeface="Calibri" pitchFamily="34" charset="-120"/>
              </a:rPr>
              <a:t>How do personal preferences get matched to the space without friction?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p:bg>
      <p:bgPr>
        <a:solidFill>
          <a:srgbClr val="1A2744"/>
        </a:solidFill>
        <a:effectLst/>
      </p:bgPr>
    </p:bg>
    <p:spTree>
      <p:nvGrpSpPr>
        <p:cNvPr id="1" name=""/>
        <p:cNvGrpSpPr/>
        <p:nvPr/>
      </p:nvGrpSpPr>
      <p:grpSpPr>
        <a:xfrm>
          <a:off x="0" y="0"/>
          <a:ext cx="0" cy="0"/>
          <a:chOff x="0" y="0"/>
          <a:chExt cx="0" cy="0"/>
        </a:xfrm>
      </p:grpSpPr>
      <p:sp>
        <p:nvSpPr>
          <p:cNvPr id="2" name="Title"/>
          <p:cNvSpPr/>
          <p:nvPr/>
        </p:nvSpPr>
        <p:spPr>
          <a:xfrm>
            <a:off x="457200" y="201168"/>
            <a:ext cx="6400800" cy="457200"/>
          </a:xfrm>
          <a:prstGeom prst="rect">
            <a:avLst/>
          </a:prstGeom>
          <a:noFill/>
          <a:ln/>
        </p:spPr>
        <p:txBody>
          <a:bodyPr wrap="square" lIns="0" tIns="0" rIns="0" bIns="0" rtlCol="0" anchor="ctr"/>
          <a:lstStyle/>
          <a:p>
            <a:pPr marL="0" indent="0">
              <a:buNone/>
            </a:pPr>
            <a:r>
              <a:rPr lang="en-GB" sz="2800" b="1" dirty="0">
                <a:solidFill>
                  <a:srgbClr val="FFFFFF"/>
                </a:solidFill>
                <a:latin typeface="Trebuchet MS" pitchFamily="34" charset="0"/>
                <a:ea typeface="Trebuchet MS" pitchFamily="34" charset="-122"/>
                <a:cs typeface="Trebuchet MS" pitchFamily="34" charset="-120"/>
              </a:rPr>
              <a:t>Side Quests</a:t>
            </a:r>
            <a:endParaRPr lang="en-GB" sz="2800" dirty="0"/>
          </a:p>
        </p:txBody>
      </p:sp>
      <p:sp>
        <p:nvSpPr>
          <p:cNvPr id="3" name="PageLabel"/>
          <p:cNvSpPr/>
          <p:nvPr/>
        </p:nvSpPr>
        <p:spPr>
          <a:xfrm>
            <a:off x="7772400" y="256032"/>
            <a:ext cx="1097280" cy="320040"/>
          </a:xfrm>
          <a:prstGeom prst="rect">
            <a:avLst/>
          </a:prstGeom>
          <a:noFill/>
          <a:ln/>
        </p:spPr>
        <p:txBody>
          <a:bodyPr wrap="square" lIns="0" tIns="0" rIns="0" bIns="0" rtlCol="0" anchor="ctr"/>
          <a:lstStyle/>
          <a:p>
            <a:pPr marL="0" indent="0" algn="r">
              <a:buNone/>
            </a:pPr>
            <a:r>
              <a:rPr lang="en-GB" sz="1200" dirty="0">
                <a:solidFill>
                  <a:srgbClr val="6B7FA3"/>
                </a:solidFill>
                <a:latin typeface="Calibri" pitchFamily="34" charset="0"/>
                <a:ea typeface="Calibri" pitchFamily="34" charset="-122"/>
                <a:cs typeface="Calibri" pitchFamily="34" charset="-120"/>
              </a:rPr>
              <a:t>2 of 2</a:t>
            </a:r>
            <a:endParaRPr lang="en-GB" sz="1200" dirty="0"/>
          </a:p>
        </p:txBody>
      </p:sp>
      <p:sp>
        <p:nvSpPr>
          <p:cNvPr id="4" name="Subtitle"/>
          <p:cNvSpPr/>
          <p:nvPr/>
        </p:nvSpPr>
        <p:spPr>
          <a:xfrm>
            <a:off x="457200" y="676656"/>
            <a:ext cx="8229600" cy="457200"/>
          </a:xfrm>
          <a:prstGeom prst="rect">
            <a:avLst/>
          </a:prstGeom>
          <a:noFill/>
          <a:ln/>
        </p:spPr>
        <p:txBody>
          <a:bodyPr wrap="square" lIns="0" tIns="0" rIns="0" bIns="0" rtlCol="0" anchor="t"/>
          <a:lstStyle/>
          <a:p>
            <a:pPr marL="0" indent="0">
              <a:lnSpc>
                <a:spcPct val="115000"/>
              </a:lnSpc>
              <a:buNone/>
            </a:pPr>
            <a:r>
              <a:rPr lang="en-GB" sz="1200" dirty="0">
                <a:solidFill>
                  <a:srgbClr val="A8B8D8"/>
                </a:solidFill>
                <a:latin typeface="Calibri" pitchFamily="34" charset="0"/>
                <a:ea typeface="Calibri" pitchFamily="34" charset="-122"/>
                <a:cs typeface="Calibri" pitchFamily="34" charset="-120"/>
              </a:rPr>
              <a:t>Continued from the previous slide. Same rules — these are optional, not ranked, and each is a distinct angle on the problem space.</a:t>
            </a:r>
            <a:endParaRPr lang="en-GB" sz="1200" dirty="0"/>
          </a:p>
        </p:txBody>
      </p:sp>
      <p:sp>
        <p:nvSpPr>
          <p:cNvPr id="5" name="card_bg"/>
          <p:cNvSpPr/>
          <p:nvPr/>
        </p:nvSpPr>
        <p:spPr>
          <a:xfrm>
            <a:off x="320040" y="1280160"/>
            <a:ext cx="4160520" cy="1720000"/>
          </a:xfrm>
          <a:prstGeom prst="rect">
            <a:avLst/>
          </a:prstGeom>
          <a:solidFill>
            <a:srgbClr val="243558"/>
          </a:solidFill>
          <a:ln w="12700">
            <a:solidFill>
              <a:srgbClr val="2D4270"/>
            </a:solidFill>
            <a:prstDash val="solid"/>
          </a:ln>
        </p:spPr>
        <p:txBody>
          <a:bodyPr/>
          <a:lstStyle/>
          <a:p>
            <a:endParaRPr lang="en-GB"/>
          </a:p>
        </p:txBody>
      </p:sp>
      <p:sp>
        <p:nvSpPr>
          <p:cNvPr id="6" name="card_accent"/>
          <p:cNvSpPr/>
          <p:nvPr/>
        </p:nvSpPr>
        <p:spPr>
          <a:xfrm>
            <a:off x="320040" y="1280160"/>
            <a:ext cx="64008" cy="1720000"/>
          </a:xfrm>
          <a:prstGeom prst="rect">
            <a:avLst/>
          </a:prstGeom>
          <a:solidFill>
            <a:srgbClr val="00C4CC"/>
          </a:solidFill>
          <a:ln w="12700">
            <a:solidFill>
              <a:srgbClr val="00C4CC"/>
            </a:solidFill>
            <a:prstDash val="solid"/>
          </a:ln>
        </p:spPr>
        <p:txBody>
          <a:bodyPr/>
          <a:lstStyle/>
          <a:p>
            <a:endParaRPr lang="en-GB"/>
          </a:p>
        </p:txBody>
      </p:sp>
      <p:sp>
        <p:nvSpPr>
          <p:cNvPr id="7" name="card_icon_sq"/>
          <p:cNvSpPr/>
          <p:nvPr/>
        </p:nvSpPr>
        <p:spPr>
          <a:xfrm>
            <a:off x="520928" y="1463040"/>
            <a:ext cx="384048" cy="384048"/>
          </a:xfrm>
          <a:prstGeom prst="rect">
            <a:avLst/>
          </a:prstGeom>
          <a:solidFill>
            <a:srgbClr val="007A80"/>
          </a:solidFill>
          <a:ln w="12700">
            <a:solidFill>
              <a:srgbClr val="007A80"/>
            </a:solidFill>
            <a:prstDash val="solid"/>
          </a:ln>
        </p:spPr>
        <p:txBody>
          <a:bodyPr/>
          <a:lstStyle/>
          <a:p>
            <a:endParaRPr lang="en-GB"/>
          </a:p>
        </p:txBody>
      </p:sp>
      <p:sp>
        <p:nvSpPr>
          <p:cNvPr id="8" name="card_icon_g"/>
          <p:cNvSpPr/>
          <p:nvPr/>
        </p:nvSpPr>
        <p:spPr>
          <a:xfrm>
            <a:off x="520928" y="146304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9" name="card_title"/>
          <p:cNvSpPr/>
          <p:nvPr/>
        </p:nvSpPr>
        <p:spPr>
          <a:xfrm>
            <a:off x="1042136" y="1463040"/>
            <a:ext cx="33469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Friction-Free Change</a:t>
            </a:r>
            <a:endParaRPr lang="en-GB" sz="1400" dirty="0"/>
          </a:p>
        </p:txBody>
      </p:sp>
      <p:sp>
        <p:nvSpPr>
          <p:cNvPr id="10" name="card_body"/>
          <p:cNvSpPr/>
          <p:nvPr/>
        </p:nvSpPr>
        <p:spPr>
          <a:xfrm>
            <a:off x="566928" y="2029968"/>
            <a:ext cx="3730752" cy="833032"/>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Plans shift. Meetings move, children get sick, the train is cancelled. How does someone cancel, shorten, swap, or hand over a booking in seconds — and how does the freed capacity get back into circulation cleanly?</a:t>
            </a:r>
            <a:endParaRPr lang="en-GB" sz="1100" dirty="0"/>
          </a:p>
        </p:txBody>
      </p:sp>
      <p:sp>
        <p:nvSpPr>
          <p:cNvPr id="11" name="card_bg"/>
          <p:cNvSpPr/>
          <p:nvPr/>
        </p:nvSpPr>
        <p:spPr>
          <a:xfrm>
            <a:off x="4663440" y="1280160"/>
            <a:ext cx="4160520" cy="1720000"/>
          </a:xfrm>
          <a:prstGeom prst="rect">
            <a:avLst/>
          </a:prstGeom>
          <a:solidFill>
            <a:srgbClr val="243558"/>
          </a:solidFill>
          <a:ln w="12700">
            <a:solidFill>
              <a:srgbClr val="2D4270"/>
            </a:solidFill>
            <a:prstDash val="solid"/>
          </a:ln>
        </p:spPr>
        <p:txBody>
          <a:bodyPr/>
          <a:lstStyle/>
          <a:p>
            <a:endParaRPr lang="en-GB"/>
          </a:p>
        </p:txBody>
      </p:sp>
      <p:sp>
        <p:nvSpPr>
          <p:cNvPr id="12" name="card_accent"/>
          <p:cNvSpPr/>
          <p:nvPr/>
        </p:nvSpPr>
        <p:spPr>
          <a:xfrm>
            <a:off x="4663440" y="1280160"/>
            <a:ext cx="64008" cy="1720000"/>
          </a:xfrm>
          <a:prstGeom prst="rect">
            <a:avLst/>
          </a:prstGeom>
          <a:solidFill>
            <a:srgbClr val="00C4CC"/>
          </a:solidFill>
          <a:ln w="12700">
            <a:solidFill>
              <a:srgbClr val="00C4CC"/>
            </a:solidFill>
            <a:prstDash val="solid"/>
          </a:ln>
        </p:spPr>
        <p:txBody>
          <a:bodyPr/>
          <a:lstStyle/>
          <a:p>
            <a:endParaRPr lang="en-GB"/>
          </a:p>
        </p:txBody>
      </p:sp>
      <p:sp>
        <p:nvSpPr>
          <p:cNvPr id="13" name="card_icon_sq"/>
          <p:cNvSpPr/>
          <p:nvPr/>
        </p:nvSpPr>
        <p:spPr>
          <a:xfrm>
            <a:off x="4864328" y="1463040"/>
            <a:ext cx="384048" cy="384048"/>
          </a:xfrm>
          <a:prstGeom prst="rect">
            <a:avLst/>
          </a:prstGeom>
          <a:solidFill>
            <a:srgbClr val="007A80"/>
          </a:solidFill>
          <a:ln w="12700">
            <a:solidFill>
              <a:srgbClr val="007A80"/>
            </a:solidFill>
            <a:prstDash val="solid"/>
          </a:ln>
        </p:spPr>
        <p:txBody>
          <a:bodyPr/>
          <a:lstStyle/>
          <a:p>
            <a:endParaRPr lang="en-GB"/>
          </a:p>
        </p:txBody>
      </p:sp>
      <p:sp>
        <p:nvSpPr>
          <p:cNvPr id="14" name="card_icon_g"/>
          <p:cNvSpPr/>
          <p:nvPr/>
        </p:nvSpPr>
        <p:spPr>
          <a:xfrm>
            <a:off x="4864328" y="146304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15" name="card_title"/>
          <p:cNvSpPr/>
          <p:nvPr/>
        </p:nvSpPr>
        <p:spPr>
          <a:xfrm>
            <a:off x="5385536" y="1463040"/>
            <a:ext cx="33469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Predictable Hot Desking</a:t>
            </a:r>
            <a:endParaRPr lang="en-GB" sz="1400" dirty="0"/>
          </a:p>
        </p:txBody>
      </p:sp>
      <p:sp>
        <p:nvSpPr>
          <p:cNvPr id="16" name="card_body"/>
          <p:cNvSpPr/>
          <p:nvPr/>
        </p:nvSpPr>
        <p:spPr>
          <a:xfrm>
            <a:off x="4910328" y="2029968"/>
            <a:ext cx="3730752" cy="833032"/>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Hot desking fails when it feels random. How might the system make it feel reliable — returning someone to a familiar desk, recognising routines, or letting teams hold a cluster across days without locking the space down?</a:t>
            </a:r>
            <a:endParaRPr lang="en-GB" sz="1100" dirty="0"/>
          </a:p>
        </p:txBody>
      </p:sp>
      <p:sp>
        <p:nvSpPr>
          <p:cNvPr id="17" name="card_bg"/>
          <p:cNvSpPr/>
          <p:nvPr/>
        </p:nvSpPr>
        <p:spPr>
          <a:xfrm>
            <a:off x="320040" y="3183040"/>
            <a:ext cx="4160520" cy="1720000"/>
          </a:xfrm>
          <a:prstGeom prst="rect">
            <a:avLst/>
          </a:prstGeom>
          <a:solidFill>
            <a:srgbClr val="243558"/>
          </a:solidFill>
          <a:ln w="12700">
            <a:solidFill>
              <a:srgbClr val="2D4270"/>
            </a:solidFill>
            <a:prstDash val="solid"/>
          </a:ln>
        </p:spPr>
        <p:txBody>
          <a:bodyPr/>
          <a:lstStyle/>
          <a:p>
            <a:endParaRPr lang="en-GB"/>
          </a:p>
        </p:txBody>
      </p:sp>
      <p:sp>
        <p:nvSpPr>
          <p:cNvPr id="18" name="card_accent"/>
          <p:cNvSpPr/>
          <p:nvPr/>
        </p:nvSpPr>
        <p:spPr>
          <a:xfrm>
            <a:off x="320040" y="3183040"/>
            <a:ext cx="64008" cy="1720000"/>
          </a:xfrm>
          <a:prstGeom prst="rect">
            <a:avLst/>
          </a:prstGeom>
          <a:solidFill>
            <a:srgbClr val="00C4CC"/>
          </a:solidFill>
          <a:ln w="12700">
            <a:solidFill>
              <a:srgbClr val="00C4CC"/>
            </a:solidFill>
            <a:prstDash val="solid"/>
          </a:ln>
        </p:spPr>
        <p:txBody>
          <a:bodyPr/>
          <a:lstStyle/>
          <a:p>
            <a:endParaRPr lang="en-GB"/>
          </a:p>
        </p:txBody>
      </p:sp>
      <p:sp>
        <p:nvSpPr>
          <p:cNvPr id="19" name="card_icon_sq"/>
          <p:cNvSpPr/>
          <p:nvPr/>
        </p:nvSpPr>
        <p:spPr>
          <a:xfrm>
            <a:off x="520928" y="3365920"/>
            <a:ext cx="384048" cy="384048"/>
          </a:xfrm>
          <a:prstGeom prst="rect">
            <a:avLst/>
          </a:prstGeom>
          <a:solidFill>
            <a:srgbClr val="007A80"/>
          </a:solidFill>
          <a:ln w="12700">
            <a:solidFill>
              <a:srgbClr val="007A80"/>
            </a:solidFill>
            <a:prstDash val="solid"/>
          </a:ln>
        </p:spPr>
        <p:txBody>
          <a:bodyPr/>
          <a:lstStyle/>
          <a:p>
            <a:endParaRPr lang="en-GB"/>
          </a:p>
        </p:txBody>
      </p:sp>
      <p:sp>
        <p:nvSpPr>
          <p:cNvPr id="20" name="card_icon_g"/>
          <p:cNvSpPr/>
          <p:nvPr/>
        </p:nvSpPr>
        <p:spPr>
          <a:xfrm>
            <a:off x="520928" y="336592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21" name="card_title"/>
          <p:cNvSpPr/>
          <p:nvPr/>
        </p:nvSpPr>
        <p:spPr>
          <a:xfrm>
            <a:off x="1042136" y="3365920"/>
            <a:ext cx="33469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Behavioural Nudges</a:t>
            </a:r>
            <a:endParaRPr lang="en-GB" sz="1400" dirty="0"/>
          </a:p>
        </p:txBody>
      </p:sp>
      <p:sp>
        <p:nvSpPr>
          <p:cNvPr id="22" name="card_body"/>
          <p:cNvSpPr/>
          <p:nvPr/>
        </p:nvSpPr>
        <p:spPr>
          <a:xfrm>
            <a:off x="566928" y="3932848"/>
            <a:ext cx="3730752" cy="833032"/>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Most desk-booking problems are behavioural, not technical. How might the system gently shape better habits — timely reminders, social visibility, smart defaults — without policing people or stacking up policy?</a:t>
            </a:r>
            <a:endParaRPr lang="en-GB" sz="1100" dirty="0"/>
          </a:p>
        </p:txBody>
      </p:sp>
      <p:sp>
        <p:nvSpPr>
          <p:cNvPr id="23" name="card_bg"/>
          <p:cNvSpPr/>
          <p:nvPr/>
        </p:nvSpPr>
        <p:spPr>
          <a:xfrm>
            <a:off x="4663440" y="3183040"/>
            <a:ext cx="4160520" cy="1720000"/>
          </a:xfrm>
          <a:prstGeom prst="rect">
            <a:avLst/>
          </a:prstGeom>
          <a:solidFill>
            <a:srgbClr val="243558"/>
          </a:solidFill>
          <a:ln w="12700">
            <a:solidFill>
              <a:srgbClr val="2D4270"/>
            </a:solidFill>
            <a:prstDash val="solid"/>
          </a:ln>
        </p:spPr>
        <p:txBody>
          <a:bodyPr/>
          <a:lstStyle/>
          <a:p>
            <a:endParaRPr lang="en-GB"/>
          </a:p>
        </p:txBody>
      </p:sp>
      <p:sp>
        <p:nvSpPr>
          <p:cNvPr id="24" name="card_accent"/>
          <p:cNvSpPr/>
          <p:nvPr/>
        </p:nvSpPr>
        <p:spPr>
          <a:xfrm>
            <a:off x="4663440" y="3183040"/>
            <a:ext cx="64008" cy="1720000"/>
          </a:xfrm>
          <a:prstGeom prst="rect">
            <a:avLst/>
          </a:prstGeom>
          <a:solidFill>
            <a:srgbClr val="00C4CC"/>
          </a:solidFill>
          <a:ln w="12700">
            <a:solidFill>
              <a:srgbClr val="00C4CC"/>
            </a:solidFill>
            <a:prstDash val="solid"/>
          </a:ln>
        </p:spPr>
        <p:txBody>
          <a:bodyPr/>
          <a:lstStyle/>
          <a:p>
            <a:endParaRPr lang="en-GB"/>
          </a:p>
        </p:txBody>
      </p:sp>
      <p:sp>
        <p:nvSpPr>
          <p:cNvPr id="25" name="card_icon_sq"/>
          <p:cNvSpPr/>
          <p:nvPr/>
        </p:nvSpPr>
        <p:spPr>
          <a:xfrm>
            <a:off x="4864328" y="3365920"/>
            <a:ext cx="384048" cy="384048"/>
          </a:xfrm>
          <a:prstGeom prst="rect">
            <a:avLst/>
          </a:prstGeom>
          <a:solidFill>
            <a:srgbClr val="007A80"/>
          </a:solidFill>
          <a:ln w="12700">
            <a:solidFill>
              <a:srgbClr val="007A80"/>
            </a:solidFill>
            <a:prstDash val="solid"/>
          </a:ln>
        </p:spPr>
        <p:txBody>
          <a:bodyPr/>
          <a:lstStyle/>
          <a:p>
            <a:endParaRPr lang="en-GB"/>
          </a:p>
        </p:txBody>
      </p:sp>
      <p:sp>
        <p:nvSpPr>
          <p:cNvPr id="26" name="card_icon_g"/>
          <p:cNvSpPr/>
          <p:nvPr/>
        </p:nvSpPr>
        <p:spPr>
          <a:xfrm>
            <a:off x="4864328" y="3365920"/>
            <a:ext cx="384048" cy="384048"/>
          </a:xfrm>
          <a:prstGeom prst="rect">
            <a:avLst/>
          </a:prstGeom>
          <a:noFill/>
          <a:ln/>
        </p:spPr>
        <p:txBody>
          <a:bodyPr wrap="square" lIns="0" tIns="0" rIns="0" bIns="0" rtlCol="0" anchor="ctr"/>
          <a:lstStyle/>
          <a:p>
            <a:pPr marL="0" indent="0" algn="ctr">
              <a:buNone/>
            </a:pPr>
            <a:r>
              <a:rPr lang="en-GB" sz="1600" b="1" dirty="0">
                <a:solidFill>
                  <a:srgbClr val="FFFFFF"/>
                </a:solidFill>
                <a:latin typeface="Arial" pitchFamily="34" charset="0"/>
              </a:rPr>
              <a:t>◆</a:t>
            </a:r>
            <a:endParaRPr lang="en-GB" sz="1600" dirty="0"/>
          </a:p>
        </p:txBody>
      </p:sp>
      <p:sp>
        <p:nvSpPr>
          <p:cNvPr id="27" name="card_title"/>
          <p:cNvSpPr/>
          <p:nvPr/>
        </p:nvSpPr>
        <p:spPr>
          <a:xfrm>
            <a:off x="5385536" y="3365920"/>
            <a:ext cx="3346984" cy="384048"/>
          </a:xfrm>
          <a:prstGeom prst="rect">
            <a:avLst/>
          </a:prstGeom>
          <a:noFill/>
          <a:ln/>
        </p:spPr>
        <p:txBody>
          <a:bodyPr wrap="square" lIns="0" tIns="0" rIns="0" bIns="0" rtlCol="0" anchor="ctr"/>
          <a:lstStyle/>
          <a:p>
            <a:pPr marL="0" indent="0">
              <a:buNone/>
            </a:pPr>
            <a:r>
              <a:rPr lang="en-GB" sz="1400" b="1" dirty="0">
                <a:solidFill>
                  <a:srgbClr val="FFFFFF"/>
                </a:solidFill>
                <a:latin typeface="Trebuchet MS" pitchFamily="34" charset="0"/>
                <a:ea typeface="Trebuchet MS" pitchFamily="34" charset="-122"/>
                <a:cs typeface="Trebuchet MS" pitchFamily="34" charset="-120"/>
              </a:rPr>
              <a:t>Adaptive Booking Rules</a:t>
            </a:r>
            <a:endParaRPr lang="en-GB" sz="1400" dirty="0"/>
          </a:p>
        </p:txBody>
      </p:sp>
      <p:sp>
        <p:nvSpPr>
          <p:cNvPr id="28" name="card_body"/>
          <p:cNvSpPr/>
          <p:nvPr/>
        </p:nvSpPr>
        <p:spPr>
          <a:xfrm>
            <a:off x="4910328" y="3932848"/>
            <a:ext cx="3730752" cy="833032"/>
          </a:xfrm>
          <a:prstGeom prst="rect">
            <a:avLst/>
          </a:prstGeom>
          <a:noFill/>
          <a:ln/>
        </p:spPr>
        <p:txBody>
          <a:bodyPr wrap="square" lIns="0" tIns="0" rIns="0" bIns="0" rtlCol="0" anchor="t"/>
          <a:lstStyle/>
          <a:p>
            <a:pPr marL="0" indent="0">
              <a:lnSpc>
                <a:spcPct val="115000"/>
              </a:lnSpc>
              <a:buNone/>
            </a:pPr>
            <a:r>
              <a:rPr lang="en-GB" sz="1100" dirty="0">
                <a:solidFill>
                  <a:srgbClr val="A8B8D8"/>
                </a:solidFill>
                <a:latin typeface="Calibri" pitchFamily="34" charset="0"/>
                <a:ea typeface="Calibri" pitchFamily="34" charset="-122"/>
                <a:cs typeface="Calibri" pitchFamily="34" charset="-120"/>
              </a:rPr>
              <a:t>One rule rarely fits every case. Team bookings, anchor days, all-hands, training cohorts, visitor groups — how might the rules flex for the use case in front of them without becoming restrictive for the everyday booker?</a:t>
            </a:r>
            <a:endParaRPr lang="en-GB"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Title"/>
          <p:cNvSpPr/>
          <p:nvPr/>
        </p:nvSpPr>
        <p:spPr>
          <a:xfrm>
            <a:off x="256032" y="109728"/>
            <a:ext cx="6400800" cy="384048"/>
          </a:xfrm>
          <a:prstGeom prst="rect">
            <a:avLst/>
          </a:prstGeom>
          <a:noFill/>
          <a:ln/>
        </p:spPr>
        <p:txBody>
          <a:bodyPr wrap="square" lIns="0" tIns="0" rIns="0" bIns="0" rtlCol="0" anchor="ctr"/>
          <a:lstStyle/>
          <a:p>
            <a:pPr marL="0" indent="0">
              <a:buNone/>
            </a:pPr>
            <a:r>
              <a:rPr lang="en-US" sz="2600" b="1" dirty="0">
                <a:solidFill>
                  <a:srgbClr val="1A2744"/>
                </a:solidFill>
                <a:latin typeface="Trebuchet MS" pitchFamily="34" charset="0"/>
              </a:rPr>
              <a:t>Format &amp; Schedule</a:t>
            </a:r>
          </a:p>
        </p:txBody>
      </p:sp>
      <p:sp>
        <p:nvSpPr>
          <p:cNvPr id="3" name="Subtitle"/>
          <p:cNvSpPr/>
          <p:nvPr/>
        </p:nvSpPr>
        <p:spPr>
          <a:xfrm>
            <a:off x="256032" y="502920"/>
            <a:ext cx="8631936" cy="219456"/>
          </a:xfrm>
          <a:prstGeom prst="rect">
            <a:avLst/>
          </a:prstGeom>
          <a:noFill/>
          <a:ln/>
        </p:spPr>
        <p:txBody>
          <a:bodyPr wrap="square" lIns="0" tIns="0" rIns="0" bIns="0" rtlCol="0" anchor="ctr"/>
          <a:lstStyle/>
          <a:p>
            <a:pPr marL="0" indent="0">
              <a:buNone/>
            </a:pPr>
            <a:r>
              <a:rPr lang="en-US" sz="1000" i="1" dirty="0">
                <a:solidFill>
                  <a:srgbClr val="6B7FA3"/>
                </a:solidFill>
                <a:latin typeface="Calibri" pitchFamily="34" charset="0"/>
              </a:rPr>
              <a:t>In-person. A shared MS Teams channel will be used for announcements and async updates throughout both days.</a:t>
            </a:r>
          </a:p>
        </p:txBody>
      </p:sp>
      <p:sp>
        <p:nvSpPr>
          <p:cNvPr id="10" name="D1HeaderBg"/>
          <p:cNvSpPr/>
          <p:nvPr/>
        </p:nvSpPr>
        <p:spPr>
          <a:xfrm>
            <a:off x="256032" y="722000"/>
            <a:ext cx="4260864" cy="274320"/>
          </a:xfrm>
          <a:prstGeom prst="rect">
            <a:avLst/>
          </a:prstGeom>
          <a:solidFill>
            <a:srgbClr val="1A2744"/>
          </a:solidFill>
          <a:ln w="12700">
            <a:solidFill>
              <a:srgbClr val="1A2744"/>
            </a:solidFill>
            <a:prstDash val="solid"/>
          </a:ln>
        </p:spPr>
        <p:txBody>
          <a:bodyPr/>
          <a:lstStyle/>
          <a:p>
            <a:endParaRPr lang="en-US"/>
          </a:p>
        </p:txBody>
      </p:sp>
      <p:sp>
        <p:nvSpPr>
          <p:cNvPr id="11" name="D1HeaderAccent"/>
          <p:cNvSpPr/>
          <p:nvPr/>
        </p:nvSpPr>
        <p:spPr>
          <a:xfrm>
            <a:off x="256032" y="722000"/>
            <a:ext cx="64008" cy="274320"/>
          </a:xfrm>
          <a:prstGeom prst="rect">
            <a:avLst/>
          </a:prstGeom>
          <a:solidFill>
            <a:srgbClr val="00C4CC"/>
          </a:solidFill>
          <a:ln w="12700">
            <a:solidFill>
              <a:srgbClr val="00C4CC"/>
            </a:solidFill>
            <a:prstDash val="solid"/>
          </a:ln>
        </p:spPr>
        <p:txBody>
          <a:bodyPr/>
          <a:lstStyle/>
          <a:p>
            <a:endParaRPr lang="en-US"/>
          </a:p>
        </p:txBody>
      </p:sp>
      <p:sp>
        <p:nvSpPr>
          <p:cNvPr id="12" name="D1HeaderTitle"/>
          <p:cNvSpPr/>
          <p:nvPr/>
        </p:nvSpPr>
        <p:spPr>
          <a:xfrm>
            <a:off x="347472" y="722000"/>
            <a:ext cx="24000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rPr>
              <a:t>Day 1 — Build</a:t>
            </a:r>
          </a:p>
        </p:txBody>
      </p:sp>
      <p:sp>
        <p:nvSpPr>
          <p:cNvPr id="13" name="D1HeaderDate"/>
          <p:cNvSpPr/>
          <p:nvPr/>
        </p:nvSpPr>
        <p:spPr>
          <a:xfrm>
            <a:off x="347472" y="968000"/>
            <a:ext cx="4096224" cy="183000"/>
          </a:xfrm>
          <a:prstGeom prst="rect">
            <a:avLst/>
          </a:prstGeom>
          <a:noFill/>
          <a:ln/>
        </p:spPr>
        <p:txBody>
          <a:bodyPr wrap="square" lIns="0" tIns="0" rIns="0" bIns="0" rtlCol="0" anchor="ctr"/>
          <a:lstStyle/>
          <a:p>
            <a:pPr marL="0" indent="0">
              <a:buNone/>
            </a:pPr>
            <a:r>
              <a:rPr lang="en-US" sz="900" i="1" dirty="0">
                <a:solidFill>
                  <a:srgbClr val="6B7FA3"/>
                </a:solidFill>
                <a:latin typeface="Calibri" pitchFamily="34" charset="0"/>
              </a:rPr>
              <a:t>Monday 11th May</a:t>
            </a:r>
          </a:p>
        </p:txBody>
      </p:sp>
      <p:sp>
        <p:nvSpPr>
          <p:cNvPr id="200" name="NR0bg"/>
          <p:cNvSpPr/>
          <p:nvPr/>
        </p:nvSpPr>
        <p:spPr>
          <a:xfrm>
            <a:off x="256032" y="1200000"/>
            <a:ext cx="4260864" cy="260000"/>
          </a:xfrm>
          <a:prstGeom prst="rect">
            <a:avLst/>
          </a:prstGeom>
          <a:solidFill>
            <a:srgbClr val="FFFFFF"/>
          </a:solidFill>
          <a:ln w="6350">
            <a:solidFill>
              <a:srgbClr val="DDE6F5"/>
            </a:solidFill>
            <a:prstDash val="solid"/>
          </a:ln>
        </p:spPr>
        <p:txBody>
          <a:bodyPr/>
          <a:lstStyle/>
          <a:p>
            <a:endParaRPr lang="en-US"/>
          </a:p>
        </p:txBody>
      </p:sp>
      <p:sp>
        <p:nvSpPr>
          <p:cNvPr id="4" name="NR0time"/>
          <p:cNvSpPr/>
          <p:nvPr/>
        </p:nvSpPr>
        <p:spPr>
          <a:xfrm>
            <a:off x="365760" y="1220272"/>
            <a:ext cx="658368" cy="219456"/>
          </a:xfrm>
          <a:prstGeom prst="rect">
            <a:avLst/>
          </a:prstGeom>
          <a:noFill/>
          <a:ln w="0">
            <a:noFill/>
          </a:ln>
        </p:spPr>
        <p:txBody>
          <a:bodyPr wrap="square" lIns="0" tIns="0" rIns="0" bIns="0" rtlCol="0" anchor="ctr"/>
          <a:lstStyle/>
          <a:p>
            <a:pPr marL="0" indent="0">
              <a:buNone/>
            </a:pPr>
            <a:r>
              <a:rPr lang="en-US" sz="1000" b="1" dirty="0">
                <a:solidFill>
                  <a:srgbClr val="00C4CC"/>
                </a:solidFill>
                <a:latin typeface="Calibri" pitchFamily="34" charset="0"/>
              </a:rPr>
              <a:t>10:00</a:t>
            </a:r>
          </a:p>
        </p:txBody>
      </p:sp>
      <p:sp>
        <p:nvSpPr>
          <p:cNvPr id="5" name="NR0label"/>
          <p:cNvSpPr/>
          <p:nvPr/>
        </p:nvSpPr>
        <p:spPr>
          <a:xfrm>
            <a:off x="1078992" y="1220272"/>
            <a:ext cx="3355848" cy="219456"/>
          </a:xfrm>
          <a:prstGeom prst="rect">
            <a:avLst/>
          </a:prstGeom>
          <a:noFill/>
          <a:ln w="0">
            <a:noFill/>
          </a:ln>
        </p:spPr>
        <p:txBody>
          <a:bodyPr wrap="square" lIns="0" tIns="0" rIns="0" bIns="0" rtlCol="0" anchor="ctr"/>
          <a:lstStyle/>
          <a:p>
            <a:pPr marL="0" indent="0">
              <a:buNone/>
            </a:pPr>
            <a:r>
              <a:rPr lang="en-US" sz="1000" b="1" dirty="0">
                <a:solidFill>
                  <a:srgbClr val="1A2744"/>
                </a:solidFill>
                <a:latin typeface="Calibri" pitchFamily="34" charset="0"/>
              </a:rPr>
              <a:t>Welcome &amp; kick-off</a:t>
            </a:r>
          </a:p>
        </p:txBody>
      </p:sp>
      <p:sp>
        <p:nvSpPr>
          <p:cNvPr id="210" name="NR1bg"/>
          <p:cNvSpPr/>
          <p:nvPr/>
        </p:nvSpPr>
        <p:spPr>
          <a:xfrm>
            <a:off x="256032" y="1460000"/>
            <a:ext cx="4260864" cy="260000"/>
          </a:xfrm>
          <a:prstGeom prst="rect">
            <a:avLst/>
          </a:prstGeom>
          <a:solidFill>
            <a:srgbClr val="F8FAFD"/>
          </a:solidFill>
          <a:ln w="6350">
            <a:solidFill>
              <a:srgbClr val="DDE6F5"/>
            </a:solidFill>
            <a:prstDash val="solid"/>
          </a:ln>
        </p:spPr>
        <p:txBody>
          <a:bodyPr/>
          <a:lstStyle/>
          <a:p>
            <a:endParaRPr lang="en-US"/>
          </a:p>
        </p:txBody>
      </p:sp>
      <p:sp>
        <p:nvSpPr>
          <p:cNvPr id="6" name="NR1time"/>
          <p:cNvSpPr/>
          <p:nvPr/>
        </p:nvSpPr>
        <p:spPr>
          <a:xfrm>
            <a:off x="365760" y="1480272"/>
            <a:ext cx="658368" cy="219456"/>
          </a:xfrm>
          <a:prstGeom prst="rect">
            <a:avLst/>
          </a:prstGeom>
          <a:noFill/>
          <a:ln w="0">
            <a:noFill/>
          </a:ln>
        </p:spPr>
        <p:txBody>
          <a:bodyPr wrap="square" lIns="0" tIns="0" rIns="0" bIns="0" rtlCol="0" anchor="ctr"/>
          <a:lstStyle/>
          <a:p>
            <a:pPr marL="0" indent="0">
              <a:buNone/>
            </a:pPr>
            <a:r>
              <a:rPr lang="en-US" sz="1000" b="1" dirty="0">
                <a:solidFill>
                  <a:srgbClr val="00C4CC"/>
                </a:solidFill>
                <a:latin typeface="Calibri" pitchFamily="34" charset="0"/>
              </a:rPr>
              <a:t>10:10</a:t>
            </a:r>
          </a:p>
        </p:txBody>
      </p:sp>
      <p:sp>
        <p:nvSpPr>
          <p:cNvPr id="7" name="NR1label"/>
          <p:cNvSpPr/>
          <p:nvPr/>
        </p:nvSpPr>
        <p:spPr>
          <a:xfrm>
            <a:off x="1078992" y="1480272"/>
            <a:ext cx="3355848" cy="219456"/>
          </a:xfrm>
          <a:prstGeom prst="rect">
            <a:avLst/>
          </a:prstGeom>
          <a:noFill/>
          <a:ln w="0">
            <a:noFill/>
          </a:ln>
        </p:spPr>
        <p:txBody>
          <a:bodyPr wrap="square" lIns="0" tIns="0" rIns="0" bIns="0" rtlCol="0" anchor="ctr"/>
          <a:lstStyle/>
          <a:p>
            <a:pPr marL="0" indent="0">
              <a:buNone/>
            </a:pPr>
            <a:r>
              <a:rPr lang="en-US" sz="1000" dirty="0">
                <a:solidFill>
                  <a:srgbClr val="6B7FA3"/>
                </a:solidFill>
                <a:latin typeface="Calibri" pitchFamily="34" charset="0"/>
              </a:rPr>
              <a:t>Product owner brief — the problem space</a:t>
            </a:r>
          </a:p>
        </p:txBody>
      </p:sp>
      <p:sp>
        <p:nvSpPr>
          <p:cNvPr id="220" name="NR2bg"/>
          <p:cNvSpPr/>
          <p:nvPr/>
        </p:nvSpPr>
        <p:spPr>
          <a:xfrm>
            <a:off x="256032" y="1720000"/>
            <a:ext cx="4260864" cy="260000"/>
          </a:xfrm>
          <a:prstGeom prst="rect">
            <a:avLst/>
          </a:prstGeom>
          <a:solidFill>
            <a:srgbClr val="FFFFFF"/>
          </a:solidFill>
          <a:ln w="6350">
            <a:solidFill>
              <a:srgbClr val="DDE6F5"/>
            </a:solidFill>
            <a:prstDash val="solid"/>
          </a:ln>
        </p:spPr>
        <p:txBody>
          <a:bodyPr/>
          <a:lstStyle/>
          <a:p>
            <a:endParaRPr lang="en-US"/>
          </a:p>
        </p:txBody>
      </p:sp>
      <p:sp>
        <p:nvSpPr>
          <p:cNvPr id="8" name="NR2time"/>
          <p:cNvSpPr/>
          <p:nvPr/>
        </p:nvSpPr>
        <p:spPr>
          <a:xfrm>
            <a:off x="365760" y="1740272"/>
            <a:ext cx="658368" cy="219456"/>
          </a:xfrm>
          <a:prstGeom prst="rect">
            <a:avLst/>
          </a:prstGeom>
          <a:noFill/>
          <a:ln w="0">
            <a:noFill/>
          </a:ln>
        </p:spPr>
        <p:txBody>
          <a:bodyPr wrap="square" lIns="0" tIns="0" rIns="0" bIns="0" rtlCol="0" anchor="ctr"/>
          <a:lstStyle/>
          <a:p>
            <a:pPr marL="0" indent="0">
              <a:buNone/>
            </a:pPr>
            <a:r>
              <a:rPr lang="en-US" sz="1000" b="1" dirty="0">
                <a:solidFill>
                  <a:srgbClr val="00C4CC"/>
                </a:solidFill>
                <a:latin typeface="Calibri" pitchFamily="34" charset="0"/>
              </a:rPr>
              <a:t>10:20</a:t>
            </a:r>
          </a:p>
        </p:txBody>
      </p:sp>
      <p:sp>
        <p:nvSpPr>
          <p:cNvPr id="9" name="NR2label"/>
          <p:cNvSpPr/>
          <p:nvPr/>
        </p:nvSpPr>
        <p:spPr>
          <a:xfrm>
            <a:off x="1078992" y="1740272"/>
            <a:ext cx="3355848" cy="219456"/>
          </a:xfrm>
          <a:prstGeom prst="rect">
            <a:avLst/>
          </a:prstGeom>
          <a:noFill/>
          <a:ln w="0">
            <a:noFill/>
          </a:ln>
        </p:spPr>
        <p:txBody>
          <a:bodyPr wrap="square" lIns="0" tIns="0" rIns="0" bIns="0" rtlCol="0" anchor="ctr"/>
          <a:lstStyle/>
          <a:p>
            <a:pPr marL="0" indent="0">
              <a:buNone/>
            </a:pPr>
            <a:r>
              <a:rPr lang="en-US" sz="1000" dirty="0">
                <a:solidFill>
                  <a:srgbClr val="6B7FA3"/>
                </a:solidFill>
                <a:latin typeface="Calibri" pitchFamily="34" charset="0"/>
              </a:rPr>
              <a:t>Team formation, repo setup &amp; questions</a:t>
            </a:r>
          </a:p>
        </p:txBody>
      </p:sp>
      <p:sp>
        <p:nvSpPr>
          <p:cNvPr id="230" name="NR3bg"/>
          <p:cNvSpPr/>
          <p:nvPr/>
        </p:nvSpPr>
        <p:spPr>
          <a:xfrm>
            <a:off x="256032" y="1980000"/>
            <a:ext cx="4260864" cy="260000"/>
          </a:xfrm>
          <a:prstGeom prst="rect">
            <a:avLst/>
          </a:prstGeom>
          <a:solidFill>
            <a:srgbClr val="EAF8F9"/>
          </a:solidFill>
          <a:ln w="6350">
            <a:solidFill>
              <a:srgbClr val="9FE0E4"/>
            </a:solidFill>
            <a:prstDash val="solid"/>
          </a:ln>
        </p:spPr>
        <p:txBody>
          <a:bodyPr/>
          <a:lstStyle/>
          <a:p>
            <a:endParaRPr lang="en-US"/>
          </a:p>
        </p:txBody>
      </p:sp>
      <p:sp>
        <p:nvSpPr>
          <p:cNvPr id="14" name="NR3accent"/>
          <p:cNvSpPr/>
          <p:nvPr/>
        </p:nvSpPr>
        <p:spPr>
          <a:xfrm>
            <a:off x="256032" y="1980000"/>
            <a:ext cx="64008" cy="260000"/>
          </a:xfrm>
          <a:prstGeom prst="rect">
            <a:avLst/>
          </a:prstGeom>
          <a:solidFill>
            <a:srgbClr val="00C4CC"/>
          </a:solidFill>
          <a:ln w="6350">
            <a:solidFill>
              <a:srgbClr val="00C4CC"/>
            </a:solidFill>
            <a:prstDash val="solid"/>
          </a:ln>
        </p:spPr>
        <p:txBody>
          <a:bodyPr/>
          <a:lstStyle/>
          <a:p>
            <a:endParaRPr lang="en-US"/>
          </a:p>
        </p:txBody>
      </p:sp>
      <p:sp>
        <p:nvSpPr>
          <p:cNvPr id="15" name="NR3time"/>
          <p:cNvSpPr/>
          <p:nvPr/>
        </p:nvSpPr>
        <p:spPr>
          <a:xfrm>
            <a:off x="365760" y="2000272"/>
            <a:ext cx="658368" cy="219456"/>
          </a:xfrm>
          <a:prstGeom prst="rect">
            <a:avLst/>
          </a:prstGeom>
          <a:noFill/>
          <a:ln w="0">
            <a:noFill/>
          </a:ln>
        </p:spPr>
        <p:txBody>
          <a:bodyPr wrap="square" lIns="0" tIns="0" rIns="0" bIns="0" rtlCol="0" anchor="ctr"/>
          <a:lstStyle/>
          <a:p>
            <a:pPr marL="0" indent="0">
              <a:buNone/>
            </a:pPr>
            <a:r>
              <a:rPr lang="en-US" sz="1000" b="1" dirty="0">
                <a:solidFill>
                  <a:srgbClr val="00C4CC"/>
                </a:solidFill>
                <a:latin typeface="Calibri" pitchFamily="34" charset="0"/>
              </a:rPr>
              <a:t>10:45</a:t>
            </a:r>
          </a:p>
        </p:txBody>
      </p:sp>
      <p:sp>
        <p:nvSpPr>
          <p:cNvPr id="16" name="NR3label"/>
          <p:cNvSpPr/>
          <p:nvPr/>
        </p:nvSpPr>
        <p:spPr>
          <a:xfrm>
            <a:off x="1078992" y="2000272"/>
            <a:ext cx="3355848" cy="219456"/>
          </a:xfrm>
          <a:prstGeom prst="rect">
            <a:avLst/>
          </a:prstGeom>
          <a:noFill/>
          <a:ln w="0">
            <a:noFill/>
          </a:ln>
        </p:spPr>
        <p:txBody>
          <a:bodyPr wrap="square" lIns="0" tIns="0" rIns="0" bIns="0" rtlCol="0" anchor="ctr"/>
          <a:lstStyle/>
          <a:p>
            <a:pPr marL="0" indent="0">
              <a:buNone/>
            </a:pPr>
            <a:r>
              <a:rPr lang="en-US" sz="1000" b="1" dirty="0">
                <a:solidFill>
                  <a:srgbClr val="1A2744"/>
                </a:solidFill>
                <a:latin typeface="Calibri" pitchFamily="34" charset="0"/>
              </a:rPr>
              <a:t>Hack begins</a:t>
            </a:r>
          </a:p>
        </p:txBody>
      </p:sp>
      <p:sp>
        <p:nvSpPr>
          <p:cNvPr id="50" name="D1R4bg"/>
          <p:cNvSpPr/>
          <p:nvPr/>
        </p:nvSpPr>
        <p:spPr>
          <a:xfrm>
            <a:off x="256032" y="2240000"/>
            <a:ext cx="4260864" cy="329184"/>
          </a:xfrm>
          <a:prstGeom prst="rect">
            <a:avLst/>
          </a:prstGeom>
          <a:solidFill>
            <a:srgbClr val="FFFFFF"/>
          </a:solidFill>
          <a:ln w="6350">
            <a:solidFill>
              <a:srgbClr val="DDE6F5"/>
            </a:solidFill>
            <a:prstDash val="solid"/>
          </a:ln>
        </p:spPr>
        <p:txBody>
          <a:bodyPr/>
          <a:lstStyle/>
          <a:p>
            <a:endParaRPr lang="en-US"/>
          </a:p>
        </p:txBody>
      </p:sp>
      <p:sp>
        <p:nvSpPr>
          <p:cNvPr id="51" name="D1R4time"/>
          <p:cNvSpPr/>
          <p:nvPr/>
        </p:nvSpPr>
        <p:spPr>
          <a:xfrm>
            <a:off x="365760" y="2242416"/>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13:00</a:t>
            </a:r>
          </a:p>
        </p:txBody>
      </p:sp>
      <p:sp>
        <p:nvSpPr>
          <p:cNvPr id="52" name="D1R4label"/>
          <p:cNvSpPr/>
          <p:nvPr/>
        </p:nvSpPr>
        <p:spPr>
          <a:xfrm>
            <a:off x="1078992" y="2242416"/>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Pizza lunch — on the company</a:t>
            </a:r>
          </a:p>
        </p:txBody>
      </p:sp>
      <p:sp>
        <p:nvSpPr>
          <p:cNvPr id="60" name="D1R5bg"/>
          <p:cNvSpPr/>
          <p:nvPr/>
        </p:nvSpPr>
        <p:spPr>
          <a:xfrm>
            <a:off x="256032" y="2569184"/>
            <a:ext cx="4260864" cy="329184"/>
          </a:xfrm>
          <a:prstGeom prst="rect">
            <a:avLst/>
          </a:prstGeom>
          <a:solidFill>
            <a:srgbClr val="F8FAFD"/>
          </a:solidFill>
          <a:ln w="6350">
            <a:solidFill>
              <a:srgbClr val="DDE6F5"/>
            </a:solidFill>
            <a:prstDash val="solid"/>
          </a:ln>
        </p:spPr>
        <p:txBody>
          <a:bodyPr/>
          <a:lstStyle/>
          <a:p>
            <a:endParaRPr lang="en-US"/>
          </a:p>
        </p:txBody>
      </p:sp>
      <p:sp>
        <p:nvSpPr>
          <p:cNvPr id="61" name="D1R5time"/>
          <p:cNvSpPr/>
          <p:nvPr/>
        </p:nvSpPr>
        <p:spPr>
          <a:xfrm>
            <a:off x="365760" y="2571600"/>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13:30</a:t>
            </a:r>
          </a:p>
        </p:txBody>
      </p:sp>
      <p:sp>
        <p:nvSpPr>
          <p:cNvPr id="62" name="D1R5label"/>
          <p:cNvSpPr/>
          <p:nvPr/>
        </p:nvSpPr>
        <p:spPr>
          <a:xfrm>
            <a:off x="1078992" y="2571600"/>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Afternoon build session</a:t>
            </a:r>
          </a:p>
        </p:txBody>
      </p:sp>
      <p:sp>
        <p:nvSpPr>
          <p:cNvPr id="70" name="D1R6bg"/>
          <p:cNvSpPr/>
          <p:nvPr/>
        </p:nvSpPr>
        <p:spPr>
          <a:xfrm>
            <a:off x="256032" y="2898368"/>
            <a:ext cx="4260864" cy="329184"/>
          </a:xfrm>
          <a:prstGeom prst="rect">
            <a:avLst/>
          </a:prstGeom>
          <a:solidFill>
            <a:srgbClr val="EAF8F9"/>
          </a:solidFill>
          <a:ln w="6350">
            <a:solidFill>
              <a:srgbClr val="9FE0E4"/>
            </a:solidFill>
            <a:prstDash val="solid"/>
          </a:ln>
        </p:spPr>
        <p:txBody>
          <a:bodyPr/>
          <a:lstStyle/>
          <a:p>
            <a:endParaRPr lang="en-US"/>
          </a:p>
        </p:txBody>
      </p:sp>
      <p:sp>
        <p:nvSpPr>
          <p:cNvPr id="71" name="D1R6accent"/>
          <p:cNvSpPr/>
          <p:nvPr/>
        </p:nvSpPr>
        <p:spPr>
          <a:xfrm>
            <a:off x="256032" y="2898368"/>
            <a:ext cx="64008" cy="329184"/>
          </a:xfrm>
          <a:prstGeom prst="rect">
            <a:avLst/>
          </a:prstGeom>
          <a:solidFill>
            <a:srgbClr val="00C4CC"/>
          </a:solidFill>
          <a:ln w="6350">
            <a:solidFill>
              <a:srgbClr val="00C4CC"/>
            </a:solidFill>
            <a:prstDash val="solid"/>
          </a:ln>
        </p:spPr>
        <p:txBody>
          <a:bodyPr/>
          <a:lstStyle/>
          <a:p>
            <a:endParaRPr lang="en-US"/>
          </a:p>
        </p:txBody>
      </p:sp>
      <p:sp>
        <p:nvSpPr>
          <p:cNvPr id="72" name="D1R6time"/>
          <p:cNvSpPr/>
          <p:nvPr/>
        </p:nvSpPr>
        <p:spPr>
          <a:xfrm>
            <a:off x="365760" y="2900784"/>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15:30</a:t>
            </a:r>
          </a:p>
        </p:txBody>
      </p:sp>
      <p:sp>
        <p:nvSpPr>
          <p:cNvPr id="73" name="D1R6label"/>
          <p:cNvSpPr/>
          <p:nvPr/>
        </p:nvSpPr>
        <p:spPr>
          <a:xfrm>
            <a:off x="1078992" y="2900784"/>
            <a:ext cx="3355848" cy="219456"/>
          </a:xfrm>
          <a:prstGeom prst="rect">
            <a:avLst/>
          </a:prstGeom>
          <a:noFill/>
          <a:ln/>
        </p:spPr>
        <p:txBody>
          <a:bodyPr wrap="square" lIns="0" tIns="0" rIns="0" bIns="0" rtlCol="0" anchor="ctr"/>
          <a:lstStyle/>
          <a:p>
            <a:pPr marL="0" indent="0">
              <a:buNone/>
            </a:pPr>
            <a:r>
              <a:rPr lang="en-US" sz="1000" b="1" dirty="0">
                <a:solidFill>
                  <a:srgbClr val="1A2744"/>
                </a:solidFill>
                <a:latin typeface="Calibri" pitchFamily="34" charset="0"/>
              </a:rPr>
              <a:t>Mid-hack review</a:t>
            </a:r>
          </a:p>
        </p:txBody>
      </p:sp>
      <p:sp>
        <p:nvSpPr>
          <p:cNvPr id="80" name="D1R7bg"/>
          <p:cNvSpPr/>
          <p:nvPr/>
        </p:nvSpPr>
        <p:spPr>
          <a:xfrm>
            <a:off x="256032" y="3228552"/>
            <a:ext cx="4260864" cy="329184"/>
          </a:xfrm>
          <a:prstGeom prst="rect">
            <a:avLst/>
          </a:prstGeom>
          <a:solidFill>
            <a:srgbClr val="FFFFFF"/>
          </a:solidFill>
          <a:ln w="6350">
            <a:solidFill>
              <a:srgbClr val="DDE6F5"/>
            </a:solidFill>
            <a:prstDash val="solid"/>
          </a:ln>
        </p:spPr>
        <p:txBody>
          <a:bodyPr/>
          <a:lstStyle/>
          <a:p>
            <a:endParaRPr lang="en-US"/>
          </a:p>
        </p:txBody>
      </p:sp>
      <p:sp>
        <p:nvSpPr>
          <p:cNvPr id="81" name="D1R7time"/>
          <p:cNvSpPr/>
          <p:nvPr/>
        </p:nvSpPr>
        <p:spPr>
          <a:xfrm>
            <a:off x="365760" y="3229968"/>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17:30</a:t>
            </a:r>
          </a:p>
        </p:txBody>
      </p:sp>
      <p:sp>
        <p:nvSpPr>
          <p:cNvPr id="82" name="D1R7label"/>
          <p:cNvSpPr/>
          <p:nvPr/>
        </p:nvSpPr>
        <p:spPr>
          <a:xfrm>
            <a:off x="1078992" y="3229968"/>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Close</a:t>
            </a:r>
          </a:p>
        </p:txBody>
      </p:sp>
      <p:sp>
        <p:nvSpPr>
          <p:cNvPr id="90" name="D1R8bg"/>
          <p:cNvSpPr/>
          <p:nvPr/>
        </p:nvSpPr>
        <p:spPr>
          <a:xfrm>
            <a:off x="256032" y="3557736"/>
            <a:ext cx="4260864" cy="329184"/>
          </a:xfrm>
          <a:prstGeom prst="rect">
            <a:avLst/>
          </a:prstGeom>
          <a:solidFill>
            <a:srgbClr val="1A2744"/>
          </a:solidFill>
          <a:ln w="6350">
            <a:solidFill>
              <a:srgbClr val="1A2744"/>
            </a:solidFill>
            <a:prstDash val="solid"/>
          </a:ln>
        </p:spPr>
        <p:txBody>
          <a:bodyPr/>
          <a:lstStyle/>
          <a:p>
            <a:endParaRPr lang="en-US"/>
          </a:p>
        </p:txBody>
      </p:sp>
      <p:sp>
        <p:nvSpPr>
          <p:cNvPr id="91" name="D1R8accent"/>
          <p:cNvSpPr/>
          <p:nvPr/>
        </p:nvSpPr>
        <p:spPr>
          <a:xfrm>
            <a:off x="256032" y="3557736"/>
            <a:ext cx="64008" cy="329184"/>
          </a:xfrm>
          <a:prstGeom prst="rect">
            <a:avLst/>
          </a:prstGeom>
          <a:solidFill>
            <a:srgbClr val="00C4CC"/>
          </a:solidFill>
          <a:ln w="6350">
            <a:solidFill>
              <a:srgbClr val="00C4CC"/>
            </a:solidFill>
            <a:prstDash val="solid"/>
          </a:ln>
        </p:spPr>
        <p:txBody>
          <a:bodyPr/>
          <a:lstStyle/>
          <a:p>
            <a:endParaRPr lang="en-US"/>
          </a:p>
        </p:txBody>
      </p:sp>
      <p:sp>
        <p:nvSpPr>
          <p:cNvPr id="92" name="D1R8time"/>
          <p:cNvSpPr/>
          <p:nvPr/>
        </p:nvSpPr>
        <p:spPr>
          <a:xfrm>
            <a:off x="365760" y="3559152"/>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18:00</a:t>
            </a:r>
          </a:p>
        </p:txBody>
      </p:sp>
      <p:sp>
        <p:nvSpPr>
          <p:cNvPr id="93" name="D1R8label"/>
          <p:cNvSpPr/>
          <p:nvPr/>
        </p:nvSpPr>
        <p:spPr>
          <a:xfrm>
            <a:off x="1078992" y="3559152"/>
            <a:ext cx="3355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rPr>
              <a:t>Drinks — own tab, all welcome</a:t>
            </a:r>
          </a:p>
        </p:txBody>
      </p:sp>
      <p:sp>
        <p:nvSpPr>
          <p:cNvPr id="100" name="D1R9bg"/>
          <p:cNvSpPr/>
          <p:nvPr/>
        </p:nvSpPr>
        <p:spPr>
          <a:xfrm>
            <a:off x="256032" y="3886920"/>
            <a:ext cx="4260864" cy="329184"/>
          </a:xfrm>
          <a:prstGeom prst="rect">
            <a:avLst/>
          </a:prstGeom>
          <a:solidFill>
            <a:srgbClr val="1A2744"/>
          </a:solidFill>
          <a:ln w="6350">
            <a:solidFill>
              <a:srgbClr val="1A2744"/>
            </a:solidFill>
            <a:prstDash val="solid"/>
          </a:ln>
        </p:spPr>
        <p:txBody>
          <a:bodyPr/>
          <a:lstStyle/>
          <a:p>
            <a:endParaRPr lang="en-US"/>
          </a:p>
        </p:txBody>
      </p:sp>
      <p:sp>
        <p:nvSpPr>
          <p:cNvPr id="101" name="D1R9accent"/>
          <p:cNvSpPr/>
          <p:nvPr/>
        </p:nvSpPr>
        <p:spPr>
          <a:xfrm>
            <a:off x="256032" y="3886920"/>
            <a:ext cx="64008" cy="329184"/>
          </a:xfrm>
          <a:prstGeom prst="rect">
            <a:avLst/>
          </a:prstGeom>
          <a:solidFill>
            <a:srgbClr val="00C4CC"/>
          </a:solidFill>
          <a:ln w="6350">
            <a:solidFill>
              <a:srgbClr val="00C4CC"/>
            </a:solidFill>
            <a:prstDash val="solid"/>
          </a:ln>
        </p:spPr>
        <p:txBody>
          <a:bodyPr/>
          <a:lstStyle/>
          <a:p>
            <a:endParaRPr lang="en-US"/>
          </a:p>
        </p:txBody>
      </p:sp>
      <p:sp>
        <p:nvSpPr>
          <p:cNvPr id="102" name="D1R9time"/>
          <p:cNvSpPr/>
          <p:nvPr/>
        </p:nvSpPr>
        <p:spPr>
          <a:xfrm>
            <a:off x="365760" y="3888336"/>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19:00</a:t>
            </a:r>
          </a:p>
        </p:txBody>
      </p:sp>
      <p:sp>
        <p:nvSpPr>
          <p:cNvPr id="103" name="D1R9label"/>
          <p:cNvSpPr/>
          <p:nvPr/>
        </p:nvSpPr>
        <p:spPr>
          <a:xfrm>
            <a:off x="1078992" y="3888336"/>
            <a:ext cx="3355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rPr>
              <a:t>Dinner — own tab, all welcome</a:t>
            </a:r>
          </a:p>
        </p:txBody>
      </p:sp>
      <p:sp>
        <p:nvSpPr>
          <p:cNvPr id="17" name="D2HeaderBg"/>
          <p:cNvSpPr/>
          <p:nvPr/>
        </p:nvSpPr>
        <p:spPr>
          <a:xfrm>
            <a:off x="4882896" y="722000"/>
            <a:ext cx="4260864" cy="274320"/>
          </a:xfrm>
          <a:prstGeom prst="rect">
            <a:avLst/>
          </a:prstGeom>
          <a:solidFill>
            <a:srgbClr val="1A2744"/>
          </a:solidFill>
          <a:ln w="12700">
            <a:solidFill>
              <a:srgbClr val="1A2744"/>
            </a:solidFill>
            <a:prstDash val="solid"/>
          </a:ln>
        </p:spPr>
        <p:txBody>
          <a:bodyPr/>
          <a:lstStyle/>
          <a:p>
            <a:endParaRPr lang="en-US"/>
          </a:p>
        </p:txBody>
      </p:sp>
      <p:sp>
        <p:nvSpPr>
          <p:cNvPr id="201" name="D2HeaderAccent"/>
          <p:cNvSpPr/>
          <p:nvPr/>
        </p:nvSpPr>
        <p:spPr>
          <a:xfrm>
            <a:off x="4882896" y="722000"/>
            <a:ext cx="64008" cy="274320"/>
          </a:xfrm>
          <a:prstGeom prst="rect">
            <a:avLst/>
          </a:prstGeom>
          <a:solidFill>
            <a:srgbClr val="00C4CC"/>
          </a:solidFill>
          <a:ln w="12700">
            <a:solidFill>
              <a:srgbClr val="00C4CC"/>
            </a:solidFill>
            <a:prstDash val="solid"/>
          </a:ln>
        </p:spPr>
        <p:txBody>
          <a:bodyPr/>
          <a:lstStyle/>
          <a:p>
            <a:endParaRPr lang="en-US"/>
          </a:p>
        </p:txBody>
      </p:sp>
      <p:sp>
        <p:nvSpPr>
          <p:cNvPr id="202" name="D2HeaderTitle"/>
          <p:cNvSpPr/>
          <p:nvPr/>
        </p:nvSpPr>
        <p:spPr>
          <a:xfrm>
            <a:off x="4974336" y="722000"/>
            <a:ext cx="28000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rPr>
              <a:t>Day 2 — Build, Demo &amp; Judge</a:t>
            </a:r>
          </a:p>
        </p:txBody>
      </p:sp>
      <p:sp>
        <p:nvSpPr>
          <p:cNvPr id="203" name="D2HeaderDate"/>
          <p:cNvSpPr/>
          <p:nvPr/>
        </p:nvSpPr>
        <p:spPr>
          <a:xfrm>
            <a:off x="4974336" y="968000"/>
            <a:ext cx="4096224" cy="183000"/>
          </a:xfrm>
          <a:prstGeom prst="rect">
            <a:avLst/>
          </a:prstGeom>
          <a:noFill/>
          <a:ln/>
        </p:spPr>
        <p:txBody>
          <a:bodyPr wrap="square" lIns="0" tIns="0" rIns="0" bIns="0" rtlCol="0" anchor="ctr"/>
          <a:lstStyle/>
          <a:p>
            <a:pPr marL="0" indent="0">
              <a:buNone/>
            </a:pPr>
            <a:r>
              <a:rPr lang="en-US" sz="900" i="1" dirty="0">
                <a:solidFill>
                  <a:srgbClr val="6B7FA3"/>
                </a:solidFill>
                <a:latin typeface="Calibri" pitchFamily="34" charset="0"/>
              </a:rPr>
              <a:t>Tuesday 12th May</a:t>
            </a:r>
          </a:p>
        </p:txBody>
      </p:sp>
      <p:sp>
        <p:nvSpPr>
          <p:cNvPr id="18" name="D2R1bg"/>
          <p:cNvSpPr/>
          <p:nvPr/>
        </p:nvSpPr>
        <p:spPr>
          <a:xfrm>
            <a:off x="4882896" y="1200000"/>
            <a:ext cx="4260864" cy="329184"/>
          </a:xfrm>
          <a:prstGeom prst="rect">
            <a:avLst/>
          </a:prstGeom>
          <a:solidFill>
            <a:srgbClr val="FFFFFF"/>
          </a:solidFill>
          <a:ln w="6350">
            <a:solidFill>
              <a:srgbClr val="DDE6F5"/>
            </a:solidFill>
            <a:prstDash val="solid"/>
          </a:ln>
        </p:spPr>
        <p:txBody>
          <a:bodyPr/>
          <a:lstStyle/>
          <a:p>
            <a:endParaRPr lang="en-US"/>
          </a:p>
        </p:txBody>
      </p:sp>
      <p:sp>
        <p:nvSpPr>
          <p:cNvPr id="211" name="D2R1time"/>
          <p:cNvSpPr/>
          <p:nvPr/>
        </p:nvSpPr>
        <p:spPr>
          <a:xfrm>
            <a:off x="4992624" y="1254864"/>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09:00</a:t>
            </a:r>
          </a:p>
        </p:txBody>
      </p:sp>
      <p:sp>
        <p:nvSpPr>
          <p:cNvPr id="212" name="D2R1label"/>
          <p:cNvSpPr/>
          <p:nvPr/>
        </p:nvSpPr>
        <p:spPr>
          <a:xfrm>
            <a:off x="5705856" y="1254864"/>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Morning build session</a:t>
            </a:r>
          </a:p>
        </p:txBody>
      </p:sp>
      <p:sp>
        <p:nvSpPr>
          <p:cNvPr id="19" name="D2R2bg"/>
          <p:cNvSpPr/>
          <p:nvPr/>
        </p:nvSpPr>
        <p:spPr>
          <a:xfrm>
            <a:off x="4882896" y="1529184"/>
            <a:ext cx="4260864" cy="329184"/>
          </a:xfrm>
          <a:prstGeom prst="rect">
            <a:avLst/>
          </a:prstGeom>
          <a:solidFill>
            <a:srgbClr val="F8FAFD"/>
          </a:solidFill>
          <a:ln w="6350">
            <a:solidFill>
              <a:srgbClr val="DDE6F5"/>
            </a:solidFill>
            <a:prstDash val="solid"/>
          </a:ln>
        </p:spPr>
        <p:txBody>
          <a:bodyPr/>
          <a:lstStyle/>
          <a:p>
            <a:endParaRPr lang="en-US"/>
          </a:p>
        </p:txBody>
      </p:sp>
      <p:sp>
        <p:nvSpPr>
          <p:cNvPr id="221" name="D2R2time"/>
          <p:cNvSpPr/>
          <p:nvPr/>
        </p:nvSpPr>
        <p:spPr>
          <a:xfrm>
            <a:off x="4992624" y="1584048"/>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12:30</a:t>
            </a:r>
          </a:p>
        </p:txBody>
      </p:sp>
      <p:sp>
        <p:nvSpPr>
          <p:cNvPr id="222" name="D2R2label"/>
          <p:cNvSpPr/>
          <p:nvPr/>
        </p:nvSpPr>
        <p:spPr>
          <a:xfrm>
            <a:off x="5705856" y="1584048"/>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Lunch (own tab) &amp; build freeze prep</a:t>
            </a:r>
          </a:p>
        </p:txBody>
      </p:sp>
      <p:sp>
        <p:nvSpPr>
          <p:cNvPr id="20" name="D2R3bg"/>
          <p:cNvSpPr/>
          <p:nvPr/>
        </p:nvSpPr>
        <p:spPr>
          <a:xfrm>
            <a:off x="4882896" y="1858368"/>
            <a:ext cx="4260864" cy="329184"/>
          </a:xfrm>
          <a:prstGeom prst="rect">
            <a:avLst/>
          </a:prstGeom>
          <a:solidFill>
            <a:srgbClr val="EAF8F9"/>
          </a:solidFill>
          <a:ln w="6350">
            <a:solidFill>
              <a:srgbClr val="9FE0E4"/>
            </a:solidFill>
            <a:prstDash val="solid"/>
          </a:ln>
        </p:spPr>
        <p:txBody>
          <a:bodyPr/>
          <a:lstStyle/>
          <a:p>
            <a:endParaRPr lang="en-US"/>
          </a:p>
        </p:txBody>
      </p:sp>
      <p:sp>
        <p:nvSpPr>
          <p:cNvPr id="231" name="D2R3accent"/>
          <p:cNvSpPr/>
          <p:nvPr/>
        </p:nvSpPr>
        <p:spPr>
          <a:xfrm>
            <a:off x="4882896" y="1858368"/>
            <a:ext cx="64008" cy="329184"/>
          </a:xfrm>
          <a:prstGeom prst="rect">
            <a:avLst/>
          </a:prstGeom>
          <a:solidFill>
            <a:srgbClr val="00C4CC"/>
          </a:solidFill>
          <a:ln w="6350">
            <a:solidFill>
              <a:srgbClr val="00C4CC"/>
            </a:solidFill>
            <a:prstDash val="solid"/>
          </a:ln>
        </p:spPr>
        <p:txBody>
          <a:bodyPr/>
          <a:lstStyle/>
          <a:p>
            <a:endParaRPr lang="en-US"/>
          </a:p>
        </p:txBody>
      </p:sp>
      <p:sp>
        <p:nvSpPr>
          <p:cNvPr id="232" name="D2R3time"/>
          <p:cNvSpPr/>
          <p:nvPr/>
        </p:nvSpPr>
        <p:spPr>
          <a:xfrm>
            <a:off x="4992624" y="1913232"/>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13:30</a:t>
            </a:r>
          </a:p>
        </p:txBody>
      </p:sp>
      <p:sp>
        <p:nvSpPr>
          <p:cNvPr id="233" name="D2R3label"/>
          <p:cNvSpPr/>
          <p:nvPr/>
        </p:nvSpPr>
        <p:spPr>
          <a:xfrm>
            <a:off x="5705856" y="1913232"/>
            <a:ext cx="3355848" cy="219456"/>
          </a:xfrm>
          <a:prstGeom prst="rect">
            <a:avLst/>
          </a:prstGeom>
          <a:noFill/>
          <a:ln/>
        </p:spPr>
        <p:txBody>
          <a:bodyPr wrap="square" lIns="0" tIns="0" rIns="0" bIns="0" rtlCol="0" anchor="ctr"/>
          <a:lstStyle/>
          <a:p>
            <a:pPr marL="0" indent="0">
              <a:buNone/>
            </a:pPr>
            <a:r>
              <a:rPr lang="en-US" sz="1000" b="1" dirty="0">
                <a:solidFill>
                  <a:srgbClr val="1A2744"/>
                </a:solidFill>
                <a:latin typeface="Calibri" pitchFamily="34" charset="0"/>
              </a:rPr>
              <a:t>Build freeze — demo prep only</a:t>
            </a:r>
          </a:p>
        </p:txBody>
      </p:sp>
      <p:sp>
        <p:nvSpPr>
          <p:cNvPr id="240" name="D2R4bg"/>
          <p:cNvSpPr/>
          <p:nvPr/>
        </p:nvSpPr>
        <p:spPr>
          <a:xfrm>
            <a:off x="4882896" y="2240000"/>
            <a:ext cx="4260864" cy="329184"/>
          </a:xfrm>
          <a:prstGeom prst="rect">
            <a:avLst/>
          </a:prstGeom>
          <a:solidFill>
            <a:srgbClr val="FFFFFF"/>
          </a:solidFill>
          <a:ln w="6350">
            <a:solidFill>
              <a:srgbClr val="DDE6F5"/>
            </a:solidFill>
            <a:prstDash val="solid"/>
          </a:ln>
        </p:spPr>
        <p:txBody>
          <a:bodyPr/>
          <a:lstStyle/>
          <a:p>
            <a:endParaRPr lang="en-US"/>
          </a:p>
        </p:txBody>
      </p:sp>
      <p:sp>
        <p:nvSpPr>
          <p:cNvPr id="241" name="D2R4time"/>
          <p:cNvSpPr/>
          <p:nvPr/>
        </p:nvSpPr>
        <p:spPr>
          <a:xfrm>
            <a:off x="4992624" y="2242416"/>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14:30</a:t>
            </a:r>
          </a:p>
        </p:txBody>
      </p:sp>
      <p:sp>
        <p:nvSpPr>
          <p:cNvPr id="242" name="D2R4label"/>
          <p:cNvSpPr/>
          <p:nvPr/>
        </p:nvSpPr>
        <p:spPr>
          <a:xfrm>
            <a:off x="5705856" y="2242416"/>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Presentations (10 min each)</a:t>
            </a:r>
          </a:p>
        </p:txBody>
      </p:sp>
      <p:sp>
        <p:nvSpPr>
          <p:cNvPr id="250" name="D2R5bg"/>
          <p:cNvSpPr/>
          <p:nvPr/>
        </p:nvSpPr>
        <p:spPr>
          <a:xfrm>
            <a:off x="4882896" y="2569184"/>
            <a:ext cx="4260864" cy="329184"/>
          </a:xfrm>
          <a:prstGeom prst="rect">
            <a:avLst/>
          </a:prstGeom>
          <a:solidFill>
            <a:srgbClr val="F8FAFD"/>
          </a:solidFill>
          <a:ln w="6350">
            <a:solidFill>
              <a:srgbClr val="DDE6F5"/>
            </a:solidFill>
            <a:prstDash val="solid"/>
          </a:ln>
        </p:spPr>
        <p:txBody>
          <a:bodyPr/>
          <a:lstStyle/>
          <a:p>
            <a:endParaRPr lang="en-US"/>
          </a:p>
        </p:txBody>
      </p:sp>
      <p:sp>
        <p:nvSpPr>
          <p:cNvPr id="251" name="D2R5time"/>
          <p:cNvSpPr/>
          <p:nvPr/>
        </p:nvSpPr>
        <p:spPr>
          <a:xfrm>
            <a:off x="4992624" y="2571600"/>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16:00</a:t>
            </a:r>
          </a:p>
        </p:txBody>
      </p:sp>
      <p:sp>
        <p:nvSpPr>
          <p:cNvPr id="252" name="D2R5label"/>
          <p:cNvSpPr/>
          <p:nvPr/>
        </p:nvSpPr>
        <p:spPr>
          <a:xfrm>
            <a:off x="5705856" y="2571600"/>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Judging &amp; deliberation</a:t>
            </a:r>
          </a:p>
        </p:txBody>
      </p:sp>
      <p:sp>
        <p:nvSpPr>
          <p:cNvPr id="260" name="D2R6bg"/>
          <p:cNvSpPr/>
          <p:nvPr/>
        </p:nvSpPr>
        <p:spPr>
          <a:xfrm>
            <a:off x="4882896" y="2898368"/>
            <a:ext cx="4260864" cy="329184"/>
          </a:xfrm>
          <a:prstGeom prst="rect">
            <a:avLst/>
          </a:prstGeom>
          <a:solidFill>
            <a:srgbClr val="EAF8F9"/>
          </a:solidFill>
          <a:ln w="6350">
            <a:solidFill>
              <a:srgbClr val="9FE0E4"/>
            </a:solidFill>
            <a:prstDash val="solid"/>
          </a:ln>
        </p:spPr>
        <p:txBody>
          <a:bodyPr/>
          <a:lstStyle/>
          <a:p>
            <a:endParaRPr lang="en-US"/>
          </a:p>
        </p:txBody>
      </p:sp>
      <p:sp>
        <p:nvSpPr>
          <p:cNvPr id="261" name="D2R6accent"/>
          <p:cNvSpPr/>
          <p:nvPr/>
        </p:nvSpPr>
        <p:spPr>
          <a:xfrm>
            <a:off x="4882896" y="2898368"/>
            <a:ext cx="64008" cy="329184"/>
          </a:xfrm>
          <a:prstGeom prst="rect">
            <a:avLst/>
          </a:prstGeom>
          <a:solidFill>
            <a:srgbClr val="00C4CC"/>
          </a:solidFill>
          <a:ln w="6350">
            <a:solidFill>
              <a:srgbClr val="00C4CC"/>
            </a:solidFill>
            <a:prstDash val="solid"/>
          </a:ln>
        </p:spPr>
        <p:txBody>
          <a:bodyPr/>
          <a:lstStyle/>
          <a:p>
            <a:endParaRPr lang="en-US"/>
          </a:p>
        </p:txBody>
      </p:sp>
      <p:sp>
        <p:nvSpPr>
          <p:cNvPr id="262" name="D2R6time"/>
          <p:cNvSpPr/>
          <p:nvPr/>
        </p:nvSpPr>
        <p:spPr>
          <a:xfrm>
            <a:off x="4992624" y="2900784"/>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16:30</a:t>
            </a:r>
          </a:p>
        </p:txBody>
      </p:sp>
      <p:sp>
        <p:nvSpPr>
          <p:cNvPr id="263" name="D2R6label"/>
          <p:cNvSpPr/>
          <p:nvPr/>
        </p:nvSpPr>
        <p:spPr>
          <a:xfrm>
            <a:off x="5705856" y="2900784"/>
            <a:ext cx="3355848" cy="219456"/>
          </a:xfrm>
          <a:prstGeom prst="rect">
            <a:avLst/>
          </a:prstGeom>
          <a:noFill/>
          <a:ln/>
        </p:spPr>
        <p:txBody>
          <a:bodyPr wrap="square" lIns="0" tIns="0" rIns="0" bIns="0" rtlCol="0" anchor="ctr"/>
          <a:lstStyle/>
          <a:p>
            <a:pPr marL="0" indent="0">
              <a:buNone/>
            </a:pPr>
            <a:r>
              <a:rPr lang="en-US" sz="1000" b="1" dirty="0">
                <a:solidFill>
                  <a:srgbClr val="1A2744"/>
                </a:solidFill>
                <a:latin typeface="Calibri" pitchFamily="34" charset="0"/>
              </a:rPr>
              <a:t>Winners announced</a:t>
            </a:r>
          </a:p>
        </p:txBody>
      </p:sp>
      <p:sp>
        <p:nvSpPr>
          <p:cNvPr id="270" name="D2R7bg"/>
          <p:cNvSpPr/>
          <p:nvPr/>
        </p:nvSpPr>
        <p:spPr>
          <a:xfrm>
            <a:off x="4882896" y="3228552"/>
            <a:ext cx="4260864" cy="329184"/>
          </a:xfrm>
          <a:prstGeom prst="rect">
            <a:avLst/>
          </a:prstGeom>
          <a:solidFill>
            <a:srgbClr val="FFFFFF"/>
          </a:solidFill>
          <a:ln w="6350">
            <a:solidFill>
              <a:srgbClr val="DDE6F5"/>
            </a:solidFill>
            <a:prstDash val="solid"/>
          </a:ln>
        </p:spPr>
        <p:txBody>
          <a:bodyPr/>
          <a:lstStyle/>
          <a:p>
            <a:endParaRPr lang="en-US"/>
          </a:p>
        </p:txBody>
      </p:sp>
      <p:sp>
        <p:nvSpPr>
          <p:cNvPr id="271" name="D2R7time"/>
          <p:cNvSpPr/>
          <p:nvPr/>
        </p:nvSpPr>
        <p:spPr>
          <a:xfrm>
            <a:off x="4992624" y="3229968"/>
            <a:ext cx="658368" cy="219456"/>
          </a:xfrm>
          <a:prstGeom prst="rect">
            <a:avLst/>
          </a:prstGeom>
          <a:noFill/>
          <a:ln/>
        </p:spPr>
        <p:txBody>
          <a:bodyPr wrap="square" lIns="0" tIns="0" rIns="0" bIns="0" rtlCol="0" anchor="ctr"/>
          <a:lstStyle/>
          <a:p>
            <a:pPr marL="0" indent="0">
              <a:buNone/>
            </a:pPr>
            <a:r>
              <a:rPr lang="en-US" sz="1000" b="1" dirty="0">
                <a:solidFill>
                  <a:srgbClr val="00C4CC"/>
                </a:solidFill>
                <a:latin typeface="Calibri" pitchFamily="34" charset="0"/>
              </a:rPr>
              <a:t>17:00</a:t>
            </a:r>
          </a:p>
        </p:txBody>
      </p:sp>
      <p:sp>
        <p:nvSpPr>
          <p:cNvPr id="272" name="D2R7label"/>
          <p:cNvSpPr/>
          <p:nvPr/>
        </p:nvSpPr>
        <p:spPr>
          <a:xfrm>
            <a:off x="5705856" y="3229968"/>
            <a:ext cx="3355848" cy="219456"/>
          </a:xfrm>
          <a:prstGeom prst="rect">
            <a:avLst/>
          </a:prstGeom>
          <a:noFill/>
          <a:ln/>
        </p:spPr>
        <p:txBody>
          <a:bodyPr wrap="square" lIns="0" tIns="0" rIns="0" bIns="0" rtlCol="0" anchor="ctr"/>
          <a:lstStyle/>
          <a:p>
            <a:pPr marL="0" indent="0">
              <a:buNone/>
            </a:pPr>
            <a:r>
              <a:rPr lang="en-US" sz="1000" dirty="0">
                <a:solidFill>
                  <a:srgbClr val="6B7FA3"/>
                </a:solidFill>
                <a:latin typeface="Calibri" pitchFamily="34" charset="0"/>
              </a:rPr>
              <a:t>Close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457200" y="164592"/>
            <a:ext cx="6400800" cy="420624"/>
          </a:xfrm>
          <a:prstGeom prst="rect">
            <a:avLst/>
          </a:prstGeom>
          <a:noFill/>
          <a:ln/>
        </p:spPr>
        <p:txBody>
          <a:bodyPr wrap="square" lIns="0" tIns="0" rIns="0" bIns="0" rtlCol="0" anchor="ctr"/>
          <a:lstStyle/>
          <a:p>
            <a:pPr marL="0" indent="0">
              <a:buNone/>
            </a:pPr>
            <a:r>
              <a:rPr lang="en-US" sz="2800" b="1" dirty="0">
                <a:solidFill>
                  <a:srgbClr val="1A2744"/>
                </a:solidFill>
                <a:latin typeface="Trebuchet MS" pitchFamily="34" charset="0"/>
                <a:ea typeface="Trebuchet MS" pitchFamily="34" charset="-122"/>
                <a:cs typeface="Trebuchet MS" pitchFamily="34" charset="-120"/>
              </a:rPr>
              <a:t>Judging</a:t>
            </a:r>
            <a:endParaRPr lang="en-US" sz="2800" dirty="0"/>
          </a:p>
        </p:txBody>
      </p:sp>
      <p:sp>
        <p:nvSpPr>
          <p:cNvPr id="3" name="Text 1"/>
          <p:cNvSpPr/>
          <p:nvPr/>
        </p:nvSpPr>
        <p:spPr>
          <a:xfrm>
            <a:off x="457200" y="603504"/>
            <a:ext cx="8321040" cy="256032"/>
          </a:xfrm>
          <a:prstGeom prst="rect">
            <a:avLst/>
          </a:prstGeom>
          <a:noFill/>
          <a:ln/>
        </p:spPr>
        <p:txBody>
          <a:bodyPr wrap="square" lIns="0" tIns="0" rIns="0" bIns="0" rtlCol="0" anchor="ctr"/>
          <a:lstStyle/>
          <a:p>
            <a:pPr marL="0" indent="0">
              <a:buNone/>
            </a:pPr>
            <a:r>
              <a:rPr lang="en-US" sz="1200" dirty="0">
                <a:solidFill>
                  <a:srgbClr val="6B7FA3"/>
                </a:solidFill>
                <a:latin typeface="Calibri" pitchFamily="34" charset="0"/>
                <a:ea typeface="Calibri" pitchFamily="34" charset="-122"/>
                <a:cs typeface="Calibri" pitchFamily="34" charset="-120"/>
              </a:rPr>
              <a:t>Every team is assessed against all categories automatically. You can win one category, several, or the overall prize.</a:t>
            </a:r>
            <a:endParaRPr lang="en-US" sz="1200" dirty="0"/>
          </a:p>
        </p:txBody>
      </p:sp>
      <p:sp>
        <p:nvSpPr>
          <p:cNvPr id="4" name="Shape 2"/>
          <p:cNvSpPr/>
          <p:nvPr/>
        </p:nvSpPr>
        <p:spPr>
          <a:xfrm>
            <a:off x="256032" y="932688"/>
            <a:ext cx="8631936" cy="896112"/>
          </a:xfrm>
          <a:prstGeom prst="rect">
            <a:avLst/>
          </a:prstGeom>
          <a:solidFill>
            <a:srgbClr val="1A2744"/>
          </a:solidFill>
          <a:ln w="12700">
            <a:solidFill>
              <a:srgbClr val="1A2744"/>
            </a:solidFill>
            <a:prstDash val="solid"/>
          </a:ln>
          <a:effectLst>
            <a:outerShdw blurRad="101600" dist="25400" dir="8100000" algn="bl" rotWithShape="0">
              <a:srgbClr val="000000">
                <a:alpha val="11000"/>
              </a:srgbClr>
            </a:outerShdw>
          </a:effectLst>
        </p:spPr>
        <p:txBody>
          <a:bodyPr/>
          <a:lstStyle/>
          <a:p>
            <a:endParaRPr lang="en-US"/>
          </a:p>
        </p:txBody>
      </p:sp>
      <p:sp>
        <p:nvSpPr>
          <p:cNvPr id="5" name="Shape 3"/>
          <p:cNvSpPr/>
          <p:nvPr/>
        </p:nvSpPr>
        <p:spPr>
          <a:xfrm>
            <a:off x="256032" y="932688"/>
            <a:ext cx="91440" cy="896112"/>
          </a:xfrm>
          <a:prstGeom prst="rect">
            <a:avLst/>
          </a:prstGeom>
          <a:solidFill>
            <a:srgbClr val="00C4CC"/>
          </a:solidFill>
          <a:ln w="12700">
            <a:solidFill>
              <a:srgbClr val="00C4CC"/>
            </a:solidFill>
            <a:prstDash val="solid"/>
          </a:ln>
        </p:spPr>
        <p:txBody>
          <a:bodyPr/>
          <a:lstStyle/>
          <a:p>
            <a:endParaRPr lang="en-US"/>
          </a:p>
        </p:txBody>
      </p:sp>
      <p:sp>
        <p:nvSpPr>
          <p:cNvPr id="6" name="Shape 4"/>
          <p:cNvSpPr/>
          <p:nvPr/>
        </p:nvSpPr>
        <p:spPr>
          <a:xfrm>
            <a:off x="475488" y="1024128"/>
            <a:ext cx="658368" cy="658368"/>
          </a:xfrm>
          <a:prstGeom prst="ellipse">
            <a:avLst/>
          </a:prstGeom>
          <a:solidFill>
            <a:srgbClr val="0D3A52"/>
          </a:solidFill>
          <a:ln w="12700">
            <a:solidFill>
              <a:srgbClr val="00C4CC"/>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85216" y="1133856"/>
            <a:ext cx="438912" cy="438912"/>
          </a:xfrm>
          <a:prstGeom prst="rect">
            <a:avLst/>
          </a:prstGeom>
        </p:spPr>
      </p:pic>
      <p:sp>
        <p:nvSpPr>
          <p:cNvPr id="8" name="Text 5"/>
          <p:cNvSpPr/>
          <p:nvPr/>
        </p:nvSpPr>
        <p:spPr>
          <a:xfrm>
            <a:off x="1298448" y="969264"/>
            <a:ext cx="4114800" cy="347472"/>
          </a:xfrm>
          <a:prstGeom prst="rect">
            <a:avLst/>
          </a:prstGeom>
          <a:noFill/>
          <a:ln/>
        </p:spPr>
        <p:txBody>
          <a:bodyPr wrap="square" lIns="0" tIns="0" rIns="0" bIns="0" rtlCol="0" anchor="ctr"/>
          <a:lstStyle/>
          <a:p>
            <a:pPr marL="0" indent="0">
              <a:buNone/>
            </a:pPr>
            <a:r>
              <a:rPr lang="en-US" sz="1800" b="1" dirty="0">
                <a:solidFill>
                  <a:srgbClr val="00C4CC"/>
                </a:solidFill>
                <a:latin typeface="Trebuchet MS" pitchFamily="34" charset="0"/>
                <a:ea typeface="Trebuchet MS" pitchFamily="34" charset="-122"/>
                <a:cs typeface="Trebuchet MS" pitchFamily="34" charset="-120"/>
              </a:rPr>
              <a:t>Best in Show</a:t>
            </a:r>
            <a:endParaRPr lang="en-US" sz="1800" dirty="0"/>
          </a:p>
        </p:txBody>
      </p:sp>
      <p:sp>
        <p:nvSpPr>
          <p:cNvPr id="9" name="Text 6"/>
          <p:cNvSpPr/>
          <p:nvPr/>
        </p:nvSpPr>
        <p:spPr>
          <a:xfrm>
            <a:off x="1298448" y="1335024"/>
            <a:ext cx="5120640" cy="292608"/>
          </a:xfrm>
          <a:prstGeom prst="rect">
            <a:avLst/>
          </a:prstGeom>
          <a:noFill/>
          <a:ln/>
        </p:spPr>
        <p:txBody>
          <a:bodyPr wrap="square" lIns="0" tIns="0" rIns="0" bIns="0" rtlCol="0" anchor="ctr"/>
          <a:lstStyle/>
          <a:p>
            <a:pPr marL="0" indent="0">
              <a:buNone/>
            </a:pPr>
            <a:r>
              <a:rPr lang="en-US" sz="1100" dirty="0">
                <a:solidFill>
                  <a:srgbClr val="A8B8D8"/>
                </a:solidFill>
                <a:latin typeface="Calibri" pitchFamily="34" charset="0"/>
                <a:ea typeface="Calibri" pitchFamily="34" charset="-122"/>
                <a:cs typeface="Calibri" pitchFamily="34" charset="-120"/>
              </a:rPr>
              <a:t>Overall winner — highest combined score across all categories. Winning ideas are pooled into a requirements specification for a future enterprise-grade implementation.</a:t>
            </a:r>
            <a:endParaRPr lang="en-US" sz="1100" dirty="0"/>
          </a:p>
        </p:txBody>
      </p:sp>
      <p:sp>
        <p:nvSpPr>
          <p:cNvPr id="10" name="Shape 7"/>
          <p:cNvSpPr/>
          <p:nvPr/>
        </p:nvSpPr>
        <p:spPr>
          <a:xfrm>
            <a:off x="6675120" y="1097280"/>
            <a:ext cx="2011680" cy="384048"/>
          </a:xfrm>
          <a:prstGeom prst="rect">
            <a:avLst/>
          </a:prstGeom>
          <a:solidFill>
            <a:srgbClr val="0D3A52"/>
          </a:solidFill>
          <a:ln w="12700">
            <a:solidFill>
              <a:srgbClr val="00C4CC"/>
            </a:solidFill>
            <a:prstDash val="solid"/>
          </a:ln>
        </p:spPr>
        <p:txBody>
          <a:bodyPr/>
          <a:lstStyle/>
          <a:p>
            <a:endParaRPr lang="en-US"/>
          </a:p>
        </p:txBody>
      </p:sp>
      <p:sp>
        <p:nvSpPr>
          <p:cNvPr id="11" name="Text 8"/>
          <p:cNvSpPr/>
          <p:nvPr/>
        </p:nvSpPr>
        <p:spPr>
          <a:xfrm>
            <a:off x="6675120" y="1097280"/>
            <a:ext cx="2011680" cy="384048"/>
          </a:xfrm>
          <a:prstGeom prst="rect">
            <a:avLst/>
          </a:prstGeom>
          <a:noFill/>
          <a:ln/>
        </p:spPr>
        <p:txBody>
          <a:bodyPr wrap="square" lIns="0" tIns="0" rIns="0" bIns="0" rtlCol="0" anchor="ctr"/>
          <a:lstStyle/>
          <a:p>
            <a:pPr marL="0" indent="0" algn="ctr">
              <a:buNone/>
            </a:pPr>
            <a:r>
              <a:rPr lang="en-US" sz="950" b="1" dirty="0">
                <a:solidFill>
                  <a:srgbClr val="00C4CC"/>
                </a:solidFill>
                <a:latin typeface="Calibri" pitchFamily="34" charset="0"/>
                <a:ea typeface="Calibri" pitchFamily="34" charset="-122"/>
                <a:cs typeface="Calibri" pitchFamily="34" charset="-120"/>
              </a:rPr>
              <a:t>🏆  Winning team members each receive £50 in game changer points</a:t>
            </a:r>
            <a:endParaRPr lang="en-US" sz="950" dirty="0"/>
          </a:p>
        </p:txBody>
      </p:sp>
      <p:sp>
        <p:nvSpPr>
          <p:cNvPr id="12" name="Text 9"/>
          <p:cNvSpPr/>
          <p:nvPr/>
        </p:nvSpPr>
        <p:spPr>
          <a:xfrm>
            <a:off x="256032" y="2177978"/>
            <a:ext cx="1664208" cy="237744"/>
          </a:xfrm>
          <a:prstGeom prst="rect">
            <a:avLst/>
          </a:prstGeom>
          <a:noFill/>
          <a:ln/>
        </p:spPr>
        <p:txBody>
          <a:bodyPr wrap="square" lIns="0" tIns="0" rIns="0" bIns="0" rtlCol="0" anchor="ctr"/>
          <a:lstStyle/>
          <a:p>
            <a:pPr marL="0" indent="0">
              <a:buNone/>
            </a:pPr>
            <a:r>
              <a:rPr lang="en-US" sz="850" b="1" kern="0" spc="200" dirty="0">
                <a:solidFill>
                  <a:srgbClr val="6B7FA3"/>
                </a:solidFill>
                <a:latin typeface="Trebuchet MS" pitchFamily="34" charset="0"/>
                <a:ea typeface="Trebuchet MS" pitchFamily="34" charset="-122"/>
                <a:cs typeface="Trebuchet MS" pitchFamily="34" charset="-120"/>
              </a:rPr>
              <a:t>JUDGING CATEGORIES</a:t>
            </a:r>
            <a:endParaRPr lang="en-US" sz="850" dirty="0"/>
          </a:p>
        </p:txBody>
      </p:sp>
      <p:sp>
        <p:nvSpPr>
          <p:cNvPr id="14" name="Shape 11"/>
          <p:cNvSpPr/>
          <p:nvPr/>
        </p:nvSpPr>
        <p:spPr>
          <a:xfrm>
            <a:off x="256032" y="2461442"/>
            <a:ext cx="1664208" cy="219456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15" name="Shape 12"/>
          <p:cNvSpPr/>
          <p:nvPr/>
        </p:nvSpPr>
        <p:spPr>
          <a:xfrm>
            <a:off x="256032" y="2461442"/>
            <a:ext cx="1664208" cy="73152"/>
          </a:xfrm>
          <a:prstGeom prst="rect">
            <a:avLst/>
          </a:prstGeom>
          <a:solidFill>
            <a:srgbClr val="00C4CC"/>
          </a:solidFill>
          <a:ln w="12700">
            <a:solidFill>
              <a:srgbClr val="00C4CC"/>
            </a:solidFill>
            <a:prstDash val="solid"/>
          </a:ln>
        </p:spPr>
        <p:txBody>
          <a:bodyPr/>
          <a:lstStyle/>
          <a:p>
            <a:endParaRPr lang="en-US"/>
          </a:p>
        </p:txBody>
      </p:sp>
      <p:sp>
        <p:nvSpPr>
          <p:cNvPr id="18" name="Shape 15"/>
          <p:cNvSpPr/>
          <p:nvPr/>
        </p:nvSpPr>
        <p:spPr>
          <a:xfrm>
            <a:off x="795528" y="2936930"/>
            <a:ext cx="585216" cy="585216"/>
          </a:xfrm>
          <a:prstGeom prst="ellipse">
            <a:avLst/>
          </a:prstGeom>
          <a:solidFill>
            <a:srgbClr val="E0F6F7"/>
          </a:solidFill>
          <a:ln w="12700">
            <a:solidFill>
              <a:srgbClr val="B5E8EA"/>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886968" y="3028370"/>
            <a:ext cx="402336" cy="402336"/>
          </a:xfrm>
          <a:prstGeom prst="rect">
            <a:avLst/>
          </a:prstGeom>
        </p:spPr>
      </p:pic>
      <p:sp>
        <p:nvSpPr>
          <p:cNvPr id="20" name="Text 16"/>
          <p:cNvSpPr/>
          <p:nvPr/>
        </p:nvSpPr>
        <p:spPr>
          <a:xfrm>
            <a:off x="329184" y="3613586"/>
            <a:ext cx="1517904" cy="475488"/>
          </a:xfrm>
          <a:prstGeom prst="rect">
            <a:avLst/>
          </a:prstGeom>
          <a:noFill/>
          <a:ln/>
        </p:spPr>
        <p:txBody>
          <a:bodyPr wrap="square" lIns="0" tIns="0" rIns="0" bIns="0" rtlCol="0" anchor="ctr"/>
          <a:lstStyle/>
          <a:p>
            <a:pPr marL="0" indent="0" algn="ctr">
              <a:buNone/>
            </a:pPr>
            <a:r>
              <a:rPr lang="en-US" sz="1050" b="1" dirty="0">
                <a:solidFill>
                  <a:srgbClr val="1A2744"/>
                </a:solidFill>
                <a:latin typeface="Trebuchet MS" pitchFamily="34" charset="0"/>
                <a:ea typeface="Trebuchet MS" pitchFamily="34" charset="-122"/>
                <a:cs typeface="Trebuchet MS" pitchFamily="34" charset="-120"/>
              </a:rPr>
              <a:t>Best Demo</a:t>
            </a:r>
            <a:endParaRPr lang="en-US" sz="1050" dirty="0"/>
          </a:p>
        </p:txBody>
      </p:sp>
      <p:sp>
        <p:nvSpPr>
          <p:cNvPr id="21" name="Text 17"/>
          <p:cNvSpPr/>
          <p:nvPr/>
        </p:nvSpPr>
        <p:spPr>
          <a:xfrm>
            <a:off x="329184" y="4125650"/>
            <a:ext cx="1517904" cy="475488"/>
          </a:xfrm>
          <a:prstGeom prst="rect">
            <a:avLst/>
          </a:prstGeom>
          <a:noFill/>
          <a:ln/>
        </p:spPr>
        <p:txBody>
          <a:bodyPr wrap="square" rtlCol="0" anchor="ctr"/>
          <a:lstStyle/>
          <a:p>
            <a:pPr marL="0" indent="0" algn="ctr">
              <a:buNone/>
            </a:pPr>
            <a:r>
              <a:rPr lang="en-US" sz="850" dirty="0">
                <a:solidFill>
                  <a:srgbClr val="6B7FA3"/>
                </a:solidFill>
                <a:latin typeface="Calibri" pitchFamily="34" charset="0"/>
                <a:ea typeface="Calibri" pitchFamily="34" charset="-122"/>
                <a:cs typeface="Calibri" pitchFamily="34" charset="-120"/>
              </a:rPr>
              <a:t>Working prototype, shown live, with supporting artifacts and story</a:t>
            </a:r>
            <a:endParaRPr lang="en-US" sz="850" dirty="0"/>
          </a:p>
        </p:txBody>
      </p:sp>
      <p:sp>
        <p:nvSpPr>
          <p:cNvPr id="22" name="Shape 18"/>
          <p:cNvSpPr/>
          <p:nvPr/>
        </p:nvSpPr>
        <p:spPr>
          <a:xfrm>
            <a:off x="1975104" y="2461442"/>
            <a:ext cx="1664208" cy="219456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23" name="Shape 19"/>
          <p:cNvSpPr/>
          <p:nvPr/>
        </p:nvSpPr>
        <p:spPr>
          <a:xfrm>
            <a:off x="1975104" y="2461442"/>
            <a:ext cx="1664208" cy="73152"/>
          </a:xfrm>
          <a:prstGeom prst="rect">
            <a:avLst/>
          </a:prstGeom>
          <a:solidFill>
            <a:srgbClr val="00C4CC"/>
          </a:solidFill>
          <a:ln w="12700">
            <a:solidFill>
              <a:srgbClr val="00C4CC"/>
            </a:solidFill>
            <a:prstDash val="solid"/>
          </a:ln>
        </p:spPr>
        <p:txBody>
          <a:bodyPr/>
          <a:lstStyle/>
          <a:p>
            <a:endParaRPr lang="en-US"/>
          </a:p>
        </p:txBody>
      </p:sp>
      <p:sp>
        <p:nvSpPr>
          <p:cNvPr id="26" name="Shape 22"/>
          <p:cNvSpPr/>
          <p:nvPr/>
        </p:nvSpPr>
        <p:spPr>
          <a:xfrm>
            <a:off x="2514600" y="2936930"/>
            <a:ext cx="585216" cy="585216"/>
          </a:xfrm>
          <a:prstGeom prst="ellipse">
            <a:avLst/>
          </a:prstGeom>
          <a:solidFill>
            <a:srgbClr val="E0F6F7"/>
          </a:solidFill>
          <a:ln w="12700">
            <a:solidFill>
              <a:srgbClr val="B5E8EA"/>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2606040" y="3028370"/>
            <a:ext cx="402336" cy="402336"/>
          </a:xfrm>
          <a:prstGeom prst="rect">
            <a:avLst/>
          </a:prstGeom>
        </p:spPr>
      </p:pic>
      <p:sp>
        <p:nvSpPr>
          <p:cNvPr id="28" name="Text 23"/>
          <p:cNvSpPr/>
          <p:nvPr/>
        </p:nvSpPr>
        <p:spPr>
          <a:xfrm>
            <a:off x="2048256" y="3613586"/>
            <a:ext cx="1517904" cy="475488"/>
          </a:xfrm>
          <a:prstGeom prst="rect">
            <a:avLst/>
          </a:prstGeom>
          <a:noFill/>
          <a:ln/>
        </p:spPr>
        <p:txBody>
          <a:bodyPr wrap="square" lIns="0" tIns="0" rIns="0" bIns="0" rtlCol="0" anchor="ctr"/>
          <a:lstStyle/>
          <a:p>
            <a:pPr marL="0" indent="0" algn="ctr">
              <a:buNone/>
            </a:pPr>
            <a:r>
              <a:rPr lang="en-US" sz="1050" b="1" dirty="0">
                <a:solidFill>
                  <a:srgbClr val="1A2744"/>
                </a:solidFill>
                <a:latin typeface="Trebuchet MS" pitchFamily="34" charset="0"/>
                <a:ea typeface="Trebuchet MS" pitchFamily="34" charset="-122"/>
                <a:cs typeface="Trebuchet MS" pitchFamily="34" charset="-120"/>
              </a:rPr>
              <a:t>Best Technical Approach</a:t>
            </a:r>
            <a:endParaRPr lang="en-US" sz="1050" dirty="0"/>
          </a:p>
        </p:txBody>
      </p:sp>
      <p:sp>
        <p:nvSpPr>
          <p:cNvPr id="29" name="Text 24"/>
          <p:cNvSpPr/>
          <p:nvPr/>
        </p:nvSpPr>
        <p:spPr>
          <a:xfrm>
            <a:off x="2048256" y="4125650"/>
            <a:ext cx="1517904" cy="475488"/>
          </a:xfrm>
          <a:prstGeom prst="rect">
            <a:avLst/>
          </a:prstGeom>
          <a:noFill/>
          <a:ln/>
        </p:spPr>
        <p:txBody>
          <a:bodyPr wrap="square" rtlCol="0" anchor="ctr"/>
          <a:lstStyle/>
          <a:p>
            <a:pPr algn="ctr"/>
            <a:r>
              <a:rPr lang="en-US" sz="850" dirty="0">
                <a:solidFill>
                  <a:srgbClr val="6B7FA3"/>
                </a:solidFill>
                <a:latin typeface="Calibri" pitchFamily="34" charset="0"/>
                <a:ea typeface="Calibri" pitchFamily="34" charset="-122"/>
                <a:cs typeface="Calibri" pitchFamily="34" charset="-120"/>
              </a:rPr>
              <a:t>Sound architecture, defensible technology choices, clear path to productionizing</a:t>
            </a:r>
            <a:endParaRPr lang="en-US" sz="850" dirty="0"/>
          </a:p>
        </p:txBody>
      </p:sp>
      <p:sp>
        <p:nvSpPr>
          <p:cNvPr id="30" name="Shape 25"/>
          <p:cNvSpPr/>
          <p:nvPr/>
        </p:nvSpPr>
        <p:spPr>
          <a:xfrm>
            <a:off x="3694176" y="2461442"/>
            <a:ext cx="1664208" cy="219456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31" name="Shape 26"/>
          <p:cNvSpPr/>
          <p:nvPr/>
        </p:nvSpPr>
        <p:spPr>
          <a:xfrm>
            <a:off x="3694176" y="2461442"/>
            <a:ext cx="1664208" cy="73152"/>
          </a:xfrm>
          <a:prstGeom prst="rect">
            <a:avLst/>
          </a:prstGeom>
          <a:solidFill>
            <a:srgbClr val="00C4CC"/>
          </a:solidFill>
          <a:ln w="12700">
            <a:solidFill>
              <a:srgbClr val="00C4CC"/>
            </a:solidFill>
            <a:prstDash val="solid"/>
          </a:ln>
        </p:spPr>
        <p:txBody>
          <a:bodyPr/>
          <a:lstStyle/>
          <a:p>
            <a:endParaRPr lang="en-US"/>
          </a:p>
        </p:txBody>
      </p:sp>
      <p:sp>
        <p:nvSpPr>
          <p:cNvPr id="34" name="Shape 29"/>
          <p:cNvSpPr/>
          <p:nvPr/>
        </p:nvSpPr>
        <p:spPr>
          <a:xfrm>
            <a:off x="4233672" y="2936930"/>
            <a:ext cx="585216" cy="585216"/>
          </a:xfrm>
          <a:prstGeom prst="ellipse">
            <a:avLst/>
          </a:prstGeom>
          <a:solidFill>
            <a:srgbClr val="E0F6F7"/>
          </a:solidFill>
          <a:ln w="12700">
            <a:solidFill>
              <a:srgbClr val="B5E8EA"/>
            </a:solidFill>
            <a:prstDash val="solid"/>
          </a:ln>
        </p:spPr>
        <p:txBody>
          <a:bodyPr/>
          <a:lstStyle/>
          <a:p>
            <a:endParaRPr lang="en-US"/>
          </a:p>
        </p:txBody>
      </p:sp>
      <p:pic>
        <p:nvPicPr>
          <p:cNvPr id="35" name="Image 3" descr="preencoded.png"/>
          <p:cNvPicPr>
            <a:picLocks noChangeAspect="1"/>
          </p:cNvPicPr>
          <p:nvPr/>
        </p:nvPicPr>
        <p:blipFill>
          <a:blip r:embed="rId6"/>
          <a:stretch>
            <a:fillRect/>
          </a:stretch>
        </p:blipFill>
        <p:spPr>
          <a:xfrm>
            <a:off x="4325112" y="3028370"/>
            <a:ext cx="402336" cy="402336"/>
          </a:xfrm>
          <a:prstGeom prst="rect">
            <a:avLst/>
          </a:prstGeom>
        </p:spPr>
      </p:pic>
      <p:sp>
        <p:nvSpPr>
          <p:cNvPr id="36" name="Text 30"/>
          <p:cNvSpPr/>
          <p:nvPr/>
        </p:nvSpPr>
        <p:spPr>
          <a:xfrm>
            <a:off x="3767328" y="3613586"/>
            <a:ext cx="1517904" cy="475488"/>
          </a:xfrm>
          <a:prstGeom prst="rect">
            <a:avLst/>
          </a:prstGeom>
          <a:noFill/>
          <a:ln/>
        </p:spPr>
        <p:txBody>
          <a:bodyPr wrap="square" lIns="0" tIns="0" rIns="0" bIns="0" rtlCol="0" anchor="ctr"/>
          <a:lstStyle/>
          <a:p>
            <a:pPr marL="0" indent="0" algn="ctr">
              <a:buNone/>
            </a:pPr>
            <a:r>
              <a:rPr lang="en-US" sz="1050" b="1" dirty="0">
                <a:solidFill>
                  <a:srgbClr val="1A2744"/>
                </a:solidFill>
                <a:latin typeface="Trebuchet MS" pitchFamily="34" charset="0"/>
                <a:ea typeface="Trebuchet MS" pitchFamily="34" charset="-122"/>
                <a:cs typeface="Trebuchet MS" pitchFamily="34" charset="-120"/>
              </a:rPr>
              <a:t>Best UX</a:t>
            </a:r>
            <a:endParaRPr lang="en-US" sz="1050" dirty="0"/>
          </a:p>
        </p:txBody>
      </p:sp>
      <p:sp>
        <p:nvSpPr>
          <p:cNvPr id="37" name="Text 31"/>
          <p:cNvSpPr/>
          <p:nvPr/>
        </p:nvSpPr>
        <p:spPr>
          <a:xfrm>
            <a:off x="3767328" y="4125650"/>
            <a:ext cx="1517904" cy="475488"/>
          </a:xfrm>
          <a:prstGeom prst="rect">
            <a:avLst/>
          </a:prstGeom>
          <a:noFill/>
          <a:ln/>
        </p:spPr>
        <p:txBody>
          <a:bodyPr wrap="square" rtlCol="0" anchor="ctr"/>
          <a:lstStyle/>
          <a:p>
            <a:pPr marL="0" indent="0" algn="ctr">
              <a:buNone/>
            </a:pPr>
            <a:r>
              <a:rPr lang="en-US" sz="850" dirty="0">
                <a:solidFill>
                  <a:srgbClr val="6B7FA3"/>
                </a:solidFill>
                <a:latin typeface="Calibri" pitchFamily="34" charset="0"/>
                <a:ea typeface="Calibri" pitchFamily="34" charset="-122"/>
                <a:cs typeface="Calibri" pitchFamily="34" charset="-120"/>
              </a:rPr>
              <a:t>A non-technical person understands your solution intuitively. User journey’s are clear</a:t>
            </a:r>
            <a:endParaRPr lang="en-US" sz="850" dirty="0"/>
          </a:p>
        </p:txBody>
      </p:sp>
      <p:sp>
        <p:nvSpPr>
          <p:cNvPr id="38" name="Shape 32"/>
          <p:cNvSpPr/>
          <p:nvPr/>
        </p:nvSpPr>
        <p:spPr>
          <a:xfrm>
            <a:off x="5413248" y="2461442"/>
            <a:ext cx="1664208" cy="219456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39" name="Shape 33"/>
          <p:cNvSpPr/>
          <p:nvPr/>
        </p:nvSpPr>
        <p:spPr>
          <a:xfrm>
            <a:off x="5413248" y="2461442"/>
            <a:ext cx="1664208" cy="73152"/>
          </a:xfrm>
          <a:prstGeom prst="rect">
            <a:avLst/>
          </a:prstGeom>
          <a:solidFill>
            <a:srgbClr val="00C4CC"/>
          </a:solidFill>
          <a:ln w="12700">
            <a:solidFill>
              <a:srgbClr val="00C4CC"/>
            </a:solidFill>
            <a:prstDash val="solid"/>
          </a:ln>
        </p:spPr>
        <p:txBody>
          <a:bodyPr/>
          <a:lstStyle/>
          <a:p>
            <a:endParaRPr lang="en-US"/>
          </a:p>
        </p:txBody>
      </p:sp>
      <p:sp>
        <p:nvSpPr>
          <p:cNvPr id="42" name="Shape 36"/>
          <p:cNvSpPr/>
          <p:nvPr/>
        </p:nvSpPr>
        <p:spPr>
          <a:xfrm>
            <a:off x="5952744" y="2936930"/>
            <a:ext cx="585216" cy="585216"/>
          </a:xfrm>
          <a:prstGeom prst="ellipse">
            <a:avLst/>
          </a:prstGeom>
          <a:solidFill>
            <a:srgbClr val="E0F6F7"/>
          </a:solidFill>
          <a:ln w="12700">
            <a:solidFill>
              <a:srgbClr val="B5E8EA"/>
            </a:solidFill>
            <a:prstDash val="solid"/>
          </a:ln>
        </p:spPr>
        <p:txBody>
          <a:bodyPr/>
          <a:lstStyle/>
          <a:p>
            <a:endParaRPr lang="en-US"/>
          </a:p>
        </p:txBody>
      </p:sp>
      <p:pic>
        <p:nvPicPr>
          <p:cNvPr id="43" name="Image 4" descr="preencoded.png"/>
          <p:cNvPicPr>
            <a:picLocks noChangeAspect="1"/>
          </p:cNvPicPr>
          <p:nvPr/>
        </p:nvPicPr>
        <p:blipFill>
          <a:blip r:embed="rId7"/>
          <a:stretch>
            <a:fillRect/>
          </a:stretch>
        </p:blipFill>
        <p:spPr>
          <a:xfrm>
            <a:off x="6044184" y="3028370"/>
            <a:ext cx="402336" cy="402336"/>
          </a:xfrm>
          <a:prstGeom prst="rect">
            <a:avLst/>
          </a:prstGeom>
        </p:spPr>
      </p:pic>
      <p:sp>
        <p:nvSpPr>
          <p:cNvPr id="44" name="Text 37"/>
          <p:cNvSpPr/>
          <p:nvPr/>
        </p:nvSpPr>
        <p:spPr>
          <a:xfrm>
            <a:off x="5486400" y="3613586"/>
            <a:ext cx="1517904" cy="475488"/>
          </a:xfrm>
          <a:prstGeom prst="rect">
            <a:avLst/>
          </a:prstGeom>
          <a:noFill/>
          <a:ln/>
        </p:spPr>
        <p:txBody>
          <a:bodyPr wrap="square" lIns="0" tIns="0" rIns="0" bIns="0" rtlCol="0" anchor="ctr"/>
          <a:lstStyle/>
          <a:p>
            <a:pPr marL="0" indent="0" algn="ctr">
              <a:buNone/>
            </a:pPr>
            <a:r>
              <a:rPr lang="en-US" sz="1050" b="1" dirty="0">
                <a:solidFill>
                  <a:srgbClr val="1A2744"/>
                </a:solidFill>
                <a:latin typeface="Trebuchet MS" pitchFamily="34" charset="0"/>
                <a:ea typeface="Trebuchet MS" pitchFamily="34" charset="-122"/>
                <a:cs typeface="Trebuchet MS" pitchFamily="34" charset="-120"/>
              </a:rPr>
              <a:t>Best Feature Fit</a:t>
            </a:r>
            <a:endParaRPr lang="en-US" sz="1050" dirty="0"/>
          </a:p>
        </p:txBody>
      </p:sp>
      <p:sp>
        <p:nvSpPr>
          <p:cNvPr id="45" name="Text 38"/>
          <p:cNvSpPr/>
          <p:nvPr/>
        </p:nvSpPr>
        <p:spPr>
          <a:xfrm>
            <a:off x="5486400" y="4125650"/>
            <a:ext cx="1517904" cy="475488"/>
          </a:xfrm>
          <a:prstGeom prst="rect">
            <a:avLst/>
          </a:prstGeom>
          <a:noFill/>
          <a:ln/>
        </p:spPr>
        <p:txBody>
          <a:bodyPr wrap="square" rtlCol="0" anchor="ctr"/>
          <a:lstStyle/>
          <a:p>
            <a:pPr marL="0" indent="0" algn="ctr">
              <a:buNone/>
            </a:pPr>
            <a:r>
              <a:rPr lang="en-US" sz="850" dirty="0">
                <a:solidFill>
                  <a:srgbClr val="6B7FA3"/>
                </a:solidFill>
                <a:latin typeface="Calibri" pitchFamily="34" charset="0"/>
                <a:ea typeface="Calibri" pitchFamily="34" charset="-122"/>
                <a:cs typeface="Calibri" pitchFamily="34" charset="-120"/>
              </a:rPr>
              <a:t>Feature choices map clearly to the problem space. The team built what mattered, not just what was obvious.</a:t>
            </a:r>
            <a:endParaRPr lang="en-US" sz="850" dirty="0"/>
          </a:p>
        </p:txBody>
      </p:sp>
      <p:sp>
        <p:nvSpPr>
          <p:cNvPr id="46" name="Shape 39"/>
          <p:cNvSpPr/>
          <p:nvPr/>
        </p:nvSpPr>
        <p:spPr>
          <a:xfrm>
            <a:off x="7132320" y="2461442"/>
            <a:ext cx="1664208" cy="2194560"/>
          </a:xfrm>
          <a:prstGeom prst="rect">
            <a:avLst/>
          </a:prstGeom>
          <a:solidFill>
            <a:srgbClr val="FFFFFF"/>
          </a:solidFill>
          <a:ln w="12700">
            <a:solidFill>
              <a:srgbClr val="DDE6F5"/>
            </a:solidFill>
            <a:prstDash val="solid"/>
          </a:ln>
          <a:effectLst>
            <a:outerShdw blurRad="101600" dist="25400" dir="8100000" algn="bl" rotWithShape="0">
              <a:srgbClr val="000000">
                <a:alpha val="11000"/>
              </a:srgbClr>
            </a:outerShdw>
          </a:effectLst>
        </p:spPr>
        <p:txBody>
          <a:bodyPr/>
          <a:lstStyle/>
          <a:p>
            <a:endParaRPr lang="en-US"/>
          </a:p>
        </p:txBody>
      </p:sp>
      <p:sp>
        <p:nvSpPr>
          <p:cNvPr id="47" name="Shape 40"/>
          <p:cNvSpPr/>
          <p:nvPr/>
        </p:nvSpPr>
        <p:spPr>
          <a:xfrm>
            <a:off x="7132320" y="2461442"/>
            <a:ext cx="1664208" cy="73152"/>
          </a:xfrm>
          <a:prstGeom prst="rect">
            <a:avLst/>
          </a:prstGeom>
          <a:solidFill>
            <a:srgbClr val="00C4CC"/>
          </a:solidFill>
          <a:ln w="12700">
            <a:solidFill>
              <a:srgbClr val="00C4CC"/>
            </a:solidFill>
            <a:prstDash val="solid"/>
          </a:ln>
        </p:spPr>
        <p:txBody>
          <a:bodyPr/>
          <a:lstStyle/>
          <a:p>
            <a:endParaRPr lang="en-US"/>
          </a:p>
        </p:txBody>
      </p:sp>
      <p:sp>
        <p:nvSpPr>
          <p:cNvPr id="50" name="Shape 43"/>
          <p:cNvSpPr/>
          <p:nvPr/>
        </p:nvSpPr>
        <p:spPr>
          <a:xfrm>
            <a:off x="7671816" y="2936930"/>
            <a:ext cx="585216" cy="585216"/>
          </a:xfrm>
          <a:prstGeom prst="ellipse">
            <a:avLst/>
          </a:prstGeom>
          <a:solidFill>
            <a:srgbClr val="E0F6F7"/>
          </a:solidFill>
          <a:ln w="12700">
            <a:solidFill>
              <a:srgbClr val="B5E8EA"/>
            </a:solidFill>
            <a:prstDash val="solid"/>
          </a:ln>
        </p:spPr>
        <p:txBody>
          <a:bodyPr/>
          <a:lstStyle/>
          <a:p>
            <a:endParaRPr lang="en-US"/>
          </a:p>
        </p:txBody>
      </p:sp>
      <p:pic>
        <p:nvPicPr>
          <p:cNvPr id="51" name="Image 5" descr="preencoded.png"/>
          <p:cNvPicPr>
            <a:picLocks noChangeAspect="1"/>
          </p:cNvPicPr>
          <p:nvPr/>
        </p:nvPicPr>
        <p:blipFill>
          <a:blip r:embed="rId8"/>
          <a:stretch>
            <a:fillRect/>
          </a:stretch>
        </p:blipFill>
        <p:spPr>
          <a:xfrm>
            <a:off x="7763256" y="3028370"/>
            <a:ext cx="402336" cy="402336"/>
          </a:xfrm>
          <a:prstGeom prst="rect">
            <a:avLst/>
          </a:prstGeom>
        </p:spPr>
      </p:pic>
      <p:sp>
        <p:nvSpPr>
          <p:cNvPr id="52" name="Text 44"/>
          <p:cNvSpPr/>
          <p:nvPr/>
        </p:nvSpPr>
        <p:spPr>
          <a:xfrm>
            <a:off x="7205472" y="3613586"/>
            <a:ext cx="1517904" cy="475488"/>
          </a:xfrm>
          <a:prstGeom prst="rect">
            <a:avLst/>
          </a:prstGeom>
          <a:noFill/>
          <a:ln/>
        </p:spPr>
        <p:txBody>
          <a:bodyPr wrap="square" lIns="0" tIns="0" rIns="0" bIns="0" rtlCol="0" anchor="ctr"/>
          <a:lstStyle/>
          <a:p>
            <a:pPr marL="0" indent="0" algn="ctr">
              <a:buNone/>
            </a:pPr>
            <a:r>
              <a:rPr lang="en-US" sz="1050" b="1" dirty="0">
                <a:solidFill>
                  <a:srgbClr val="1A2744"/>
                </a:solidFill>
                <a:latin typeface="Trebuchet MS" pitchFamily="34" charset="0"/>
                <a:ea typeface="Trebuchet MS" pitchFamily="34" charset="-122"/>
                <a:cs typeface="Trebuchet MS" pitchFamily="34" charset="-120"/>
              </a:rPr>
              <a:t>Most Innovative</a:t>
            </a:r>
            <a:endParaRPr lang="en-US" sz="1050" dirty="0"/>
          </a:p>
        </p:txBody>
      </p:sp>
      <p:sp>
        <p:nvSpPr>
          <p:cNvPr id="53" name="Text 45"/>
          <p:cNvSpPr/>
          <p:nvPr/>
        </p:nvSpPr>
        <p:spPr>
          <a:xfrm>
            <a:off x="7205472" y="4125650"/>
            <a:ext cx="1517904" cy="475488"/>
          </a:xfrm>
          <a:prstGeom prst="rect">
            <a:avLst/>
          </a:prstGeom>
          <a:noFill/>
          <a:ln/>
        </p:spPr>
        <p:txBody>
          <a:bodyPr wrap="square" rtlCol="0" anchor="ctr"/>
          <a:lstStyle/>
          <a:p>
            <a:pPr marL="0" indent="0" algn="ctr">
              <a:buNone/>
            </a:pPr>
            <a:r>
              <a:rPr lang="en-US" sz="850" dirty="0">
                <a:solidFill>
                  <a:srgbClr val="6B7FA3"/>
                </a:solidFill>
                <a:latin typeface="Calibri" pitchFamily="34" charset="0"/>
                <a:ea typeface="Calibri" pitchFamily="34" charset="-122"/>
                <a:cs typeface="Calibri" pitchFamily="34" charset="-120"/>
              </a:rPr>
              <a:t>Something unexpected — a side quest achieved, a clever idea, a wow moment.</a:t>
            </a:r>
            <a:endParaRPr lang="en-US" sz="850" dirty="0"/>
          </a:p>
        </p:txBody>
      </p:sp>
      <p:sp>
        <p:nvSpPr>
          <p:cNvPr id="54" name="Shape 46"/>
          <p:cNvSpPr/>
          <p:nvPr/>
        </p:nvSpPr>
        <p:spPr>
          <a:xfrm>
            <a:off x="256032" y="4692578"/>
            <a:ext cx="8631936" cy="256032"/>
          </a:xfrm>
          <a:prstGeom prst="rect">
            <a:avLst/>
          </a:prstGeom>
          <a:solidFill>
            <a:srgbClr val="1A2744"/>
          </a:solidFill>
          <a:ln w="12700">
            <a:solidFill>
              <a:srgbClr val="1A2744"/>
            </a:solidFill>
            <a:prstDash val="solid"/>
          </a:ln>
        </p:spPr>
        <p:txBody>
          <a:bodyPr/>
          <a:lstStyle/>
          <a:p>
            <a:endParaRPr lang="en-US"/>
          </a:p>
        </p:txBody>
      </p:sp>
      <p:sp>
        <p:nvSpPr>
          <p:cNvPr id="55" name="Text 47"/>
          <p:cNvSpPr/>
          <p:nvPr/>
        </p:nvSpPr>
        <p:spPr>
          <a:xfrm>
            <a:off x="347472" y="4692578"/>
            <a:ext cx="8449056" cy="256032"/>
          </a:xfrm>
          <a:prstGeom prst="rect">
            <a:avLst/>
          </a:prstGeom>
          <a:noFill/>
          <a:ln/>
        </p:spPr>
        <p:txBody>
          <a:bodyPr wrap="square" lIns="0" tIns="0" rIns="0" bIns="0" rtlCol="0" anchor="ctr"/>
          <a:lstStyle/>
          <a:p>
            <a:pPr marL="0" indent="0" algn="ctr">
              <a:buNone/>
            </a:pPr>
            <a:r>
              <a:rPr lang="en-US" sz="1000" i="1" dirty="0">
                <a:solidFill>
                  <a:srgbClr val="A8B8D8"/>
                </a:solidFill>
                <a:latin typeface="Calibri" pitchFamily="34" charset="0"/>
                <a:ea typeface="Calibri" pitchFamily="34" charset="-122"/>
                <a:cs typeface="Calibri" pitchFamily="34" charset="-120"/>
              </a:rPr>
              <a:t>Results announced at 16:30 on Day 2. Mixed panel — with product owners and engineering leads.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B8D28-B168-FDF3-F365-CCC5120C26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B5DC52-4EE7-6ECB-D62B-1A448F2EEFD1}"/>
              </a:ext>
            </a:extLst>
          </p:cNvPr>
          <p:cNvSpPr/>
          <p:nvPr/>
        </p:nvSpPr>
        <p:spPr>
          <a:xfrm>
            <a:off x="0" y="0"/>
            <a:ext cx="9144000" cy="621792"/>
          </a:xfrm>
          <a:prstGeom prst="rect">
            <a:avLst/>
          </a:prstGeom>
          <a:solidFill>
            <a:srgbClr val="1A2744"/>
          </a:solidFill>
          <a:ln w="12700">
            <a:solidFill>
              <a:srgbClr val="1A2744"/>
            </a:solidFill>
            <a:prstDash val="solid"/>
          </a:ln>
        </p:spPr>
        <p:txBody>
          <a:bodyPr/>
          <a:lstStyle/>
          <a:p>
            <a:endParaRPr lang="en-US"/>
          </a:p>
        </p:txBody>
      </p:sp>
      <p:sp>
        <p:nvSpPr>
          <p:cNvPr id="3" name="Shape 1">
            <a:extLst>
              <a:ext uri="{FF2B5EF4-FFF2-40B4-BE49-F238E27FC236}">
                <a16:creationId xmlns:a16="http://schemas.microsoft.com/office/drawing/2014/main" id="{27DC3D06-8B88-34B3-A6CB-75D2282D8A7B}"/>
              </a:ext>
            </a:extLst>
          </p:cNvPr>
          <p:cNvSpPr/>
          <p:nvPr/>
        </p:nvSpPr>
        <p:spPr>
          <a:xfrm>
            <a:off x="0" y="0"/>
            <a:ext cx="82296" cy="621792"/>
          </a:xfrm>
          <a:prstGeom prst="rect">
            <a:avLst/>
          </a:prstGeom>
          <a:solidFill>
            <a:srgbClr val="00C4CC"/>
          </a:solidFill>
          <a:ln w="12700">
            <a:solidFill>
              <a:srgbClr val="00C4CC"/>
            </a:solidFill>
            <a:prstDash val="solid"/>
          </a:ln>
        </p:spPr>
        <p:txBody>
          <a:bodyPr/>
          <a:lstStyle/>
          <a:p>
            <a:endParaRPr lang="en-US"/>
          </a:p>
        </p:txBody>
      </p:sp>
      <p:sp>
        <p:nvSpPr>
          <p:cNvPr id="4" name="Text 2">
            <a:extLst>
              <a:ext uri="{FF2B5EF4-FFF2-40B4-BE49-F238E27FC236}">
                <a16:creationId xmlns:a16="http://schemas.microsoft.com/office/drawing/2014/main" id="{F4C9D395-DB20-32FD-DA4D-C104C0E973E1}"/>
              </a:ext>
            </a:extLst>
          </p:cNvPr>
          <p:cNvSpPr/>
          <p:nvPr/>
        </p:nvSpPr>
        <p:spPr>
          <a:xfrm>
            <a:off x="201168" y="0"/>
            <a:ext cx="4864608" cy="621792"/>
          </a:xfrm>
          <a:prstGeom prst="rect">
            <a:avLst/>
          </a:prstGeom>
          <a:noFill/>
          <a:ln/>
        </p:spPr>
        <p:txBody>
          <a:bodyPr wrap="square" lIns="0" tIns="0" rIns="0" bIns="0" rtlCol="0" anchor="ctr"/>
          <a:lstStyle/>
          <a:p>
            <a:r>
              <a:rPr lang="en-US" sz="1600" b="1" dirty="0">
                <a:solidFill>
                  <a:srgbClr val="FFFFFF"/>
                </a:solidFill>
                <a:latin typeface="Trebuchet MS" pitchFamily="34" charset="0"/>
              </a:rPr>
              <a:t>Organiser Blueprint</a:t>
            </a:r>
            <a:r>
              <a:rPr lang="en-US" sz="1600" b="1" dirty="0">
                <a:solidFill>
                  <a:srgbClr val="FFFFFF"/>
                </a:solidFill>
                <a:latin typeface="Trebuchet MS" pitchFamily="34" charset="0"/>
                <a:ea typeface="Trebuchet MS" pitchFamily="34" charset="-122"/>
                <a:cs typeface="Trebuchet MS" pitchFamily="34" charset="-120"/>
              </a:rPr>
              <a:t> — Judges Scoring Rubric</a:t>
            </a:r>
            <a:endParaRPr lang="en-US" sz="1600" dirty="0"/>
          </a:p>
        </p:txBody>
      </p:sp>
      <p:sp>
        <p:nvSpPr>
          <p:cNvPr id="5" name="Text 3">
            <a:extLst>
              <a:ext uri="{FF2B5EF4-FFF2-40B4-BE49-F238E27FC236}">
                <a16:creationId xmlns:a16="http://schemas.microsoft.com/office/drawing/2014/main" id="{11F32CD7-D281-A001-A436-F621C1D47A1A}"/>
              </a:ext>
            </a:extLst>
          </p:cNvPr>
          <p:cNvSpPr/>
          <p:nvPr/>
        </p:nvSpPr>
        <p:spPr>
          <a:xfrm>
            <a:off x="5943600" y="0"/>
            <a:ext cx="2926080" cy="621792"/>
          </a:xfrm>
          <a:prstGeom prst="rect">
            <a:avLst/>
          </a:prstGeom>
          <a:noFill/>
          <a:ln/>
        </p:spPr>
        <p:txBody>
          <a:bodyPr wrap="square" lIns="0" tIns="0" rIns="0" bIns="0" rtlCol="0" anchor="ctr"/>
          <a:lstStyle/>
          <a:p>
            <a:pPr marL="0" indent="0" algn="r">
              <a:buNone/>
            </a:pPr>
            <a:r>
              <a:rPr lang="en-US" sz="950" i="1" dirty="0">
                <a:solidFill>
                  <a:srgbClr val="6B7FA3"/>
                </a:solidFill>
                <a:latin typeface="Calibri" pitchFamily="34" charset="0"/>
                <a:ea typeface="Calibri" pitchFamily="34" charset="-122"/>
                <a:cs typeface="Calibri" pitchFamily="34" charset="-120"/>
              </a:rPr>
              <a:t>3 judges · scores out of 10 · averaged across panel</a:t>
            </a:r>
            <a:endParaRPr lang="en-US" sz="950" dirty="0"/>
          </a:p>
        </p:txBody>
      </p:sp>
      <p:sp>
        <p:nvSpPr>
          <p:cNvPr id="6" name="Shape 4">
            <a:extLst>
              <a:ext uri="{FF2B5EF4-FFF2-40B4-BE49-F238E27FC236}">
                <a16:creationId xmlns:a16="http://schemas.microsoft.com/office/drawing/2014/main" id="{C909E5A6-D7B1-37A7-EBA4-CB627058A9D4}"/>
              </a:ext>
            </a:extLst>
          </p:cNvPr>
          <p:cNvSpPr/>
          <p:nvPr/>
        </p:nvSpPr>
        <p:spPr>
          <a:xfrm>
            <a:off x="256032" y="713232"/>
            <a:ext cx="4224528" cy="310896"/>
          </a:xfrm>
          <a:prstGeom prst="rect">
            <a:avLst/>
          </a:prstGeom>
          <a:solidFill>
            <a:srgbClr val="1A2744"/>
          </a:solidFill>
          <a:ln w="12700">
            <a:solidFill>
              <a:srgbClr val="1A2744"/>
            </a:solidFill>
            <a:prstDash val="solid"/>
          </a:ln>
        </p:spPr>
        <p:txBody>
          <a:bodyPr/>
          <a:lstStyle/>
          <a:p>
            <a:endParaRPr lang="en-US"/>
          </a:p>
        </p:txBody>
      </p:sp>
      <p:sp>
        <p:nvSpPr>
          <p:cNvPr id="7" name="Shape 5">
            <a:extLst>
              <a:ext uri="{FF2B5EF4-FFF2-40B4-BE49-F238E27FC236}">
                <a16:creationId xmlns:a16="http://schemas.microsoft.com/office/drawing/2014/main" id="{4A7E7E38-3EB1-A908-1F60-B7D1F3F0E0E1}"/>
              </a:ext>
            </a:extLst>
          </p:cNvPr>
          <p:cNvSpPr/>
          <p:nvPr/>
        </p:nvSpPr>
        <p:spPr>
          <a:xfrm>
            <a:off x="256032" y="713232"/>
            <a:ext cx="64008" cy="310896"/>
          </a:xfrm>
          <a:prstGeom prst="rect">
            <a:avLst/>
          </a:prstGeom>
          <a:solidFill>
            <a:srgbClr val="00C4CC"/>
          </a:solidFill>
          <a:ln w="12700">
            <a:solidFill>
              <a:srgbClr val="00C4CC"/>
            </a:solidFill>
            <a:prstDash val="solid"/>
          </a:ln>
        </p:spPr>
        <p:txBody>
          <a:bodyPr/>
          <a:lstStyle/>
          <a:p>
            <a:endParaRPr lang="en-US"/>
          </a:p>
        </p:txBody>
      </p:sp>
      <p:pic>
        <p:nvPicPr>
          <p:cNvPr id="8" name="Image 0" descr="preencoded.png">
            <a:extLst>
              <a:ext uri="{FF2B5EF4-FFF2-40B4-BE49-F238E27FC236}">
                <a16:creationId xmlns:a16="http://schemas.microsoft.com/office/drawing/2014/main" id="{23F464E1-B205-6E39-7A5D-BF7AD2590FCE}"/>
              </a:ext>
            </a:extLst>
          </p:cNvPr>
          <p:cNvPicPr>
            <a:picLocks noChangeAspect="1"/>
          </p:cNvPicPr>
          <p:nvPr/>
        </p:nvPicPr>
        <p:blipFill>
          <a:blip r:embed="rId3"/>
          <a:stretch>
            <a:fillRect/>
          </a:stretch>
        </p:blipFill>
        <p:spPr>
          <a:xfrm>
            <a:off x="365760" y="749808"/>
            <a:ext cx="219456" cy="219456"/>
          </a:xfrm>
          <a:prstGeom prst="rect">
            <a:avLst/>
          </a:prstGeom>
        </p:spPr>
      </p:pic>
      <p:sp>
        <p:nvSpPr>
          <p:cNvPr id="9" name="Text 6">
            <a:extLst>
              <a:ext uri="{FF2B5EF4-FFF2-40B4-BE49-F238E27FC236}">
                <a16:creationId xmlns:a16="http://schemas.microsoft.com/office/drawing/2014/main" id="{BCFE9A08-73D0-D7AC-1078-F4490DD26D95}"/>
              </a:ext>
            </a:extLst>
          </p:cNvPr>
          <p:cNvSpPr/>
          <p:nvPr/>
        </p:nvSpPr>
        <p:spPr>
          <a:xfrm>
            <a:off x="658368" y="713232"/>
            <a:ext cx="3767328" cy="310896"/>
          </a:xfrm>
          <a:prstGeom prst="rect">
            <a:avLst/>
          </a:prstGeom>
          <a:noFill/>
          <a:ln/>
        </p:spPr>
        <p:txBody>
          <a:bodyPr wrap="square" lIns="0" tIns="0" rIns="0" bIns="0" rtlCol="0" anchor="ctr"/>
          <a:lstStyle/>
          <a:p>
            <a:pPr marL="0" indent="0">
              <a:buNone/>
            </a:pPr>
            <a:r>
              <a:rPr lang="en-US" sz="1100" b="1" dirty="0">
                <a:solidFill>
                  <a:srgbClr val="00C4CC"/>
                </a:solidFill>
                <a:latin typeface="Trebuchet MS" pitchFamily="34" charset="0"/>
                <a:ea typeface="Trebuchet MS" pitchFamily="34" charset="-122"/>
                <a:cs typeface="Trebuchet MS" pitchFamily="34" charset="-120"/>
              </a:rPr>
              <a:t>Category: Best Demo</a:t>
            </a:r>
            <a:endParaRPr lang="en-US" sz="1100" dirty="0"/>
          </a:p>
        </p:txBody>
      </p:sp>
      <p:sp>
        <p:nvSpPr>
          <p:cNvPr id="10" name="Shape 7">
            <a:extLst>
              <a:ext uri="{FF2B5EF4-FFF2-40B4-BE49-F238E27FC236}">
                <a16:creationId xmlns:a16="http://schemas.microsoft.com/office/drawing/2014/main" id="{06ADDDFF-3FDB-F90A-7D59-178A87ECE1E8}"/>
              </a:ext>
            </a:extLst>
          </p:cNvPr>
          <p:cNvSpPr/>
          <p:nvPr/>
        </p:nvSpPr>
        <p:spPr>
          <a:xfrm>
            <a:off x="256032" y="1078992"/>
            <a:ext cx="4224528" cy="658368"/>
          </a:xfrm>
          <a:prstGeom prst="rect">
            <a:avLst/>
          </a:prstGeom>
          <a:solidFill>
            <a:srgbClr val="FFFFFF"/>
          </a:solidFill>
          <a:ln w="6350">
            <a:solidFill>
              <a:srgbClr val="DDE6F5"/>
            </a:solidFill>
            <a:prstDash val="solid"/>
          </a:ln>
        </p:spPr>
        <p:txBody>
          <a:bodyPr/>
          <a:lstStyle/>
          <a:p>
            <a:endParaRPr lang="en-US"/>
          </a:p>
        </p:txBody>
      </p:sp>
      <p:sp>
        <p:nvSpPr>
          <p:cNvPr id="11" name="Shape 8">
            <a:extLst>
              <a:ext uri="{FF2B5EF4-FFF2-40B4-BE49-F238E27FC236}">
                <a16:creationId xmlns:a16="http://schemas.microsoft.com/office/drawing/2014/main" id="{08B38B56-85B2-DF9B-1E59-67553EDBE47C}"/>
              </a:ext>
            </a:extLst>
          </p:cNvPr>
          <p:cNvSpPr/>
          <p:nvPr/>
        </p:nvSpPr>
        <p:spPr>
          <a:xfrm>
            <a:off x="329184" y="1207008"/>
            <a:ext cx="475488" cy="384048"/>
          </a:xfrm>
          <a:prstGeom prst="rect">
            <a:avLst/>
          </a:prstGeom>
          <a:solidFill>
            <a:srgbClr val="027A80"/>
          </a:solidFill>
          <a:ln w="12700">
            <a:solidFill>
              <a:srgbClr val="027A80"/>
            </a:solidFill>
            <a:prstDash val="solid"/>
          </a:ln>
        </p:spPr>
        <p:txBody>
          <a:bodyPr/>
          <a:lstStyle/>
          <a:p>
            <a:endParaRPr lang="en-US"/>
          </a:p>
        </p:txBody>
      </p:sp>
      <p:sp>
        <p:nvSpPr>
          <p:cNvPr id="12" name="Text 9">
            <a:extLst>
              <a:ext uri="{FF2B5EF4-FFF2-40B4-BE49-F238E27FC236}">
                <a16:creationId xmlns:a16="http://schemas.microsoft.com/office/drawing/2014/main" id="{4AD58ACC-2C1B-2FF8-EF75-B31EFDED79F2}"/>
              </a:ext>
            </a:extLst>
          </p:cNvPr>
          <p:cNvSpPr/>
          <p:nvPr/>
        </p:nvSpPr>
        <p:spPr>
          <a:xfrm>
            <a:off x="329184" y="120700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9–10</a:t>
            </a:r>
            <a:endParaRPr lang="en-US" sz="1000" dirty="0"/>
          </a:p>
        </p:txBody>
      </p:sp>
      <p:sp>
        <p:nvSpPr>
          <p:cNvPr id="13" name="Text 10">
            <a:extLst>
              <a:ext uri="{FF2B5EF4-FFF2-40B4-BE49-F238E27FC236}">
                <a16:creationId xmlns:a16="http://schemas.microsoft.com/office/drawing/2014/main" id="{AF8A5256-8F39-B0E6-F009-D4DDE8E4F752}"/>
              </a:ext>
            </a:extLst>
          </p:cNvPr>
          <p:cNvSpPr/>
          <p:nvPr/>
        </p:nvSpPr>
        <p:spPr>
          <a:xfrm>
            <a:off x="896112" y="113385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Runs live with no caveats. Demonstrates a coherent end-to-end user flow — not just individual features, but a story that hangs together. No errors, no workarounds, no "imagine this part works."</a:t>
            </a:r>
            <a:endParaRPr lang="en-US" sz="850" dirty="0"/>
          </a:p>
        </p:txBody>
      </p:sp>
      <p:sp>
        <p:nvSpPr>
          <p:cNvPr id="14" name="Shape 11">
            <a:extLst>
              <a:ext uri="{FF2B5EF4-FFF2-40B4-BE49-F238E27FC236}">
                <a16:creationId xmlns:a16="http://schemas.microsoft.com/office/drawing/2014/main" id="{A8C036B6-5B2C-6DCC-DD99-08686A01FD39}"/>
              </a:ext>
            </a:extLst>
          </p:cNvPr>
          <p:cNvSpPr/>
          <p:nvPr/>
        </p:nvSpPr>
        <p:spPr>
          <a:xfrm>
            <a:off x="256032" y="1773936"/>
            <a:ext cx="4224528" cy="658368"/>
          </a:xfrm>
          <a:prstGeom prst="rect">
            <a:avLst/>
          </a:prstGeom>
          <a:solidFill>
            <a:srgbClr val="FFFFFF"/>
          </a:solidFill>
          <a:ln w="6350">
            <a:solidFill>
              <a:srgbClr val="DDE6F5"/>
            </a:solidFill>
            <a:prstDash val="solid"/>
          </a:ln>
        </p:spPr>
        <p:txBody>
          <a:bodyPr/>
          <a:lstStyle/>
          <a:p>
            <a:endParaRPr lang="en-US"/>
          </a:p>
        </p:txBody>
      </p:sp>
      <p:sp>
        <p:nvSpPr>
          <p:cNvPr id="15" name="Shape 12">
            <a:extLst>
              <a:ext uri="{FF2B5EF4-FFF2-40B4-BE49-F238E27FC236}">
                <a16:creationId xmlns:a16="http://schemas.microsoft.com/office/drawing/2014/main" id="{CCF9F67A-11EF-9B2F-F125-927EE05BE15C}"/>
              </a:ext>
            </a:extLst>
          </p:cNvPr>
          <p:cNvSpPr/>
          <p:nvPr/>
        </p:nvSpPr>
        <p:spPr>
          <a:xfrm>
            <a:off x="329184" y="1901952"/>
            <a:ext cx="475488" cy="384048"/>
          </a:xfrm>
          <a:prstGeom prst="rect">
            <a:avLst/>
          </a:prstGeom>
          <a:solidFill>
            <a:srgbClr val="1A5C7A"/>
          </a:solidFill>
          <a:ln w="12700">
            <a:solidFill>
              <a:srgbClr val="1A5C7A"/>
            </a:solidFill>
            <a:prstDash val="solid"/>
          </a:ln>
        </p:spPr>
        <p:txBody>
          <a:bodyPr/>
          <a:lstStyle/>
          <a:p>
            <a:endParaRPr lang="en-US"/>
          </a:p>
        </p:txBody>
      </p:sp>
      <p:sp>
        <p:nvSpPr>
          <p:cNvPr id="16" name="Text 13">
            <a:extLst>
              <a:ext uri="{FF2B5EF4-FFF2-40B4-BE49-F238E27FC236}">
                <a16:creationId xmlns:a16="http://schemas.microsoft.com/office/drawing/2014/main" id="{10DCF651-05A2-99AA-0979-7455B7FD209C}"/>
              </a:ext>
            </a:extLst>
          </p:cNvPr>
          <p:cNvSpPr/>
          <p:nvPr/>
        </p:nvSpPr>
        <p:spPr>
          <a:xfrm>
            <a:off x="329184" y="1901952"/>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7–8</a:t>
            </a:r>
            <a:endParaRPr lang="en-US" sz="1000" dirty="0"/>
          </a:p>
        </p:txBody>
      </p:sp>
      <p:sp>
        <p:nvSpPr>
          <p:cNvPr id="17" name="Text 14">
            <a:extLst>
              <a:ext uri="{FF2B5EF4-FFF2-40B4-BE49-F238E27FC236}">
                <a16:creationId xmlns:a16="http://schemas.microsoft.com/office/drawing/2014/main" id="{15051567-9379-4DF7-05A8-1A51921C15F6}"/>
              </a:ext>
            </a:extLst>
          </p:cNvPr>
          <p:cNvSpPr/>
          <p:nvPr/>
        </p:nvSpPr>
        <p:spPr>
          <a:xfrm>
            <a:off x="896112" y="1828800"/>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Runs live with minor caveats. Core flow is clear but one feature is stubbed, skipped, or narrated rather than shown. A judge can see this is a working system with a small gap.</a:t>
            </a:r>
            <a:endParaRPr lang="en-US" sz="850" dirty="0"/>
          </a:p>
        </p:txBody>
      </p:sp>
      <p:sp>
        <p:nvSpPr>
          <p:cNvPr id="18" name="Shape 15">
            <a:extLst>
              <a:ext uri="{FF2B5EF4-FFF2-40B4-BE49-F238E27FC236}">
                <a16:creationId xmlns:a16="http://schemas.microsoft.com/office/drawing/2014/main" id="{EA9F328D-F538-D7B3-A1FD-4E9C5B28F806}"/>
              </a:ext>
            </a:extLst>
          </p:cNvPr>
          <p:cNvSpPr/>
          <p:nvPr/>
        </p:nvSpPr>
        <p:spPr>
          <a:xfrm>
            <a:off x="256032" y="2468880"/>
            <a:ext cx="4224528" cy="658368"/>
          </a:xfrm>
          <a:prstGeom prst="rect">
            <a:avLst/>
          </a:prstGeom>
          <a:solidFill>
            <a:srgbClr val="FFFFFF"/>
          </a:solidFill>
          <a:ln w="6350">
            <a:solidFill>
              <a:srgbClr val="DDE6F5"/>
            </a:solidFill>
            <a:prstDash val="solid"/>
          </a:ln>
        </p:spPr>
        <p:txBody>
          <a:bodyPr/>
          <a:lstStyle/>
          <a:p>
            <a:endParaRPr lang="en-US"/>
          </a:p>
        </p:txBody>
      </p:sp>
      <p:sp>
        <p:nvSpPr>
          <p:cNvPr id="19" name="Shape 16">
            <a:extLst>
              <a:ext uri="{FF2B5EF4-FFF2-40B4-BE49-F238E27FC236}">
                <a16:creationId xmlns:a16="http://schemas.microsoft.com/office/drawing/2014/main" id="{3CFBDFA2-FBE5-98CE-E82B-E573CD3068B9}"/>
              </a:ext>
            </a:extLst>
          </p:cNvPr>
          <p:cNvSpPr/>
          <p:nvPr/>
        </p:nvSpPr>
        <p:spPr>
          <a:xfrm>
            <a:off x="329184" y="2596896"/>
            <a:ext cx="475488" cy="384048"/>
          </a:xfrm>
          <a:prstGeom prst="rect">
            <a:avLst/>
          </a:prstGeom>
          <a:solidFill>
            <a:srgbClr val="243558"/>
          </a:solidFill>
          <a:ln w="12700">
            <a:solidFill>
              <a:srgbClr val="243558"/>
            </a:solidFill>
            <a:prstDash val="solid"/>
          </a:ln>
        </p:spPr>
        <p:txBody>
          <a:bodyPr/>
          <a:lstStyle/>
          <a:p>
            <a:endParaRPr lang="en-US"/>
          </a:p>
        </p:txBody>
      </p:sp>
      <p:sp>
        <p:nvSpPr>
          <p:cNvPr id="20" name="Text 17">
            <a:extLst>
              <a:ext uri="{FF2B5EF4-FFF2-40B4-BE49-F238E27FC236}">
                <a16:creationId xmlns:a16="http://schemas.microsoft.com/office/drawing/2014/main" id="{58EC7A64-32D0-193E-268D-F8857B05D30F}"/>
              </a:ext>
            </a:extLst>
          </p:cNvPr>
          <p:cNvSpPr/>
          <p:nvPr/>
        </p:nvSpPr>
        <p:spPr>
          <a:xfrm>
            <a:off x="329184" y="2596896"/>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5–6</a:t>
            </a:r>
            <a:endParaRPr lang="en-US" sz="1000" dirty="0"/>
          </a:p>
        </p:txBody>
      </p:sp>
      <p:sp>
        <p:nvSpPr>
          <p:cNvPr id="21" name="Text 18">
            <a:extLst>
              <a:ext uri="{FF2B5EF4-FFF2-40B4-BE49-F238E27FC236}">
                <a16:creationId xmlns:a16="http://schemas.microsoft.com/office/drawing/2014/main" id="{47FC8571-1306-A2FE-DA11-A1E7B1F8EB98}"/>
              </a:ext>
            </a:extLst>
          </p:cNvPr>
          <p:cNvSpPr/>
          <p:nvPr/>
        </p:nvSpPr>
        <p:spPr>
          <a:xfrm>
            <a:off x="896112" y="2523744"/>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Partially working. Some features demonstrated live, others mocked or explained away. The idea is visible but the judge has to fill in the blanks. The system runs in parts but not as a whole.</a:t>
            </a:r>
            <a:endParaRPr lang="en-US" sz="850" dirty="0"/>
          </a:p>
        </p:txBody>
      </p:sp>
      <p:sp>
        <p:nvSpPr>
          <p:cNvPr id="22" name="Shape 19">
            <a:extLst>
              <a:ext uri="{FF2B5EF4-FFF2-40B4-BE49-F238E27FC236}">
                <a16:creationId xmlns:a16="http://schemas.microsoft.com/office/drawing/2014/main" id="{E76815CD-FD4C-B569-3A1A-922AA0438445}"/>
              </a:ext>
            </a:extLst>
          </p:cNvPr>
          <p:cNvSpPr/>
          <p:nvPr/>
        </p:nvSpPr>
        <p:spPr>
          <a:xfrm>
            <a:off x="256032" y="3163824"/>
            <a:ext cx="4224528" cy="658368"/>
          </a:xfrm>
          <a:prstGeom prst="rect">
            <a:avLst/>
          </a:prstGeom>
          <a:solidFill>
            <a:srgbClr val="F8FAFD"/>
          </a:solidFill>
          <a:ln w="6350">
            <a:solidFill>
              <a:srgbClr val="DDE6F5"/>
            </a:solidFill>
            <a:prstDash val="solid"/>
          </a:ln>
        </p:spPr>
        <p:txBody>
          <a:bodyPr/>
          <a:lstStyle/>
          <a:p>
            <a:endParaRPr lang="en-US"/>
          </a:p>
        </p:txBody>
      </p:sp>
      <p:sp>
        <p:nvSpPr>
          <p:cNvPr id="23" name="Shape 20">
            <a:extLst>
              <a:ext uri="{FF2B5EF4-FFF2-40B4-BE49-F238E27FC236}">
                <a16:creationId xmlns:a16="http://schemas.microsoft.com/office/drawing/2014/main" id="{576CB5D4-068A-7024-F815-23EB4F57552B}"/>
              </a:ext>
            </a:extLst>
          </p:cNvPr>
          <p:cNvSpPr/>
          <p:nvPr/>
        </p:nvSpPr>
        <p:spPr>
          <a:xfrm>
            <a:off x="329184" y="3291840"/>
            <a:ext cx="475488" cy="384048"/>
          </a:xfrm>
          <a:prstGeom prst="rect">
            <a:avLst/>
          </a:prstGeom>
          <a:solidFill>
            <a:srgbClr val="1E2F4A"/>
          </a:solidFill>
          <a:ln w="12700">
            <a:solidFill>
              <a:srgbClr val="1E2F4A"/>
            </a:solidFill>
            <a:prstDash val="solid"/>
          </a:ln>
        </p:spPr>
        <p:txBody>
          <a:bodyPr/>
          <a:lstStyle/>
          <a:p>
            <a:endParaRPr lang="en-US"/>
          </a:p>
        </p:txBody>
      </p:sp>
      <p:sp>
        <p:nvSpPr>
          <p:cNvPr id="24" name="Text 21">
            <a:extLst>
              <a:ext uri="{FF2B5EF4-FFF2-40B4-BE49-F238E27FC236}">
                <a16:creationId xmlns:a16="http://schemas.microsoft.com/office/drawing/2014/main" id="{259F06D7-CB86-CA83-8023-16D7208A0106}"/>
              </a:ext>
            </a:extLst>
          </p:cNvPr>
          <p:cNvSpPr/>
          <p:nvPr/>
        </p:nvSpPr>
        <p:spPr>
          <a:xfrm>
            <a:off x="329184" y="3291840"/>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3–4</a:t>
            </a:r>
            <a:endParaRPr lang="en-US" sz="1000" dirty="0"/>
          </a:p>
        </p:txBody>
      </p:sp>
      <p:sp>
        <p:nvSpPr>
          <p:cNvPr id="25" name="Text 22">
            <a:extLst>
              <a:ext uri="{FF2B5EF4-FFF2-40B4-BE49-F238E27FC236}">
                <a16:creationId xmlns:a16="http://schemas.microsoft.com/office/drawing/2014/main" id="{E0D5E409-550E-FDEC-DB15-9A96B484B5DF}"/>
              </a:ext>
            </a:extLst>
          </p:cNvPr>
          <p:cNvSpPr/>
          <p:nvPr/>
        </p:nvSpPr>
        <p:spPr>
          <a:xfrm>
            <a:off x="896112" y="3218688"/>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Mostly non-functional. Demo relies on static screens, mockups, or narrated walkthroughs. Little live interaction. The concept is present but cannot be assessed as a working system.</a:t>
            </a:r>
            <a:endParaRPr lang="en-US" sz="850" dirty="0"/>
          </a:p>
        </p:txBody>
      </p:sp>
      <p:sp>
        <p:nvSpPr>
          <p:cNvPr id="26" name="Shape 23">
            <a:extLst>
              <a:ext uri="{FF2B5EF4-FFF2-40B4-BE49-F238E27FC236}">
                <a16:creationId xmlns:a16="http://schemas.microsoft.com/office/drawing/2014/main" id="{03BDBC82-222D-3005-E43F-D9C6060DC066}"/>
              </a:ext>
            </a:extLst>
          </p:cNvPr>
          <p:cNvSpPr/>
          <p:nvPr/>
        </p:nvSpPr>
        <p:spPr>
          <a:xfrm>
            <a:off x="256032" y="3858768"/>
            <a:ext cx="4224528" cy="658368"/>
          </a:xfrm>
          <a:prstGeom prst="rect">
            <a:avLst/>
          </a:prstGeom>
          <a:solidFill>
            <a:srgbClr val="F8FAFD"/>
          </a:solidFill>
          <a:ln w="6350">
            <a:solidFill>
              <a:srgbClr val="DDE6F5"/>
            </a:solidFill>
            <a:prstDash val="solid"/>
          </a:ln>
        </p:spPr>
        <p:txBody>
          <a:bodyPr/>
          <a:lstStyle/>
          <a:p>
            <a:endParaRPr lang="en-US"/>
          </a:p>
        </p:txBody>
      </p:sp>
      <p:sp>
        <p:nvSpPr>
          <p:cNvPr id="27" name="Shape 24">
            <a:extLst>
              <a:ext uri="{FF2B5EF4-FFF2-40B4-BE49-F238E27FC236}">
                <a16:creationId xmlns:a16="http://schemas.microsoft.com/office/drawing/2014/main" id="{86991832-E1F6-F9AF-4E81-1B1EAFE4C7A2}"/>
              </a:ext>
            </a:extLst>
          </p:cNvPr>
          <p:cNvSpPr/>
          <p:nvPr/>
        </p:nvSpPr>
        <p:spPr>
          <a:xfrm>
            <a:off x="329184" y="3986784"/>
            <a:ext cx="475488" cy="384048"/>
          </a:xfrm>
          <a:prstGeom prst="rect">
            <a:avLst/>
          </a:prstGeom>
          <a:solidFill>
            <a:srgbClr val="1A2740"/>
          </a:solidFill>
          <a:ln w="12700">
            <a:solidFill>
              <a:srgbClr val="1A2740"/>
            </a:solidFill>
            <a:prstDash val="solid"/>
          </a:ln>
        </p:spPr>
        <p:txBody>
          <a:bodyPr/>
          <a:lstStyle/>
          <a:p>
            <a:endParaRPr lang="en-US"/>
          </a:p>
        </p:txBody>
      </p:sp>
      <p:sp>
        <p:nvSpPr>
          <p:cNvPr id="28" name="Text 25">
            <a:extLst>
              <a:ext uri="{FF2B5EF4-FFF2-40B4-BE49-F238E27FC236}">
                <a16:creationId xmlns:a16="http://schemas.microsoft.com/office/drawing/2014/main" id="{0158D093-97E5-5294-D8F1-4C4F48E286C9}"/>
              </a:ext>
            </a:extLst>
          </p:cNvPr>
          <p:cNvSpPr/>
          <p:nvPr/>
        </p:nvSpPr>
        <p:spPr>
          <a:xfrm>
            <a:off x="329184" y="3986784"/>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29" name="Text 26">
            <a:extLst>
              <a:ext uri="{FF2B5EF4-FFF2-40B4-BE49-F238E27FC236}">
                <a16:creationId xmlns:a16="http://schemas.microsoft.com/office/drawing/2014/main" id="{D8D8FEC4-A1B5-590A-716B-F425BF556D17}"/>
              </a:ext>
            </a:extLst>
          </p:cNvPr>
          <p:cNvSpPr/>
          <p:nvPr/>
        </p:nvSpPr>
        <p:spPr>
          <a:xfrm>
            <a:off x="896112" y="3913632"/>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Attempted but failed. The team clearly built something and made a genuine effort, but a critical issue — deployment failure, environment problem, or technical blocker — prevented a meaningful demo. Effort is recognised.</a:t>
            </a:r>
            <a:endParaRPr lang="en-US" sz="850" dirty="0"/>
          </a:p>
        </p:txBody>
      </p:sp>
      <p:sp>
        <p:nvSpPr>
          <p:cNvPr id="30" name="Shape 27">
            <a:extLst>
              <a:ext uri="{FF2B5EF4-FFF2-40B4-BE49-F238E27FC236}">
                <a16:creationId xmlns:a16="http://schemas.microsoft.com/office/drawing/2014/main" id="{746CB6DE-951B-AF7C-3D24-B20877849678}"/>
              </a:ext>
            </a:extLst>
          </p:cNvPr>
          <p:cNvSpPr/>
          <p:nvPr/>
        </p:nvSpPr>
        <p:spPr>
          <a:xfrm>
            <a:off x="256032" y="4553712"/>
            <a:ext cx="4224528" cy="589788"/>
          </a:xfrm>
          <a:prstGeom prst="rect">
            <a:avLst/>
          </a:prstGeom>
          <a:solidFill>
            <a:srgbClr val="F8FAFD"/>
          </a:solidFill>
          <a:ln w="6350">
            <a:solidFill>
              <a:srgbClr val="DDE6F5"/>
            </a:solidFill>
            <a:prstDash val="solid"/>
          </a:ln>
        </p:spPr>
        <p:txBody>
          <a:bodyPr/>
          <a:lstStyle/>
          <a:p>
            <a:endParaRPr lang="en-US"/>
          </a:p>
        </p:txBody>
      </p:sp>
      <p:sp>
        <p:nvSpPr>
          <p:cNvPr id="31" name="Shape 28">
            <a:extLst>
              <a:ext uri="{FF2B5EF4-FFF2-40B4-BE49-F238E27FC236}">
                <a16:creationId xmlns:a16="http://schemas.microsoft.com/office/drawing/2014/main" id="{4AE331D9-6022-0435-1848-E383E2184120}"/>
              </a:ext>
            </a:extLst>
          </p:cNvPr>
          <p:cNvSpPr/>
          <p:nvPr/>
        </p:nvSpPr>
        <p:spPr>
          <a:xfrm>
            <a:off x="329184" y="4681728"/>
            <a:ext cx="475488" cy="384048"/>
          </a:xfrm>
          <a:prstGeom prst="rect">
            <a:avLst/>
          </a:prstGeom>
          <a:solidFill>
            <a:srgbClr val="151F30"/>
          </a:solidFill>
          <a:ln w="12700">
            <a:solidFill>
              <a:srgbClr val="151F30"/>
            </a:solidFill>
            <a:prstDash val="solid"/>
          </a:ln>
        </p:spPr>
        <p:txBody>
          <a:bodyPr/>
          <a:lstStyle/>
          <a:p>
            <a:endParaRPr lang="en-US"/>
          </a:p>
        </p:txBody>
      </p:sp>
      <p:sp>
        <p:nvSpPr>
          <p:cNvPr id="32" name="Text 29">
            <a:extLst>
              <a:ext uri="{FF2B5EF4-FFF2-40B4-BE49-F238E27FC236}">
                <a16:creationId xmlns:a16="http://schemas.microsoft.com/office/drawing/2014/main" id="{4F9252B4-D750-4515-4513-48D80A1AA10B}"/>
              </a:ext>
            </a:extLst>
          </p:cNvPr>
          <p:cNvSpPr/>
          <p:nvPr/>
        </p:nvSpPr>
        <p:spPr>
          <a:xfrm>
            <a:off x="329184" y="468172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33" name="Text 30">
            <a:extLst>
              <a:ext uri="{FF2B5EF4-FFF2-40B4-BE49-F238E27FC236}">
                <a16:creationId xmlns:a16="http://schemas.microsoft.com/office/drawing/2014/main" id="{7162041C-3AF8-EC29-B523-5D22377DBE38}"/>
              </a:ext>
            </a:extLst>
          </p:cNvPr>
          <p:cNvSpPr/>
          <p:nvPr/>
        </p:nvSpPr>
        <p:spPr>
          <a:xfrm>
            <a:off x="896112" y="460857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No meaningful demo. Slides, diagrams, or concept only — no working system shown and no technical blocker explains the absence.</a:t>
            </a:r>
            <a:endParaRPr lang="en-US" sz="850" dirty="0"/>
          </a:p>
        </p:txBody>
      </p:sp>
      <p:sp>
        <p:nvSpPr>
          <p:cNvPr id="34" name="Shape 31">
            <a:extLst>
              <a:ext uri="{FF2B5EF4-FFF2-40B4-BE49-F238E27FC236}">
                <a16:creationId xmlns:a16="http://schemas.microsoft.com/office/drawing/2014/main" id="{DC06600B-4474-43D4-63E3-4D24F2ADD6D5}"/>
              </a:ext>
            </a:extLst>
          </p:cNvPr>
          <p:cNvSpPr/>
          <p:nvPr/>
        </p:nvSpPr>
        <p:spPr>
          <a:xfrm>
            <a:off x="4663440" y="713232"/>
            <a:ext cx="4224528" cy="310896"/>
          </a:xfrm>
          <a:prstGeom prst="rect">
            <a:avLst/>
          </a:prstGeom>
          <a:solidFill>
            <a:srgbClr val="1A2744"/>
          </a:solidFill>
          <a:ln w="12700">
            <a:solidFill>
              <a:srgbClr val="1A2744"/>
            </a:solidFill>
            <a:prstDash val="solid"/>
          </a:ln>
        </p:spPr>
        <p:txBody>
          <a:bodyPr/>
          <a:lstStyle/>
          <a:p>
            <a:endParaRPr lang="en-US"/>
          </a:p>
        </p:txBody>
      </p:sp>
      <p:sp>
        <p:nvSpPr>
          <p:cNvPr id="35" name="Shape 32">
            <a:extLst>
              <a:ext uri="{FF2B5EF4-FFF2-40B4-BE49-F238E27FC236}">
                <a16:creationId xmlns:a16="http://schemas.microsoft.com/office/drawing/2014/main" id="{32928C7D-E0FD-4B09-2659-89F14136E593}"/>
              </a:ext>
            </a:extLst>
          </p:cNvPr>
          <p:cNvSpPr/>
          <p:nvPr/>
        </p:nvSpPr>
        <p:spPr>
          <a:xfrm>
            <a:off x="4663440" y="713232"/>
            <a:ext cx="64008" cy="310896"/>
          </a:xfrm>
          <a:prstGeom prst="rect">
            <a:avLst/>
          </a:prstGeom>
          <a:solidFill>
            <a:srgbClr val="00C4CC"/>
          </a:solidFill>
          <a:ln w="12700">
            <a:solidFill>
              <a:srgbClr val="00C4CC"/>
            </a:solidFill>
            <a:prstDash val="solid"/>
          </a:ln>
        </p:spPr>
        <p:txBody>
          <a:bodyPr/>
          <a:lstStyle/>
          <a:p>
            <a:endParaRPr lang="en-US"/>
          </a:p>
        </p:txBody>
      </p:sp>
      <p:pic>
        <p:nvPicPr>
          <p:cNvPr id="36" name="Image 1" descr="preencoded.png">
            <a:extLst>
              <a:ext uri="{FF2B5EF4-FFF2-40B4-BE49-F238E27FC236}">
                <a16:creationId xmlns:a16="http://schemas.microsoft.com/office/drawing/2014/main" id="{81B3DC2F-29C1-717F-E22F-65E5B4C0E9A1}"/>
              </a:ext>
            </a:extLst>
          </p:cNvPr>
          <p:cNvPicPr>
            <a:picLocks noChangeAspect="1"/>
          </p:cNvPicPr>
          <p:nvPr/>
        </p:nvPicPr>
        <p:blipFill>
          <a:blip r:embed="rId4"/>
          <a:stretch>
            <a:fillRect/>
          </a:stretch>
        </p:blipFill>
        <p:spPr>
          <a:xfrm>
            <a:off x="4773168" y="749808"/>
            <a:ext cx="219456" cy="219456"/>
          </a:xfrm>
          <a:prstGeom prst="rect">
            <a:avLst/>
          </a:prstGeom>
        </p:spPr>
      </p:pic>
      <p:sp>
        <p:nvSpPr>
          <p:cNvPr id="37" name="Text 33">
            <a:extLst>
              <a:ext uri="{FF2B5EF4-FFF2-40B4-BE49-F238E27FC236}">
                <a16:creationId xmlns:a16="http://schemas.microsoft.com/office/drawing/2014/main" id="{F9365803-FE5B-086F-2EA3-B3425D38FC36}"/>
              </a:ext>
            </a:extLst>
          </p:cNvPr>
          <p:cNvSpPr/>
          <p:nvPr/>
        </p:nvSpPr>
        <p:spPr>
          <a:xfrm>
            <a:off x="5065776" y="713232"/>
            <a:ext cx="3767328" cy="310896"/>
          </a:xfrm>
          <a:prstGeom prst="rect">
            <a:avLst/>
          </a:prstGeom>
          <a:noFill/>
          <a:ln/>
        </p:spPr>
        <p:txBody>
          <a:bodyPr wrap="square" lIns="0" tIns="0" rIns="0" bIns="0" rtlCol="0" anchor="ctr"/>
          <a:lstStyle/>
          <a:p>
            <a:pPr marL="0" indent="0">
              <a:buNone/>
            </a:pPr>
            <a:r>
              <a:rPr lang="en-US" sz="1100" b="1" dirty="0">
                <a:solidFill>
                  <a:srgbClr val="00C4CC"/>
                </a:solidFill>
                <a:latin typeface="Trebuchet MS" pitchFamily="34" charset="0"/>
                <a:ea typeface="Trebuchet MS" pitchFamily="34" charset="-122"/>
                <a:cs typeface="Trebuchet MS" pitchFamily="34" charset="-120"/>
              </a:rPr>
              <a:t>Category: Best Technical Approach</a:t>
            </a:r>
            <a:endParaRPr lang="en-US" sz="1100" dirty="0"/>
          </a:p>
        </p:txBody>
      </p:sp>
      <p:sp>
        <p:nvSpPr>
          <p:cNvPr id="38" name="Shape 34">
            <a:extLst>
              <a:ext uri="{FF2B5EF4-FFF2-40B4-BE49-F238E27FC236}">
                <a16:creationId xmlns:a16="http://schemas.microsoft.com/office/drawing/2014/main" id="{CA88F359-BBC0-B65E-BECD-3686E8F43401}"/>
              </a:ext>
            </a:extLst>
          </p:cNvPr>
          <p:cNvSpPr/>
          <p:nvPr/>
        </p:nvSpPr>
        <p:spPr>
          <a:xfrm>
            <a:off x="4663440" y="1078992"/>
            <a:ext cx="4224528" cy="658368"/>
          </a:xfrm>
          <a:prstGeom prst="rect">
            <a:avLst/>
          </a:prstGeom>
          <a:solidFill>
            <a:srgbClr val="FFFFFF"/>
          </a:solidFill>
          <a:ln w="6350">
            <a:solidFill>
              <a:srgbClr val="DDE6F5"/>
            </a:solidFill>
            <a:prstDash val="solid"/>
          </a:ln>
        </p:spPr>
        <p:txBody>
          <a:bodyPr/>
          <a:lstStyle/>
          <a:p>
            <a:endParaRPr lang="en-US"/>
          </a:p>
        </p:txBody>
      </p:sp>
      <p:sp>
        <p:nvSpPr>
          <p:cNvPr id="39" name="Shape 35">
            <a:extLst>
              <a:ext uri="{FF2B5EF4-FFF2-40B4-BE49-F238E27FC236}">
                <a16:creationId xmlns:a16="http://schemas.microsoft.com/office/drawing/2014/main" id="{1C9C4A00-980E-5CA9-504E-2E4E45B11553}"/>
              </a:ext>
            </a:extLst>
          </p:cNvPr>
          <p:cNvSpPr/>
          <p:nvPr/>
        </p:nvSpPr>
        <p:spPr>
          <a:xfrm>
            <a:off x="4736592" y="1207008"/>
            <a:ext cx="475488" cy="384048"/>
          </a:xfrm>
          <a:prstGeom prst="rect">
            <a:avLst/>
          </a:prstGeom>
          <a:solidFill>
            <a:srgbClr val="027A80"/>
          </a:solidFill>
          <a:ln w="12700">
            <a:solidFill>
              <a:srgbClr val="027A80"/>
            </a:solidFill>
            <a:prstDash val="solid"/>
          </a:ln>
        </p:spPr>
        <p:txBody>
          <a:bodyPr/>
          <a:lstStyle/>
          <a:p>
            <a:endParaRPr lang="en-US"/>
          </a:p>
        </p:txBody>
      </p:sp>
      <p:sp>
        <p:nvSpPr>
          <p:cNvPr id="40" name="Text 36">
            <a:extLst>
              <a:ext uri="{FF2B5EF4-FFF2-40B4-BE49-F238E27FC236}">
                <a16:creationId xmlns:a16="http://schemas.microsoft.com/office/drawing/2014/main" id="{765649C2-F457-92EB-2A14-3C8619125F25}"/>
              </a:ext>
            </a:extLst>
          </p:cNvPr>
          <p:cNvSpPr/>
          <p:nvPr/>
        </p:nvSpPr>
        <p:spPr>
          <a:xfrm>
            <a:off x="4736592" y="120700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9–10</a:t>
            </a:r>
            <a:endParaRPr lang="en-US" sz="1000" dirty="0"/>
          </a:p>
        </p:txBody>
      </p:sp>
      <p:sp>
        <p:nvSpPr>
          <p:cNvPr id="41" name="Text 37">
            <a:extLst>
              <a:ext uri="{FF2B5EF4-FFF2-40B4-BE49-F238E27FC236}">
                <a16:creationId xmlns:a16="http://schemas.microsoft.com/office/drawing/2014/main" id="{BD6618CB-0750-9C2C-FC75-F37EC5503F2D}"/>
              </a:ext>
            </a:extLst>
          </p:cNvPr>
          <p:cNvSpPr/>
          <p:nvPr/>
        </p:nvSpPr>
        <p:spPr>
          <a:xfrm>
            <a:off x="5303520" y="113385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Exemplary across all dimensions. Architecture and technology choices are coherent end-to-end. Team articulates why they chose their approach over alternatives. Security handled deliberately. Integration approach is clean and extensible.</a:t>
            </a:r>
            <a:endParaRPr lang="en-US" sz="850" dirty="0"/>
          </a:p>
        </p:txBody>
      </p:sp>
      <p:sp>
        <p:nvSpPr>
          <p:cNvPr id="42" name="Shape 38">
            <a:extLst>
              <a:ext uri="{FF2B5EF4-FFF2-40B4-BE49-F238E27FC236}">
                <a16:creationId xmlns:a16="http://schemas.microsoft.com/office/drawing/2014/main" id="{493E398E-C1CD-FDD8-6066-B0D048D0E696}"/>
              </a:ext>
            </a:extLst>
          </p:cNvPr>
          <p:cNvSpPr/>
          <p:nvPr/>
        </p:nvSpPr>
        <p:spPr>
          <a:xfrm>
            <a:off x="4663440" y="1773936"/>
            <a:ext cx="4224528" cy="658368"/>
          </a:xfrm>
          <a:prstGeom prst="rect">
            <a:avLst/>
          </a:prstGeom>
          <a:solidFill>
            <a:srgbClr val="FFFFFF"/>
          </a:solidFill>
          <a:ln w="6350">
            <a:solidFill>
              <a:srgbClr val="DDE6F5"/>
            </a:solidFill>
            <a:prstDash val="solid"/>
          </a:ln>
        </p:spPr>
        <p:txBody>
          <a:bodyPr/>
          <a:lstStyle/>
          <a:p>
            <a:endParaRPr lang="en-US"/>
          </a:p>
        </p:txBody>
      </p:sp>
      <p:sp>
        <p:nvSpPr>
          <p:cNvPr id="43" name="Shape 39">
            <a:extLst>
              <a:ext uri="{FF2B5EF4-FFF2-40B4-BE49-F238E27FC236}">
                <a16:creationId xmlns:a16="http://schemas.microsoft.com/office/drawing/2014/main" id="{4A27E948-C45E-257A-FFFE-CC828EDE748C}"/>
              </a:ext>
            </a:extLst>
          </p:cNvPr>
          <p:cNvSpPr/>
          <p:nvPr/>
        </p:nvSpPr>
        <p:spPr>
          <a:xfrm>
            <a:off x="4736592" y="1901952"/>
            <a:ext cx="475488" cy="384048"/>
          </a:xfrm>
          <a:prstGeom prst="rect">
            <a:avLst/>
          </a:prstGeom>
          <a:solidFill>
            <a:srgbClr val="1A5C7A"/>
          </a:solidFill>
          <a:ln w="12700">
            <a:solidFill>
              <a:srgbClr val="1A5C7A"/>
            </a:solidFill>
            <a:prstDash val="solid"/>
          </a:ln>
        </p:spPr>
        <p:txBody>
          <a:bodyPr/>
          <a:lstStyle/>
          <a:p>
            <a:endParaRPr lang="en-US"/>
          </a:p>
        </p:txBody>
      </p:sp>
      <p:sp>
        <p:nvSpPr>
          <p:cNvPr id="44" name="Text 40">
            <a:extLst>
              <a:ext uri="{FF2B5EF4-FFF2-40B4-BE49-F238E27FC236}">
                <a16:creationId xmlns:a16="http://schemas.microsoft.com/office/drawing/2014/main" id="{70EB8135-A860-D874-C6FA-80C359A0CA7E}"/>
              </a:ext>
            </a:extLst>
          </p:cNvPr>
          <p:cNvSpPr/>
          <p:nvPr/>
        </p:nvSpPr>
        <p:spPr>
          <a:xfrm>
            <a:off x="4736592" y="1901952"/>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7–8</a:t>
            </a:r>
            <a:endParaRPr lang="en-US" sz="1000" dirty="0"/>
          </a:p>
        </p:txBody>
      </p:sp>
      <p:sp>
        <p:nvSpPr>
          <p:cNvPr id="45" name="Text 41">
            <a:extLst>
              <a:ext uri="{FF2B5EF4-FFF2-40B4-BE49-F238E27FC236}">
                <a16:creationId xmlns:a16="http://schemas.microsoft.com/office/drawing/2014/main" id="{845FC00A-D0B8-03C7-C41D-C94FB94CA314}"/>
              </a:ext>
            </a:extLst>
          </p:cNvPr>
          <p:cNvSpPr/>
          <p:nvPr/>
        </p:nvSpPr>
        <p:spPr>
          <a:xfrm>
            <a:off x="5303520" y="1828800"/>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Strong across most dimensions with minor gaps. Architecture is sound and technology decisions are defensible. Security concerns broadly correct with one or two unconsidered areas. Integrations implemented work but may not be extensible.</a:t>
            </a:r>
            <a:endParaRPr lang="en-US" sz="850" dirty="0"/>
          </a:p>
        </p:txBody>
      </p:sp>
      <p:sp>
        <p:nvSpPr>
          <p:cNvPr id="46" name="Shape 42">
            <a:extLst>
              <a:ext uri="{FF2B5EF4-FFF2-40B4-BE49-F238E27FC236}">
                <a16:creationId xmlns:a16="http://schemas.microsoft.com/office/drawing/2014/main" id="{3ED4D5F8-667B-FEB0-6039-6E26200F7021}"/>
              </a:ext>
            </a:extLst>
          </p:cNvPr>
          <p:cNvSpPr/>
          <p:nvPr/>
        </p:nvSpPr>
        <p:spPr>
          <a:xfrm>
            <a:off x="4663440" y="2468880"/>
            <a:ext cx="4224528" cy="658368"/>
          </a:xfrm>
          <a:prstGeom prst="rect">
            <a:avLst/>
          </a:prstGeom>
          <a:solidFill>
            <a:srgbClr val="FFFFFF"/>
          </a:solidFill>
          <a:ln w="6350">
            <a:solidFill>
              <a:srgbClr val="DDE6F5"/>
            </a:solidFill>
            <a:prstDash val="solid"/>
          </a:ln>
        </p:spPr>
        <p:txBody>
          <a:bodyPr/>
          <a:lstStyle/>
          <a:p>
            <a:endParaRPr lang="en-US"/>
          </a:p>
        </p:txBody>
      </p:sp>
      <p:sp>
        <p:nvSpPr>
          <p:cNvPr id="47" name="Shape 43">
            <a:extLst>
              <a:ext uri="{FF2B5EF4-FFF2-40B4-BE49-F238E27FC236}">
                <a16:creationId xmlns:a16="http://schemas.microsoft.com/office/drawing/2014/main" id="{E9BDAEC0-CD14-DBBF-9B0C-F9C76DD04A4B}"/>
              </a:ext>
            </a:extLst>
          </p:cNvPr>
          <p:cNvSpPr/>
          <p:nvPr/>
        </p:nvSpPr>
        <p:spPr>
          <a:xfrm>
            <a:off x="4736592" y="2596896"/>
            <a:ext cx="475488" cy="384048"/>
          </a:xfrm>
          <a:prstGeom prst="rect">
            <a:avLst/>
          </a:prstGeom>
          <a:solidFill>
            <a:srgbClr val="243558"/>
          </a:solidFill>
          <a:ln w="12700">
            <a:solidFill>
              <a:srgbClr val="243558"/>
            </a:solidFill>
            <a:prstDash val="solid"/>
          </a:ln>
        </p:spPr>
        <p:txBody>
          <a:bodyPr/>
          <a:lstStyle/>
          <a:p>
            <a:endParaRPr lang="en-US"/>
          </a:p>
        </p:txBody>
      </p:sp>
      <p:sp>
        <p:nvSpPr>
          <p:cNvPr id="48" name="Text 44">
            <a:extLst>
              <a:ext uri="{FF2B5EF4-FFF2-40B4-BE49-F238E27FC236}">
                <a16:creationId xmlns:a16="http://schemas.microsoft.com/office/drawing/2014/main" id="{1E680554-96A6-E032-885D-8F55921394BA}"/>
              </a:ext>
            </a:extLst>
          </p:cNvPr>
          <p:cNvSpPr/>
          <p:nvPr/>
        </p:nvSpPr>
        <p:spPr>
          <a:xfrm>
            <a:off x="4736592" y="2596896"/>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5–6</a:t>
            </a:r>
            <a:endParaRPr lang="en-US" sz="1000" dirty="0"/>
          </a:p>
        </p:txBody>
      </p:sp>
      <p:sp>
        <p:nvSpPr>
          <p:cNvPr id="49" name="Text 45">
            <a:extLst>
              <a:ext uri="{FF2B5EF4-FFF2-40B4-BE49-F238E27FC236}">
                <a16:creationId xmlns:a16="http://schemas.microsoft.com/office/drawing/2014/main" id="{AABFDD8E-80BC-1395-DBC4-2E5AE8057386}"/>
              </a:ext>
            </a:extLst>
          </p:cNvPr>
          <p:cNvSpPr/>
          <p:nvPr/>
        </p:nvSpPr>
        <p:spPr>
          <a:xfrm>
            <a:off x="5303520" y="2523744"/>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Functional but lacking depth. System works but team struggles to explain why. Security partially addressed —but edge cases remain unconsidered. Integration approach is tightly coupled or brittle. Engineering judges can see structural debt.</a:t>
            </a:r>
            <a:endParaRPr lang="en-US" sz="850" dirty="0"/>
          </a:p>
        </p:txBody>
      </p:sp>
      <p:sp>
        <p:nvSpPr>
          <p:cNvPr id="50" name="Shape 46">
            <a:extLst>
              <a:ext uri="{FF2B5EF4-FFF2-40B4-BE49-F238E27FC236}">
                <a16:creationId xmlns:a16="http://schemas.microsoft.com/office/drawing/2014/main" id="{CD99C457-139F-B87B-A5E0-8250AE1ABFCD}"/>
              </a:ext>
            </a:extLst>
          </p:cNvPr>
          <p:cNvSpPr/>
          <p:nvPr/>
        </p:nvSpPr>
        <p:spPr>
          <a:xfrm>
            <a:off x="4663440" y="3163824"/>
            <a:ext cx="4224528" cy="658368"/>
          </a:xfrm>
          <a:prstGeom prst="rect">
            <a:avLst/>
          </a:prstGeom>
          <a:solidFill>
            <a:srgbClr val="F8FAFD"/>
          </a:solidFill>
          <a:ln w="6350">
            <a:solidFill>
              <a:srgbClr val="DDE6F5"/>
            </a:solidFill>
            <a:prstDash val="solid"/>
          </a:ln>
        </p:spPr>
        <p:txBody>
          <a:bodyPr/>
          <a:lstStyle/>
          <a:p>
            <a:endParaRPr lang="en-US"/>
          </a:p>
        </p:txBody>
      </p:sp>
      <p:sp>
        <p:nvSpPr>
          <p:cNvPr id="51" name="Shape 47">
            <a:extLst>
              <a:ext uri="{FF2B5EF4-FFF2-40B4-BE49-F238E27FC236}">
                <a16:creationId xmlns:a16="http://schemas.microsoft.com/office/drawing/2014/main" id="{185B43FD-B45D-F059-07B5-3F7ACFDF1D45}"/>
              </a:ext>
            </a:extLst>
          </p:cNvPr>
          <p:cNvSpPr/>
          <p:nvPr/>
        </p:nvSpPr>
        <p:spPr>
          <a:xfrm>
            <a:off x="4736592" y="3291840"/>
            <a:ext cx="475488" cy="384048"/>
          </a:xfrm>
          <a:prstGeom prst="rect">
            <a:avLst/>
          </a:prstGeom>
          <a:solidFill>
            <a:srgbClr val="1E2F4A"/>
          </a:solidFill>
          <a:ln w="12700">
            <a:solidFill>
              <a:srgbClr val="1E2F4A"/>
            </a:solidFill>
            <a:prstDash val="solid"/>
          </a:ln>
        </p:spPr>
        <p:txBody>
          <a:bodyPr/>
          <a:lstStyle/>
          <a:p>
            <a:endParaRPr lang="en-US"/>
          </a:p>
        </p:txBody>
      </p:sp>
      <p:sp>
        <p:nvSpPr>
          <p:cNvPr id="52" name="Text 48">
            <a:extLst>
              <a:ext uri="{FF2B5EF4-FFF2-40B4-BE49-F238E27FC236}">
                <a16:creationId xmlns:a16="http://schemas.microsoft.com/office/drawing/2014/main" id="{ED4A502F-1B18-A5E5-B3E1-E361A7589D2F}"/>
              </a:ext>
            </a:extLst>
          </p:cNvPr>
          <p:cNvSpPr/>
          <p:nvPr/>
        </p:nvSpPr>
        <p:spPr>
          <a:xfrm>
            <a:off x="4736592" y="3291840"/>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3–4</a:t>
            </a:r>
            <a:endParaRPr lang="en-US" sz="1000" dirty="0"/>
          </a:p>
        </p:txBody>
      </p:sp>
      <p:sp>
        <p:nvSpPr>
          <p:cNvPr id="53" name="Text 49">
            <a:extLst>
              <a:ext uri="{FF2B5EF4-FFF2-40B4-BE49-F238E27FC236}">
                <a16:creationId xmlns:a16="http://schemas.microsoft.com/office/drawing/2014/main" id="{573F1EF8-F8F9-2378-62D0-EF9B5BEB3683}"/>
              </a:ext>
            </a:extLst>
          </p:cNvPr>
          <p:cNvSpPr/>
          <p:nvPr/>
        </p:nvSpPr>
        <p:spPr>
          <a:xfrm>
            <a:off x="5303520" y="3218688"/>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Limited technical thinking evident. Decisions feel reactive rather than intentional. No  evidence of security consideration beyond basic auth. Integration is hardcoded or fragile. Team cannot defend key choices when questioned.</a:t>
            </a:r>
            <a:endParaRPr lang="en-US" sz="850" dirty="0"/>
          </a:p>
        </p:txBody>
      </p:sp>
      <p:sp>
        <p:nvSpPr>
          <p:cNvPr id="54" name="Shape 50">
            <a:extLst>
              <a:ext uri="{FF2B5EF4-FFF2-40B4-BE49-F238E27FC236}">
                <a16:creationId xmlns:a16="http://schemas.microsoft.com/office/drawing/2014/main" id="{E9EF8497-9093-99CA-46DF-91E8C6C494CE}"/>
              </a:ext>
            </a:extLst>
          </p:cNvPr>
          <p:cNvSpPr/>
          <p:nvPr/>
        </p:nvSpPr>
        <p:spPr>
          <a:xfrm>
            <a:off x="4663440" y="3858768"/>
            <a:ext cx="4224528" cy="658368"/>
          </a:xfrm>
          <a:prstGeom prst="rect">
            <a:avLst/>
          </a:prstGeom>
          <a:solidFill>
            <a:srgbClr val="F8FAFD"/>
          </a:solidFill>
          <a:ln w="6350">
            <a:solidFill>
              <a:srgbClr val="DDE6F5"/>
            </a:solidFill>
            <a:prstDash val="solid"/>
          </a:ln>
        </p:spPr>
        <p:txBody>
          <a:bodyPr/>
          <a:lstStyle/>
          <a:p>
            <a:endParaRPr lang="en-US"/>
          </a:p>
        </p:txBody>
      </p:sp>
      <p:sp>
        <p:nvSpPr>
          <p:cNvPr id="55" name="Shape 51">
            <a:extLst>
              <a:ext uri="{FF2B5EF4-FFF2-40B4-BE49-F238E27FC236}">
                <a16:creationId xmlns:a16="http://schemas.microsoft.com/office/drawing/2014/main" id="{3D2667B5-0B5D-12F2-CFF2-467F800D398A}"/>
              </a:ext>
            </a:extLst>
          </p:cNvPr>
          <p:cNvSpPr/>
          <p:nvPr/>
        </p:nvSpPr>
        <p:spPr>
          <a:xfrm>
            <a:off x="4736592" y="3986784"/>
            <a:ext cx="475488" cy="384048"/>
          </a:xfrm>
          <a:prstGeom prst="rect">
            <a:avLst/>
          </a:prstGeom>
          <a:solidFill>
            <a:srgbClr val="1A2740"/>
          </a:solidFill>
          <a:ln w="12700">
            <a:solidFill>
              <a:srgbClr val="1A2740"/>
            </a:solidFill>
            <a:prstDash val="solid"/>
          </a:ln>
        </p:spPr>
        <p:txBody>
          <a:bodyPr/>
          <a:lstStyle/>
          <a:p>
            <a:endParaRPr lang="en-US"/>
          </a:p>
        </p:txBody>
      </p:sp>
      <p:sp>
        <p:nvSpPr>
          <p:cNvPr id="56" name="Text 52">
            <a:extLst>
              <a:ext uri="{FF2B5EF4-FFF2-40B4-BE49-F238E27FC236}">
                <a16:creationId xmlns:a16="http://schemas.microsoft.com/office/drawing/2014/main" id="{153587BB-13EC-0335-000E-6322A63146E8}"/>
              </a:ext>
            </a:extLst>
          </p:cNvPr>
          <p:cNvSpPr/>
          <p:nvPr/>
        </p:nvSpPr>
        <p:spPr>
          <a:xfrm>
            <a:off x="4736592" y="3986784"/>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57" name="Text 53">
            <a:extLst>
              <a:ext uri="{FF2B5EF4-FFF2-40B4-BE49-F238E27FC236}">
                <a16:creationId xmlns:a16="http://schemas.microsoft.com/office/drawing/2014/main" id="{677A5796-6AFE-2FE8-E535-3303FEB1B768}"/>
              </a:ext>
            </a:extLst>
          </p:cNvPr>
          <p:cNvSpPr/>
          <p:nvPr/>
        </p:nvSpPr>
        <p:spPr>
          <a:xfrm>
            <a:off x="5303520" y="3913632"/>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Minimal structure. Something was built but no discernible architecture. Technology choices are incoherent, no security consideration, no sensible integration pattern. Functions by luck rather than intent.</a:t>
            </a:r>
            <a:endParaRPr lang="en-US" sz="850" dirty="0"/>
          </a:p>
        </p:txBody>
      </p:sp>
      <p:sp>
        <p:nvSpPr>
          <p:cNvPr id="58" name="Shape 54">
            <a:extLst>
              <a:ext uri="{FF2B5EF4-FFF2-40B4-BE49-F238E27FC236}">
                <a16:creationId xmlns:a16="http://schemas.microsoft.com/office/drawing/2014/main" id="{291F05E8-EA63-EA1E-15E0-7EB9A281E27D}"/>
              </a:ext>
            </a:extLst>
          </p:cNvPr>
          <p:cNvSpPr/>
          <p:nvPr/>
        </p:nvSpPr>
        <p:spPr>
          <a:xfrm>
            <a:off x="4663440" y="4553712"/>
            <a:ext cx="4224528" cy="589788"/>
          </a:xfrm>
          <a:prstGeom prst="rect">
            <a:avLst/>
          </a:prstGeom>
          <a:solidFill>
            <a:srgbClr val="F8FAFD"/>
          </a:solidFill>
          <a:ln w="6350">
            <a:solidFill>
              <a:srgbClr val="DDE6F5"/>
            </a:solidFill>
            <a:prstDash val="solid"/>
          </a:ln>
        </p:spPr>
        <p:txBody>
          <a:bodyPr/>
          <a:lstStyle/>
          <a:p>
            <a:endParaRPr lang="en-US"/>
          </a:p>
        </p:txBody>
      </p:sp>
      <p:sp>
        <p:nvSpPr>
          <p:cNvPr id="59" name="Shape 55">
            <a:extLst>
              <a:ext uri="{FF2B5EF4-FFF2-40B4-BE49-F238E27FC236}">
                <a16:creationId xmlns:a16="http://schemas.microsoft.com/office/drawing/2014/main" id="{3D54DC68-6551-FB12-3B64-341C6A35A048}"/>
              </a:ext>
            </a:extLst>
          </p:cNvPr>
          <p:cNvSpPr/>
          <p:nvPr/>
        </p:nvSpPr>
        <p:spPr>
          <a:xfrm>
            <a:off x="4736592" y="4681728"/>
            <a:ext cx="475488" cy="384048"/>
          </a:xfrm>
          <a:prstGeom prst="rect">
            <a:avLst/>
          </a:prstGeom>
          <a:solidFill>
            <a:srgbClr val="151F30"/>
          </a:solidFill>
          <a:ln w="12700">
            <a:solidFill>
              <a:srgbClr val="151F30"/>
            </a:solidFill>
            <a:prstDash val="solid"/>
          </a:ln>
        </p:spPr>
        <p:txBody>
          <a:bodyPr/>
          <a:lstStyle/>
          <a:p>
            <a:endParaRPr lang="en-US"/>
          </a:p>
        </p:txBody>
      </p:sp>
      <p:sp>
        <p:nvSpPr>
          <p:cNvPr id="60" name="Text 56">
            <a:extLst>
              <a:ext uri="{FF2B5EF4-FFF2-40B4-BE49-F238E27FC236}">
                <a16:creationId xmlns:a16="http://schemas.microsoft.com/office/drawing/2014/main" id="{864345BA-BBB8-E373-8070-337E53C36246}"/>
              </a:ext>
            </a:extLst>
          </p:cNvPr>
          <p:cNvSpPr/>
          <p:nvPr/>
        </p:nvSpPr>
        <p:spPr>
          <a:xfrm>
            <a:off x="4736592" y="468172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61" name="Text 57">
            <a:extLst>
              <a:ext uri="{FF2B5EF4-FFF2-40B4-BE49-F238E27FC236}">
                <a16:creationId xmlns:a16="http://schemas.microsoft.com/office/drawing/2014/main" id="{93265817-6EA8-8910-27AD-B48872B16325}"/>
              </a:ext>
            </a:extLst>
          </p:cNvPr>
          <p:cNvSpPr/>
          <p:nvPr/>
        </p:nvSpPr>
        <p:spPr>
          <a:xfrm>
            <a:off x="5303520" y="460857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Nothing to assess technically. No running system, no documentation, and no evidence of architectural thinking in the presentation.</a:t>
            </a:r>
            <a:endParaRPr lang="en-US" sz="850" dirty="0"/>
          </a:p>
        </p:txBody>
      </p:sp>
    </p:spTree>
    <p:extLst>
      <p:ext uri="{BB962C8B-B14F-4D97-AF65-F5344CB8AC3E}">
        <p14:creationId xmlns:p14="http://schemas.microsoft.com/office/powerpoint/2010/main" val="2086980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6BB9-CD90-FEAE-AC9A-7695AA0A22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A447D5-E64B-2EFE-B006-918727B93476}"/>
              </a:ext>
            </a:extLst>
          </p:cNvPr>
          <p:cNvSpPr/>
          <p:nvPr/>
        </p:nvSpPr>
        <p:spPr>
          <a:xfrm>
            <a:off x="0" y="0"/>
            <a:ext cx="9144000" cy="621792"/>
          </a:xfrm>
          <a:prstGeom prst="rect">
            <a:avLst/>
          </a:prstGeom>
          <a:solidFill>
            <a:srgbClr val="1A2744"/>
          </a:solidFill>
          <a:ln w="12700">
            <a:solidFill>
              <a:srgbClr val="1A2744"/>
            </a:solidFill>
            <a:prstDash val="solid"/>
          </a:ln>
        </p:spPr>
        <p:txBody>
          <a:bodyPr/>
          <a:lstStyle/>
          <a:p>
            <a:endParaRPr lang="en-US"/>
          </a:p>
        </p:txBody>
      </p:sp>
      <p:sp>
        <p:nvSpPr>
          <p:cNvPr id="3" name="Shape 1">
            <a:extLst>
              <a:ext uri="{FF2B5EF4-FFF2-40B4-BE49-F238E27FC236}">
                <a16:creationId xmlns:a16="http://schemas.microsoft.com/office/drawing/2014/main" id="{E2901227-A44B-1158-5BEF-6FDFD8DA4363}"/>
              </a:ext>
            </a:extLst>
          </p:cNvPr>
          <p:cNvSpPr/>
          <p:nvPr/>
        </p:nvSpPr>
        <p:spPr>
          <a:xfrm>
            <a:off x="0" y="0"/>
            <a:ext cx="82296" cy="621792"/>
          </a:xfrm>
          <a:prstGeom prst="rect">
            <a:avLst/>
          </a:prstGeom>
          <a:solidFill>
            <a:srgbClr val="00C4CC"/>
          </a:solidFill>
          <a:ln w="12700">
            <a:solidFill>
              <a:srgbClr val="00C4CC"/>
            </a:solidFill>
            <a:prstDash val="solid"/>
          </a:ln>
        </p:spPr>
        <p:txBody>
          <a:bodyPr/>
          <a:lstStyle/>
          <a:p>
            <a:endParaRPr lang="en-US"/>
          </a:p>
        </p:txBody>
      </p:sp>
      <p:sp>
        <p:nvSpPr>
          <p:cNvPr id="4" name="Text 2">
            <a:extLst>
              <a:ext uri="{FF2B5EF4-FFF2-40B4-BE49-F238E27FC236}">
                <a16:creationId xmlns:a16="http://schemas.microsoft.com/office/drawing/2014/main" id="{13EAC6FA-3FD0-7604-CAFF-0C3EC4CDDAC5}"/>
              </a:ext>
            </a:extLst>
          </p:cNvPr>
          <p:cNvSpPr/>
          <p:nvPr/>
        </p:nvSpPr>
        <p:spPr>
          <a:xfrm>
            <a:off x="201168" y="0"/>
            <a:ext cx="4370832" cy="621792"/>
          </a:xfrm>
          <a:prstGeom prst="rect">
            <a:avLst/>
          </a:prstGeom>
          <a:noFill/>
          <a:ln/>
        </p:spPr>
        <p:txBody>
          <a:bodyPr wrap="square" lIns="0" tIns="0" rIns="0" bIns="0" rtlCol="0" anchor="ctr"/>
          <a:lstStyle/>
          <a:p>
            <a:r>
              <a:rPr lang="en-US" sz="1600" b="1" dirty="0">
                <a:solidFill>
                  <a:srgbClr val="FFFFFF"/>
                </a:solidFill>
                <a:latin typeface="Trebuchet MS" pitchFamily="34" charset="0"/>
              </a:rPr>
              <a:t>Organiser Blueprint</a:t>
            </a:r>
            <a:r>
              <a:rPr lang="en-US" sz="1600" b="1" dirty="0">
                <a:solidFill>
                  <a:srgbClr val="FFFFFF"/>
                </a:solidFill>
                <a:latin typeface="Trebuchet MS" pitchFamily="34" charset="0"/>
                <a:ea typeface="Trebuchet MS" pitchFamily="34" charset="-122"/>
                <a:cs typeface="Trebuchet MS" pitchFamily="34" charset="-120"/>
              </a:rPr>
              <a:t> — Judges Scoring Rubric</a:t>
            </a:r>
            <a:endParaRPr lang="en-US" sz="1600" dirty="0"/>
          </a:p>
        </p:txBody>
      </p:sp>
      <p:sp>
        <p:nvSpPr>
          <p:cNvPr id="5" name="Text 3">
            <a:extLst>
              <a:ext uri="{FF2B5EF4-FFF2-40B4-BE49-F238E27FC236}">
                <a16:creationId xmlns:a16="http://schemas.microsoft.com/office/drawing/2014/main" id="{E6346AAF-28EB-D4D6-1F9D-BEC7407460E5}"/>
              </a:ext>
            </a:extLst>
          </p:cNvPr>
          <p:cNvSpPr/>
          <p:nvPr/>
        </p:nvSpPr>
        <p:spPr>
          <a:xfrm>
            <a:off x="5943600" y="0"/>
            <a:ext cx="2926080" cy="621792"/>
          </a:xfrm>
          <a:prstGeom prst="rect">
            <a:avLst/>
          </a:prstGeom>
          <a:noFill/>
          <a:ln/>
        </p:spPr>
        <p:txBody>
          <a:bodyPr wrap="square" lIns="0" tIns="0" rIns="0" bIns="0" rtlCol="0" anchor="ctr"/>
          <a:lstStyle/>
          <a:p>
            <a:pPr marL="0" indent="0" algn="r">
              <a:buNone/>
            </a:pPr>
            <a:r>
              <a:rPr lang="en-US" sz="950" i="1" dirty="0">
                <a:solidFill>
                  <a:srgbClr val="6B7FA3"/>
                </a:solidFill>
                <a:latin typeface="Calibri" pitchFamily="34" charset="0"/>
                <a:ea typeface="Calibri" pitchFamily="34" charset="-122"/>
                <a:cs typeface="Calibri" pitchFamily="34" charset="-120"/>
              </a:rPr>
              <a:t>3 judges · scores out of 10 · averaged across panel</a:t>
            </a:r>
            <a:endParaRPr lang="en-US" sz="950" dirty="0"/>
          </a:p>
        </p:txBody>
      </p:sp>
      <p:sp>
        <p:nvSpPr>
          <p:cNvPr id="6" name="Shape 4">
            <a:extLst>
              <a:ext uri="{FF2B5EF4-FFF2-40B4-BE49-F238E27FC236}">
                <a16:creationId xmlns:a16="http://schemas.microsoft.com/office/drawing/2014/main" id="{A4377064-5E1A-3D26-E09C-A8F0E5EF4A79}"/>
              </a:ext>
            </a:extLst>
          </p:cNvPr>
          <p:cNvSpPr/>
          <p:nvPr/>
        </p:nvSpPr>
        <p:spPr>
          <a:xfrm>
            <a:off x="256032" y="713232"/>
            <a:ext cx="4224528" cy="310896"/>
          </a:xfrm>
          <a:prstGeom prst="rect">
            <a:avLst/>
          </a:prstGeom>
          <a:solidFill>
            <a:srgbClr val="1A2744"/>
          </a:solidFill>
          <a:ln w="12700">
            <a:solidFill>
              <a:srgbClr val="1A2744"/>
            </a:solidFill>
            <a:prstDash val="solid"/>
          </a:ln>
        </p:spPr>
        <p:txBody>
          <a:bodyPr/>
          <a:lstStyle/>
          <a:p>
            <a:endParaRPr lang="en-US"/>
          </a:p>
        </p:txBody>
      </p:sp>
      <p:sp>
        <p:nvSpPr>
          <p:cNvPr id="7" name="Shape 5">
            <a:extLst>
              <a:ext uri="{FF2B5EF4-FFF2-40B4-BE49-F238E27FC236}">
                <a16:creationId xmlns:a16="http://schemas.microsoft.com/office/drawing/2014/main" id="{27194320-FA92-E222-0A83-52D4082D7497}"/>
              </a:ext>
            </a:extLst>
          </p:cNvPr>
          <p:cNvSpPr/>
          <p:nvPr/>
        </p:nvSpPr>
        <p:spPr>
          <a:xfrm>
            <a:off x="256032" y="713232"/>
            <a:ext cx="64008" cy="310896"/>
          </a:xfrm>
          <a:prstGeom prst="rect">
            <a:avLst/>
          </a:prstGeom>
          <a:solidFill>
            <a:srgbClr val="00C4CC"/>
          </a:solidFill>
          <a:ln w="12700">
            <a:solidFill>
              <a:srgbClr val="00C4CC"/>
            </a:solidFill>
            <a:prstDash val="solid"/>
          </a:ln>
        </p:spPr>
        <p:txBody>
          <a:bodyPr/>
          <a:lstStyle/>
          <a:p>
            <a:endParaRPr lang="en-US"/>
          </a:p>
        </p:txBody>
      </p:sp>
      <p:pic>
        <p:nvPicPr>
          <p:cNvPr id="8" name="Image 0" descr="preencoded.png">
            <a:extLst>
              <a:ext uri="{FF2B5EF4-FFF2-40B4-BE49-F238E27FC236}">
                <a16:creationId xmlns:a16="http://schemas.microsoft.com/office/drawing/2014/main" id="{0F8E44AB-80C2-454D-6B91-527E9CBE8722}"/>
              </a:ext>
            </a:extLst>
          </p:cNvPr>
          <p:cNvPicPr>
            <a:picLocks noChangeAspect="1"/>
          </p:cNvPicPr>
          <p:nvPr/>
        </p:nvPicPr>
        <p:blipFill>
          <a:blip r:embed="rId3"/>
          <a:stretch>
            <a:fillRect/>
          </a:stretch>
        </p:blipFill>
        <p:spPr>
          <a:xfrm>
            <a:off x="365760" y="749808"/>
            <a:ext cx="219456" cy="219456"/>
          </a:xfrm>
          <a:prstGeom prst="rect">
            <a:avLst/>
          </a:prstGeom>
        </p:spPr>
      </p:pic>
      <p:sp>
        <p:nvSpPr>
          <p:cNvPr id="9" name="Text 6">
            <a:extLst>
              <a:ext uri="{FF2B5EF4-FFF2-40B4-BE49-F238E27FC236}">
                <a16:creationId xmlns:a16="http://schemas.microsoft.com/office/drawing/2014/main" id="{5A70A6D7-646D-2F88-EBFA-C9A42CE3A438}"/>
              </a:ext>
            </a:extLst>
          </p:cNvPr>
          <p:cNvSpPr/>
          <p:nvPr/>
        </p:nvSpPr>
        <p:spPr>
          <a:xfrm>
            <a:off x="658368" y="713232"/>
            <a:ext cx="3767328" cy="310896"/>
          </a:xfrm>
          <a:prstGeom prst="rect">
            <a:avLst/>
          </a:prstGeom>
          <a:noFill/>
          <a:ln/>
        </p:spPr>
        <p:txBody>
          <a:bodyPr wrap="square" lIns="0" tIns="0" rIns="0" bIns="0" rtlCol="0" anchor="ctr"/>
          <a:lstStyle/>
          <a:p>
            <a:pPr marL="0" indent="0">
              <a:buNone/>
            </a:pPr>
            <a:r>
              <a:rPr lang="en-US" sz="1100" b="1" dirty="0">
                <a:solidFill>
                  <a:srgbClr val="00C4CC"/>
                </a:solidFill>
                <a:latin typeface="Trebuchet MS" pitchFamily="34" charset="0"/>
                <a:ea typeface="Trebuchet MS" pitchFamily="34" charset="-122"/>
                <a:cs typeface="Trebuchet MS" pitchFamily="34" charset="-120"/>
              </a:rPr>
              <a:t>Category: Best UX</a:t>
            </a:r>
            <a:endParaRPr lang="en-US" sz="1100" dirty="0"/>
          </a:p>
        </p:txBody>
      </p:sp>
      <p:sp>
        <p:nvSpPr>
          <p:cNvPr id="10" name="Shape 7">
            <a:extLst>
              <a:ext uri="{FF2B5EF4-FFF2-40B4-BE49-F238E27FC236}">
                <a16:creationId xmlns:a16="http://schemas.microsoft.com/office/drawing/2014/main" id="{6899DCFB-A19C-41D2-A727-4455A42E8611}"/>
              </a:ext>
            </a:extLst>
          </p:cNvPr>
          <p:cNvSpPr/>
          <p:nvPr/>
        </p:nvSpPr>
        <p:spPr>
          <a:xfrm>
            <a:off x="256032" y="1078992"/>
            <a:ext cx="4224528" cy="658368"/>
          </a:xfrm>
          <a:prstGeom prst="rect">
            <a:avLst/>
          </a:prstGeom>
          <a:solidFill>
            <a:srgbClr val="FFFFFF"/>
          </a:solidFill>
          <a:ln w="6350">
            <a:solidFill>
              <a:srgbClr val="DDE6F5"/>
            </a:solidFill>
            <a:prstDash val="solid"/>
          </a:ln>
        </p:spPr>
        <p:txBody>
          <a:bodyPr/>
          <a:lstStyle/>
          <a:p>
            <a:endParaRPr lang="en-US"/>
          </a:p>
        </p:txBody>
      </p:sp>
      <p:sp>
        <p:nvSpPr>
          <p:cNvPr id="11" name="Shape 8">
            <a:extLst>
              <a:ext uri="{FF2B5EF4-FFF2-40B4-BE49-F238E27FC236}">
                <a16:creationId xmlns:a16="http://schemas.microsoft.com/office/drawing/2014/main" id="{97DE26E1-E12B-5CD2-60BF-8F38092AA671}"/>
              </a:ext>
            </a:extLst>
          </p:cNvPr>
          <p:cNvSpPr/>
          <p:nvPr/>
        </p:nvSpPr>
        <p:spPr>
          <a:xfrm>
            <a:off x="329184" y="1207008"/>
            <a:ext cx="475488" cy="384048"/>
          </a:xfrm>
          <a:prstGeom prst="rect">
            <a:avLst/>
          </a:prstGeom>
          <a:solidFill>
            <a:srgbClr val="027A80"/>
          </a:solidFill>
          <a:ln w="12700">
            <a:solidFill>
              <a:srgbClr val="027A80"/>
            </a:solidFill>
            <a:prstDash val="solid"/>
          </a:ln>
        </p:spPr>
        <p:txBody>
          <a:bodyPr/>
          <a:lstStyle/>
          <a:p>
            <a:endParaRPr lang="en-US"/>
          </a:p>
        </p:txBody>
      </p:sp>
      <p:sp>
        <p:nvSpPr>
          <p:cNvPr id="12" name="Text 9">
            <a:extLst>
              <a:ext uri="{FF2B5EF4-FFF2-40B4-BE49-F238E27FC236}">
                <a16:creationId xmlns:a16="http://schemas.microsoft.com/office/drawing/2014/main" id="{643C9543-5889-E159-AA11-942F573096C0}"/>
              </a:ext>
            </a:extLst>
          </p:cNvPr>
          <p:cNvSpPr/>
          <p:nvPr/>
        </p:nvSpPr>
        <p:spPr>
          <a:xfrm>
            <a:off x="329184" y="120700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9–10</a:t>
            </a:r>
            <a:endParaRPr lang="en-US" sz="1000" dirty="0"/>
          </a:p>
        </p:txBody>
      </p:sp>
      <p:sp>
        <p:nvSpPr>
          <p:cNvPr id="13" name="Text 10">
            <a:extLst>
              <a:ext uri="{FF2B5EF4-FFF2-40B4-BE49-F238E27FC236}">
                <a16:creationId xmlns:a16="http://schemas.microsoft.com/office/drawing/2014/main" id="{B665B795-3152-B1E5-21BB-9EAA81CC0098}"/>
              </a:ext>
            </a:extLst>
          </p:cNvPr>
          <p:cNvSpPr/>
          <p:nvPr/>
        </p:nvSpPr>
        <p:spPr>
          <a:xfrm>
            <a:off x="896112" y="113385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A non-technical person could complete a booking without any guidance. Flow is intuitive, feedback is clear at every step, errors are handled gracefully with meaningful messages. Basic accessibility features are present — contrast, labels, readable text. Interface feels like it belongs in a modern workplace tool.</a:t>
            </a:r>
            <a:endParaRPr lang="en-US" sz="850" dirty="0"/>
          </a:p>
        </p:txBody>
      </p:sp>
      <p:sp>
        <p:nvSpPr>
          <p:cNvPr id="14" name="Shape 11">
            <a:extLst>
              <a:ext uri="{FF2B5EF4-FFF2-40B4-BE49-F238E27FC236}">
                <a16:creationId xmlns:a16="http://schemas.microsoft.com/office/drawing/2014/main" id="{0B4F1F8F-A545-6C50-BBEB-340DF274F789}"/>
              </a:ext>
            </a:extLst>
          </p:cNvPr>
          <p:cNvSpPr/>
          <p:nvPr/>
        </p:nvSpPr>
        <p:spPr>
          <a:xfrm>
            <a:off x="256032" y="1773936"/>
            <a:ext cx="4224528" cy="658368"/>
          </a:xfrm>
          <a:prstGeom prst="rect">
            <a:avLst/>
          </a:prstGeom>
          <a:solidFill>
            <a:srgbClr val="FFFFFF"/>
          </a:solidFill>
          <a:ln w="6350">
            <a:solidFill>
              <a:srgbClr val="DDE6F5"/>
            </a:solidFill>
            <a:prstDash val="solid"/>
          </a:ln>
        </p:spPr>
        <p:txBody>
          <a:bodyPr/>
          <a:lstStyle/>
          <a:p>
            <a:endParaRPr lang="en-US"/>
          </a:p>
        </p:txBody>
      </p:sp>
      <p:sp>
        <p:nvSpPr>
          <p:cNvPr id="15" name="Shape 12">
            <a:extLst>
              <a:ext uri="{FF2B5EF4-FFF2-40B4-BE49-F238E27FC236}">
                <a16:creationId xmlns:a16="http://schemas.microsoft.com/office/drawing/2014/main" id="{2101CF00-D86F-A255-2B1A-F7B29287A101}"/>
              </a:ext>
            </a:extLst>
          </p:cNvPr>
          <p:cNvSpPr/>
          <p:nvPr/>
        </p:nvSpPr>
        <p:spPr>
          <a:xfrm>
            <a:off x="329184" y="1901952"/>
            <a:ext cx="475488" cy="384048"/>
          </a:xfrm>
          <a:prstGeom prst="rect">
            <a:avLst/>
          </a:prstGeom>
          <a:solidFill>
            <a:srgbClr val="1A5C7A"/>
          </a:solidFill>
          <a:ln w="12700">
            <a:solidFill>
              <a:srgbClr val="1A5C7A"/>
            </a:solidFill>
            <a:prstDash val="solid"/>
          </a:ln>
        </p:spPr>
        <p:txBody>
          <a:bodyPr/>
          <a:lstStyle/>
          <a:p>
            <a:endParaRPr lang="en-US"/>
          </a:p>
        </p:txBody>
      </p:sp>
      <p:sp>
        <p:nvSpPr>
          <p:cNvPr id="16" name="Text 13">
            <a:extLst>
              <a:ext uri="{FF2B5EF4-FFF2-40B4-BE49-F238E27FC236}">
                <a16:creationId xmlns:a16="http://schemas.microsoft.com/office/drawing/2014/main" id="{0208E949-AD73-963A-422C-4788727CD3B1}"/>
              </a:ext>
            </a:extLst>
          </p:cNvPr>
          <p:cNvSpPr/>
          <p:nvPr/>
        </p:nvSpPr>
        <p:spPr>
          <a:xfrm>
            <a:off x="329184" y="1901952"/>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7–8</a:t>
            </a:r>
            <a:endParaRPr lang="en-US" sz="1000" dirty="0"/>
          </a:p>
        </p:txBody>
      </p:sp>
      <p:sp>
        <p:nvSpPr>
          <p:cNvPr id="17" name="Text 14">
            <a:extLst>
              <a:ext uri="{FF2B5EF4-FFF2-40B4-BE49-F238E27FC236}">
                <a16:creationId xmlns:a16="http://schemas.microsoft.com/office/drawing/2014/main" id="{7EAC9C03-EBFA-F3A7-673E-DD32C6F3EC72}"/>
              </a:ext>
            </a:extLst>
          </p:cNvPr>
          <p:cNvSpPr/>
          <p:nvPr/>
        </p:nvSpPr>
        <p:spPr>
          <a:xfrm>
            <a:off x="896112" y="1828800"/>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Largely intuitive with minor friction. A new user could navigate the core flow but may hesitate at one or two points. Error states partially handled. Visually coherent. Minor accessibility gaps but nothing that blocks use.</a:t>
            </a:r>
            <a:endParaRPr lang="en-US" sz="850" dirty="0"/>
          </a:p>
        </p:txBody>
      </p:sp>
      <p:sp>
        <p:nvSpPr>
          <p:cNvPr id="18" name="Shape 15">
            <a:extLst>
              <a:ext uri="{FF2B5EF4-FFF2-40B4-BE49-F238E27FC236}">
                <a16:creationId xmlns:a16="http://schemas.microsoft.com/office/drawing/2014/main" id="{78BCF24D-FA81-4AF2-C766-0C34A9CDF36D}"/>
              </a:ext>
            </a:extLst>
          </p:cNvPr>
          <p:cNvSpPr/>
          <p:nvPr/>
        </p:nvSpPr>
        <p:spPr>
          <a:xfrm>
            <a:off x="256032" y="2468880"/>
            <a:ext cx="4224528" cy="658368"/>
          </a:xfrm>
          <a:prstGeom prst="rect">
            <a:avLst/>
          </a:prstGeom>
          <a:solidFill>
            <a:srgbClr val="FFFFFF"/>
          </a:solidFill>
          <a:ln w="6350">
            <a:solidFill>
              <a:srgbClr val="DDE6F5"/>
            </a:solidFill>
            <a:prstDash val="solid"/>
          </a:ln>
        </p:spPr>
        <p:txBody>
          <a:bodyPr/>
          <a:lstStyle/>
          <a:p>
            <a:endParaRPr lang="en-US"/>
          </a:p>
        </p:txBody>
      </p:sp>
      <p:sp>
        <p:nvSpPr>
          <p:cNvPr id="19" name="Shape 16">
            <a:extLst>
              <a:ext uri="{FF2B5EF4-FFF2-40B4-BE49-F238E27FC236}">
                <a16:creationId xmlns:a16="http://schemas.microsoft.com/office/drawing/2014/main" id="{808CFA54-0181-DC9D-8C0C-D643D1BAE69A}"/>
              </a:ext>
            </a:extLst>
          </p:cNvPr>
          <p:cNvSpPr/>
          <p:nvPr/>
        </p:nvSpPr>
        <p:spPr>
          <a:xfrm>
            <a:off x="329184" y="2596896"/>
            <a:ext cx="475488" cy="384048"/>
          </a:xfrm>
          <a:prstGeom prst="rect">
            <a:avLst/>
          </a:prstGeom>
          <a:solidFill>
            <a:srgbClr val="243558"/>
          </a:solidFill>
          <a:ln w="12700">
            <a:solidFill>
              <a:srgbClr val="243558"/>
            </a:solidFill>
            <a:prstDash val="solid"/>
          </a:ln>
        </p:spPr>
        <p:txBody>
          <a:bodyPr/>
          <a:lstStyle/>
          <a:p>
            <a:endParaRPr lang="en-US"/>
          </a:p>
        </p:txBody>
      </p:sp>
      <p:sp>
        <p:nvSpPr>
          <p:cNvPr id="20" name="Text 17">
            <a:extLst>
              <a:ext uri="{FF2B5EF4-FFF2-40B4-BE49-F238E27FC236}">
                <a16:creationId xmlns:a16="http://schemas.microsoft.com/office/drawing/2014/main" id="{B440E91E-BFC9-4F52-2630-B38882795B64}"/>
              </a:ext>
            </a:extLst>
          </p:cNvPr>
          <p:cNvSpPr/>
          <p:nvPr/>
        </p:nvSpPr>
        <p:spPr>
          <a:xfrm>
            <a:off x="329184" y="2596896"/>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5–6</a:t>
            </a:r>
            <a:endParaRPr lang="en-US" sz="1000" dirty="0"/>
          </a:p>
        </p:txBody>
      </p:sp>
      <p:sp>
        <p:nvSpPr>
          <p:cNvPr id="21" name="Text 18">
            <a:extLst>
              <a:ext uri="{FF2B5EF4-FFF2-40B4-BE49-F238E27FC236}">
                <a16:creationId xmlns:a16="http://schemas.microsoft.com/office/drawing/2014/main" id="{8C24FE11-FA23-9F13-193D-44BE9171CF5C}"/>
              </a:ext>
            </a:extLst>
          </p:cNvPr>
          <p:cNvSpPr/>
          <p:nvPr/>
        </p:nvSpPr>
        <p:spPr>
          <a:xfrm>
            <a:off x="896112" y="2523744"/>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Usable with guidance. System works but a new user would need a brief explanation to get started. Some flows feel incomplete or require trial and error. Error handling is minimal — failures may be silent or unclear.</a:t>
            </a:r>
            <a:endParaRPr lang="en-US" sz="850" dirty="0"/>
          </a:p>
        </p:txBody>
      </p:sp>
      <p:sp>
        <p:nvSpPr>
          <p:cNvPr id="22" name="Shape 19">
            <a:extLst>
              <a:ext uri="{FF2B5EF4-FFF2-40B4-BE49-F238E27FC236}">
                <a16:creationId xmlns:a16="http://schemas.microsoft.com/office/drawing/2014/main" id="{CE07B512-84EA-14AD-A96E-2C8A75B1BB77}"/>
              </a:ext>
            </a:extLst>
          </p:cNvPr>
          <p:cNvSpPr/>
          <p:nvPr/>
        </p:nvSpPr>
        <p:spPr>
          <a:xfrm>
            <a:off x="256032" y="3163824"/>
            <a:ext cx="4224528" cy="658368"/>
          </a:xfrm>
          <a:prstGeom prst="rect">
            <a:avLst/>
          </a:prstGeom>
          <a:solidFill>
            <a:srgbClr val="F8FAFD"/>
          </a:solidFill>
          <a:ln w="6350">
            <a:solidFill>
              <a:srgbClr val="DDE6F5"/>
            </a:solidFill>
            <a:prstDash val="solid"/>
          </a:ln>
        </p:spPr>
        <p:txBody>
          <a:bodyPr/>
          <a:lstStyle/>
          <a:p>
            <a:endParaRPr lang="en-US"/>
          </a:p>
        </p:txBody>
      </p:sp>
      <p:sp>
        <p:nvSpPr>
          <p:cNvPr id="23" name="Shape 20">
            <a:extLst>
              <a:ext uri="{FF2B5EF4-FFF2-40B4-BE49-F238E27FC236}">
                <a16:creationId xmlns:a16="http://schemas.microsoft.com/office/drawing/2014/main" id="{D8DC0413-81C2-ECC5-5599-81E05072E824}"/>
              </a:ext>
            </a:extLst>
          </p:cNvPr>
          <p:cNvSpPr/>
          <p:nvPr/>
        </p:nvSpPr>
        <p:spPr>
          <a:xfrm>
            <a:off x="329184" y="3291840"/>
            <a:ext cx="475488" cy="384048"/>
          </a:xfrm>
          <a:prstGeom prst="rect">
            <a:avLst/>
          </a:prstGeom>
          <a:solidFill>
            <a:srgbClr val="1E2F4A"/>
          </a:solidFill>
          <a:ln w="12700">
            <a:solidFill>
              <a:srgbClr val="1E2F4A"/>
            </a:solidFill>
            <a:prstDash val="solid"/>
          </a:ln>
        </p:spPr>
        <p:txBody>
          <a:bodyPr/>
          <a:lstStyle/>
          <a:p>
            <a:endParaRPr lang="en-US"/>
          </a:p>
        </p:txBody>
      </p:sp>
      <p:sp>
        <p:nvSpPr>
          <p:cNvPr id="24" name="Text 21">
            <a:extLst>
              <a:ext uri="{FF2B5EF4-FFF2-40B4-BE49-F238E27FC236}">
                <a16:creationId xmlns:a16="http://schemas.microsoft.com/office/drawing/2014/main" id="{9EAB0D39-7C76-4F6C-34FE-F7AA7EB62599}"/>
              </a:ext>
            </a:extLst>
          </p:cNvPr>
          <p:cNvSpPr/>
          <p:nvPr/>
        </p:nvSpPr>
        <p:spPr>
          <a:xfrm>
            <a:off x="329184" y="3291840"/>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3–4</a:t>
            </a:r>
            <a:endParaRPr lang="en-US" sz="1000" dirty="0"/>
          </a:p>
        </p:txBody>
      </p:sp>
      <p:sp>
        <p:nvSpPr>
          <p:cNvPr id="25" name="Text 22">
            <a:extLst>
              <a:ext uri="{FF2B5EF4-FFF2-40B4-BE49-F238E27FC236}">
                <a16:creationId xmlns:a16="http://schemas.microsoft.com/office/drawing/2014/main" id="{891F6C1B-5F8D-1480-D31E-678AF9C1854C}"/>
              </a:ext>
            </a:extLst>
          </p:cNvPr>
          <p:cNvSpPr/>
          <p:nvPr/>
        </p:nvSpPr>
        <p:spPr>
          <a:xfrm>
            <a:off x="896112" y="3218688"/>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Difficult to use without knowing how it was built. Navigation requires prior knowledge of the system's structure. Errors are unexplained or absent. The interface communicates for the developer, not the user. Accessibility ignored.</a:t>
            </a:r>
            <a:endParaRPr lang="en-US" sz="850" dirty="0"/>
          </a:p>
        </p:txBody>
      </p:sp>
      <p:sp>
        <p:nvSpPr>
          <p:cNvPr id="26" name="Shape 23">
            <a:extLst>
              <a:ext uri="{FF2B5EF4-FFF2-40B4-BE49-F238E27FC236}">
                <a16:creationId xmlns:a16="http://schemas.microsoft.com/office/drawing/2014/main" id="{C6F702EE-AD4E-BBAB-BD46-2FC0E470E140}"/>
              </a:ext>
            </a:extLst>
          </p:cNvPr>
          <p:cNvSpPr/>
          <p:nvPr/>
        </p:nvSpPr>
        <p:spPr>
          <a:xfrm>
            <a:off x="256032" y="3858768"/>
            <a:ext cx="4224528" cy="658368"/>
          </a:xfrm>
          <a:prstGeom prst="rect">
            <a:avLst/>
          </a:prstGeom>
          <a:solidFill>
            <a:srgbClr val="F8FAFD"/>
          </a:solidFill>
          <a:ln w="6350">
            <a:solidFill>
              <a:srgbClr val="DDE6F5"/>
            </a:solidFill>
            <a:prstDash val="solid"/>
          </a:ln>
        </p:spPr>
        <p:txBody>
          <a:bodyPr/>
          <a:lstStyle/>
          <a:p>
            <a:endParaRPr lang="en-US"/>
          </a:p>
        </p:txBody>
      </p:sp>
      <p:sp>
        <p:nvSpPr>
          <p:cNvPr id="27" name="Shape 24">
            <a:extLst>
              <a:ext uri="{FF2B5EF4-FFF2-40B4-BE49-F238E27FC236}">
                <a16:creationId xmlns:a16="http://schemas.microsoft.com/office/drawing/2014/main" id="{FBE41D7D-9813-EDBC-26EE-0B5EB63F72C8}"/>
              </a:ext>
            </a:extLst>
          </p:cNvPr>
          <p:cNvSpPr/>
          <p:nvPr/>
        </p:nvSpPr>
        <p:spPr>
          <a:xfrm>
            <a:off x="329184" y="3986784"/>
            <a:ext cx="475488" cy="384048"/>
          </a:xfrm>
          <a:prstGeom prst="rect">
            <a:avLst/>
          </a:prstGeom>
          <a:solidFill>
            <a:srgbClr val="1A2740"/>
          </a:solidFill>
          <a:ln w="12700">
            <a:solidFill>
              <a:srgbClr val="1A2740"/>
            </a:solidFill>
            <a:prstDash val="solid"/>
          </a:ln>
        </p:spPr>
        <p:txBody>
          <a:bodyPr/>
          <a:lstStyle/>
          <a:p>
            <a:endParaRPr lang="en-US"/>
          </a:p>
        </p:txBody>
      </p:sp>
      <p:sp>
        <p:nvSpPr>
          <p:cNvPr id="28" name="Text 25">
            <a:extLst>
              <a:ext uri="{FF2B5EF4-FFF2-40B4-BE49-F238E27FC236}">
                <a16:creationId xmlns:a16="http://schemas.microsoft.com/office/drawing/2014/main" id="{A74703D8-58B2-DD71-AE00-6D893EC73513}"/>
              </a:ext>
            </a:extLst>
          </p:cNvPr>
          <p:cNvSpPr/>
          <p:nvPr/>
        </p:nvSpPr>
        <p:spPr>
          <a:xfrm>
            <a:off x="329184" y="3986784"/>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29" name="Text 26">
            <a:extLst>
              <a:ext uri="{FF2B5EF4-FFF2-40B4-BE49-F238E27FC236}">
                <a16:creationId xmlns:a16="http://schemas.microsoft.com/office/drawing/2014/main" id="{0E217BFF-860A-1D06-E340-A5FE9882AD44}"/>
              </a:ext>
            </a:extLst>
          </p:cNvPr>
          <p:cNvSpPr/>
          <p:nvPr/>
        </p:nvSpPr>
        <p:spPr>
          <a:xfrm>
            <a:off x="896112" y="3913632"/>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Barely navigable. The UI exists but provides little to no guidance. A user unfamiliar with the build would struggle to complete any meaningful action without help from the team.</a:t>
            </a:r>
            <a:endParaRPr lang="en-US" sz="850" dirty="0"/>
          </a:p>
        </p:txBody>
      </p:sp>
      <p:sp>
        <p:nvSpPr>
          <p:cNvPr id="30" name="Shape 27">
            <a:extLst>
              <a:ext uri="{FF2B5EF4-FFF2-40B4-BE49-F238E27FC236}">
                <a16:creationId xmlns:a16="http://schemas.microsoft.com/office/drawing/2014/main" id="{63548C15-DDEA-181C-E839-DBA1AF003532}"/>
              </a:ext>
            </a:extLst>
          </p:cNvPr>
          <p:cNvSpPr/>
          <p:nvPr/>
        </p:nvSpPr>
        <p:spPr>
          <a:xfrm>
            <a:off x="256032" y="4553712"/>
            <a:ext cx="4224528" cy="589788"/>
          </a:xfrm>
          <a:prstGeom prst="rect">
            <a:avLst/>
          </a:prstGeom>
          <a:solidFill>
            <a:srgbClr val="F8FAFD"/>
          </a:solidFill>
          <a:ln w="6350">
            <a:solidFill>
              <a:srgbClr val="DDE6F5"/>
            </a:solidFill>
            <a:prstDash val="solid"/>
          </a:ln>
        </p:spPr>
        <p:txBody>
          <a:bodyPr/>
          <a:lstStyle/>
          <a:p>
            <a:endParaRPr lang="en-US"/>
          </a:p>
        </p:txBody>
      </p:sp>
      <p:sp>
        <p:nvSpPr>
          <p:cNvPr id="31" name="Shape 28">
            <a:extLst>
              <a:ext uri="{FF2B5EF4-FFF2-40B4-BE49-F238E27FC236}">
                <a16:creationId xmlns:a16="http://schemas.microsoft.com/office/drawing/2014/main" id="{A0CA97D5-0D95-B536-8E56-1529D9B630F9}"/>
              </a:ext>
            </a:extLst>
          </p:cNvPr>
          <p:cNvSpPr/>
          <p:nvPr/>
        </p:nvSpPr>
        <p:spPr>
          <a:xfrm>
            <a:off x="329184" y="4681728"/>
            <a:ext cx="475488" cy="384048"/>
          </a:xfrm>
          <a:prstGeom prst="rect">
            <a:avLst/>
          </a:prstGeom>
          <a:solidFill>
            <a:srgbClr val="151F30"/>
          </a:solidFill>
          <a:ln w="12700">
            <a:solidFill>
              <a:srgbClr val="151F30"/>
            </a:solidFill>
            <a:prstDash val="solid"/>
          </a:ln>
        </p:spPr>
        <p:txBody>
          <a:bodyPr/>
          <a:lstStyle/>
          <a:p>
            <a:endParaRPr lang="en-US"/>
          </a:p>
        </p:txBody>
      </p:sp>
      <p:sp>
        <p:nvSpPr>
          <p:cNvPr id="32" name="Text 29">
            <a:extLst>
              <a:ext uri="{FF2B5EF4-FFF2-40B4-BE49-F238E27FC236}">
                <a16:creationId xmlns:a16="http://schemas.microsoft.com/office/drawing/2014/main" id="{D74F82D6-B455-2374-6C06-A25CC7E4CA10}"/>
              </a:ext>
            </a:extLst>
          </p:cNvPr>
          <p:cNvSpPr/>
          <p:nvPr/>
        </p:nvSpPr>
        <p:spPr>
          <a:xfrm>
            <a:off x="329184" y="468172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33" name="Text 30">
            <a:extLst>
              <a:ext uri="{FF2B5EF4-FFF2-40B4-BE49-F238E27FC236}">
                <a16:creationId xmlns:a16="http://schemas.microsoft.com/office/drawing/2014/main" id="{8D0B4237-6CAA-AA79-E0EE-846E02E80C82}"/>
              </a:ext>
            </a:extLst>
          </p:cNvPr>
          <p:cNvSpPr/>
          <p:nvPr/>
        </p:nvSpPr>
        <p:spPr>
          <a:xfrm>
            <a:off x="896112" y="460857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No meaningful UX to assess. No interface, or an interface so incomplete it cannot be evaluated as a user experience.</a:t>
            </a:r>
            <a:endParaRPr lang="en-US" sz="850" dirty="0"/>
          </a:p>
        </p:txBody>
      </p:sp>
      <p:sp>
        <p:nvSpPr>
          <p:cNvPr id="34" name="Shape 31">
            <a:extLst>
              <a:ext uri="{FF2B5EF4-FFF2-40B4-BE49-F238E27FC236}">
                <a16:creationId xmlns:a16="http://schemas.microsoft.com/office/drawing/2014/main" id="{C52AD16E-DC18-B00E-06E2-91C83AE3970A}"/>
              </a:ext>
            </a:extLst>
          </p:cNvPr>
          <p:cNvSpPr/>
          <p:nvPr/>
        </p:nvSpPr>
        <p:spPr>
          <a:xfrm>
            <a:off x="4663440" y="713232"/>
            <a:ext cx="4224528" cy="310896"/>
          </a:xfrm>
          <a:prstGeom prst="rect">
            <a:avLst/>
          </a:prstGeom>
          <a:solidFill>
            <a:srgbClr val="1A2744"/>
          </a:solidFill>
          <a:ln w="12700">
            <a:solidFill>
              <a:srgbClr val="1A2744"/>
            </a:solidFill>
            <a:prstDash val="solid"/>
          </a:ln>
        </p:spPr>
        <p:txBody>
          <a:bodyPr/>
          <a:lstStyle/>
          <a:p>
            <a:endParaRPr lang="en-US"/>
          </a:p>
        </p:txBody>
      </p:sp>
      <p:sp>
        <p:nvSpPr>
          <p:cNvPr id="35" name="Shape 32">
            <a:extLst>
              <a:ext uri="{FF2B5EF4-FFF2-40B4-BE49-F238E27FC236}">
                <a16:creationId xmlns:a16="http://schemas.microsoft.com/office/drawing/2014/main" id="{CCD3EA2B-43FD-3F6B-FC01-0B4DCA8A42ED}"/>
              </a:ext>
            </a:extLst>
          </p:cNvPr>
          <p:cNvSpPr/>
          <p:nvPr/>
        </p:nvSpPr>
        <p:spPr>
          <a:xfrm>
            <a:off x="4663440" y="713232"/>
            <a:ext cx="64008" cy="310896"/>
          </a:xfrm>
          <a:prstGeom prst="rect">
            <a:avLst/>
          </a:prstGeom>
          <a:solidFill>
            <a:srgbClr val="00C4CC"/>
          </a:solidFill>
          <a:ln w="12700">
            <a:solidFill>
              <a:srgbClr val="00C4CC"/>
            </a:solidFill>
            <a:prstDash val="solid"/>
          </a:ln>
        </p:spPr>
        <p:txBody>
          <a:bodyPr/>
          <a:lstStyle/>
          <a:p>
            <a:endParaRPr lang="en-US"/>
          </a:p>
        </p:txBody>
      </p:sp>
      <p:pic>
        <p:nvPicPr>
          <p:cNvPr id="36" name="Image 1" descr="preencoded.png">
            <a:extLst>
              <a:ext uri="{FF2B5EF4-FFF2-40B4-BE49-F238E27FC236}">
                <a16:creationId xmlns:a16="http://schemas.microsoft.com/office/drawing/2014/main" id="{A9433B9F-3DF8-3711-6736-884228B668F2}"/>
              </a:ext>
            </a:extLst>
          </p:cNvPr>
          <p:cNvPicPr>
            <a:picLocks noChangeAspect="1"/>
          </p:cNvPicPr>
          <p:nvPr/>
        </p:nvPicPr>
        <p:blipFill>
          <a:blip r:embed="rId4"/>
          <a:stretch>
            <a:fillRect/>
          </a:stretch>
        </p:blipFill>
        <p:spPr>
          <a:xfrm>
            <a:off x="4773168" y="749808"/>
            <a:ext cx="219456" cy="219456"/>
          </a:xfrm>
          <a:prstGeom prst="rect">
            <a:avLst/>
          </a:prstGeom>
        </p:spPr>
      </p:pic>
      <p:sp>
        <p:nvSpPr>
          <p:cNvPr id="37" name="Text 33">
            <a:extLst>
              <a:ext uri="{FF2B5EF4-FFF2-40B4-BE49-F238E27FC236}">
                <a16:creationId xmlns:a16="http://schemas.microsoft.com/office/drawing/2014/main" id="{F57064D3-279A-865C-3597-FFD23521011D}"/>
              </a:ext>
            </a:extLst>
          </p:cNvPr>
          <p:cNvSpPr/>
          <p:nvPr/>
        </p:nvSpPr>
        <p:spPr>
          <a:xfrm>
            <a:off x="5065776" y="713232"/>
            <a:ext cx="3767328" cy="310896"/>
          </a:xfrm>
          <a:prstGeom prst="rect">
            <a:avLst/>
          </a:prstGeom>
          <a:noFill/>
          <a:ln/>
        </p:spPr>
        <p:txBody>
          <a:bodyPr wrap="square" lIns="0" tIns="0" rIns="0" bIns="0" rtlCol="0" anchor="ctr"/>
          <a:lstStyle/>
          <a:p>
            <a:pPr marL="0" indent="0">
              <a:buNone/>
            </a:pPr>
            <a:r>
              <a:rPr lang="en-US" sz="1100" b="1" dirty="0">
                <a:solidFill>
                  <a:srgbClr val="00C4CC"/>
                </a:solidFill>
                <a:latin typeface="Trebuchet MS" pitchFamily="34" charset="0"/>
                <a:ea typeface="Trebuchet MS" pitchFamily="34" charset="-122"/>
                <a:cs typeface="Trebuchet MS" pitchFamily="34" charset="-120"/>
              </a:rPr>
              <a:t>Category: Best Feature Fit</a:t>
            </a:r>
            <a:endParaRPr lang="en-US" sz="1100" dirty="0"/>
          </a:p>
        </p:txBody>
      </p:sp>
      <p:sp>
        <p:nvSpPr>
          <p:cNvPr id="38" name="Shape 34">
            <a:extLst>
              <a:ext uri="{FF2B5EF4-FFF2-40B4-BE49-F238E27FC236}">
                <a16:creationId xmlns:a16="http://schemas.microsoft.com/office/drawing/2014/main" id="{AA61EE2D-81CE-98AC-9926-9597A0181D8E}"/>
              </a:ext>
            </a:extLst>
          </p:cNvPr>
          <p:cNvSpPr/>
          <p:nvPr/>
        </p:nvSpPr>
        <p:spPr>
          <a:xfrm>
            <a:off x="4663440" y="1078992"/>
            <a:ext cx="4224528" cy="658368"/>
          </a:xfrm>
          <a:prstGeom prst="rect">
            <a:avLst/>
          </a:prstGeom>
          <a:solidFill>
            <a:srgbClr val="FFFFFF"/>
          </a:solidFill>
          <a:ln w="6350">
            <a:solidFill>
              <a:srgbClr val="DDE6F5"/>
            </a:solidFill>
            <a:prstDash val="solid"/>
          </a:ln>
        </p:spPr>
        <p:txBody>
          <a:bodyPr/>
          <a:lstStyle/>
          <a:p>
            <a:endParaRPr lang="en-US"/>
          </a:p>
        </p:txBody>
      </p:sp>
      <p:sp>
        <p:nvSpPr>
          <p:cNvPr id="39" name="Shape 35">
            <a:extLst>
              <a:ext uri="{FF2B5EF4-FFF2-40B4-BE49-F238E27FC236}">
                <a16:creationId xmlns:a16="http://schemas.microsoft.com/office/drawing/2014/main" id="{C51D9AE5-CD09-B0E1-7491-DA8A3090CCBD}"/>
              </a:ext>
            </a:extLst>
          </p:cNvPr>
          <p:cNvSpPr/>
          <p:nvPr/>
        </p:nvSpPr>
        <p:spPr>
          <a:xfrm>
            <a:off x="4736592" y="1207008"/>
            <a:ext cx="475488" cy="384048"/>
          </a:xfrm>
          <a:prstGeom prst="rect">
            <a:avLst/>
          </a:prstGeom>
          <a:solidFill>
            <a:srgbClr val="027A80"/>
          </a:solidFill>
          <a:ln w="12700">
            <a:solidFill>
              <a:srgbClr val="027A80"/>
            </a:solidFill>
            <a:prstDash val="solid"/>
          </a:ln>
        </p:spPr>
        <p:txBody>
          <a:bodyPr/>
          <a:lstStyle/>
          <a:p>
            <a:endParaRPr lang="en-US"/>
          </a:p>
        </p:txBody>
      </p:sp>
      <p:sp>
        <p:nvSpPr>
          <p:cNvPr id="40" name="Text 36">
            <a:extLst>
              <a:ext uri="{FF2B5EF4-FFF2-40B4-BE49-F238E27FC236}">
                <a16:creationId xmlns:a16="http://schemas.microsoft.com/office/drawing/2014/main" id="{A7116D78-E816-09B5-37FC-82B7845A4F7A}"/>
              </a:ext>
            </a:extLst>
          </p:cNvPr>
          <p:cNvSpPr/>
          <p:nvPr/>
        </p:nvSpPr>
        <p:spPr>
          <a:xfrm>
            <a:off x="4736592" y="120700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9–10</a:t>
            </a:r>
            <a:endParaRPr lang="en-US" sz="1000" dirty="0"/>
          </a:p>
        </p:txBody>
      </p:sp>
      <p:sp>
        <p:nvSpPr>
          <p:cNvPr id="41" name="Text 37">
            <a:extLst>
              <a:ext uri="{FF2B5EF4-FFF2-40B4-BE49-F238E27FC236}">
                <a16:creationId xmlns:a16="http://schemas.microsoft.com/office/drawing/2014/main" id="{7055DC7D-65F3-1459-870F-310499D57BFC}"/>
              </a:ext>
            </a:extLst>
          </p:cNvPr>
          <p:cNvSpPr/>
          <p:nvPr/>
        </p:nvSpPr>
        <p:spPr>
          <a:xfrm>
            <a:off x="5303520" y="113385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Deliberate, well-reasoned feature choices that address the most important dimensions of the problem space. The team can articulate what they built and why — and what they chose not to build and why. Features hang together as a coherent solution. The product owner would recognise the pain points being solved.</a:t>
            </a:r>
            <a:endParaRPr lang="en-US" sz="850" dirty="0"/>
          </a:p>
        </p:txBody>
      </p:sp>
      <p:sp>
        <p:nvSpPr>
          <p:cNvPr id="42" name="Shape 38">
            <a:extLst>
              <a:ext uri="{FF2B5EF4-FFF2-40B4-BE49-F238E27FC236}">
                <a16:creationId xmlns:a16="http://schemas.microsoft.com/office/drawing/2014/main" id="{0476C344-F2B6-0F7C-BB39-70D8E6E31A21}"/>
              </a:ext>
            </a:extLst>
          </p:cNvPr>
          <p:cNvSpPr/>
          <p:nvPr/>
        </p:nvSpPr>
        <p:spPr>
          <a:xfrm>
            <a:off x="4663440" y="1773936"/>
            <a:ext cx="4224528" cy="658368"/>
          </a:xfrm>
          <a:prstGeom prst="rect">
            <a:avLst/>
          </a:prstGeom>
          <a:solidFill>
            <a:srgbClr val="FFFFFF"/>
          </a:solidFill>
          <a:ln w="6350">
            <a:solidFill>
              <a:srgbClr val="DDE6F5"/>
            </a:solidFill>
            <a:prstDash val="solid"/>
          </a:ln>
        </p:spPr>
        <p:txBody>
          <a:bodyPr/>
          <a:lstStyle/>
          <a:p>
            <a:endParaRPr lang="en-US"/>
          </a:p>
        </p:txBody>
      </p:sp>
      <p:sp>
        <p:nvSpPr>
          <p:cNvPr id="43" name="Shape 39">
            <a:extLst>
              <a:ext uri="{FF2B5EF4-FFF2-40B4-BE49-F238E27FC236}">
                <a16:creationId xmlns:a16="http://schemas.microsoft.com/office/drawing/2014/main" id="{09B7C6F5-D54D-BED7-8681-BB0210D60562}"/>
              </a:ext>
            </a:extLst>
          </p:cNvPr>
          <p:cNvSpPr/>
          <p:nvPr/>
        </p:nvSpPr>
        <p:spPr>
          <a:xfrm>
            <a:off x="4736592" y="1901952"/>
            <a:ext cx="475488" cy="384048"/>
          </a:xfrm>
          <a:prstGeom prst="rect">
            <a:avLst/>
          </a:prstGeom>
          <a:solidFill>
            <a:srgbClr val="1A5C7A"/>
          </a:solidFill>
          <a:ln w="12700">
            <a:solidFill>
              <a:srgbClr val="1A5C7A"/>
            </a:solidFill>
            <a:prstDash val="solid"/>
          </a:ln>
        </p:spPr>
        <p:txBody>
          <a:bodyPr/>
          <a:lstStyle/>
          <a:p>
            <a:endParaRPr lang="en-US"/>
          </a:p>
        </p:txBody>
      </p:sp>
      <p:sp>
        <p:nvSpPr>
          <p:cNvPr id="44" name="Text 40">
            <a:extLst>
              <a:ext uri="{FF2B5EF4-FFF2-40B4-BE49-F238E27FC236}">
                <a16:creationId xmlns:a16="http://schemas.microsoft.com/office/drawing/2014/main" id="{7A29DAF8-D8CB-02F1-D447-8734874BF11E}"/>
              </a:ext>
            </a:extLst>
          </p:cNvPr>
          <p:cNvSpPr/>
          <p:nvPr/>
        </p:nvSpPr>
        <p:spPr>
          <a:xfrm>
            <a:off x="4736592" y="1901952"/>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7–8</a:t>
            </a:r>
            <a:endParaRPr lang="en-US" sz="1000" dirty="0"/>
          </a:p>
        </p:txBody>
      </p:sp>
      <p:sp>
        <p:nvSpPr>
          <p:cNvPr id="45" name="Text 41">
            <a:extLst>
              <a:ext uri="{FF2B5EF4-FFF2-40B4-BE49-F238E27FC236}">
                <a16:creationId xmlns:a16="http://schemas.microsoft.com/office/drawing/2014/main" id="{E0777003-00B3-9CBE-AFEE-392EDC0BBBC3}"/>
              </a:ext>
            </a:extLst>
          </p:cNvPr>
          <p:cNvSpPr/>
          <p:nvPr/>
        </p:nvSpPr>
        <p:spPr>
          <a:xfrm>
            <a:off x="5303520" y="1828800"/>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Strong feature choices with minor gaps. The team addressed the core of the problem and made sensible scope decisions, but one or two features feel either missing or included without clear justification. The team can defend most decisions but may struggle on one or two.</a:t>
            </a:r>
            <a:endParaRPr lang="en-US" sz="850" dirty="0"/>
          </a:p>
        </p:txBody>
      </p:sp>
      <p:sp>
        <p:nvSpPr>
          <p:cNvPr id="46" name="Shape 42">
            <a:extLst>
              <a:ext uri="{FF2B5EF4-FFF2-40B4-BE49-F238E27FC236}">
                <a16:creationId xmlns:a16="http://schemas.microsoft.com/office/drawing/2014/main" id="{3D3CBCE3-CD39-AEB6-EB3B-2A642D36610F}"/>
              </a:ext>
            </a:extLst>
          </p:cNvPr>
          <p:cNvSpPr/>
          <p:nvPr/>
        </p:nvSpPr>
        <p:spPr>
          <a:xfrm>
            <a:off x="4663440" y="2468880"/>
            <a:ext cx="4224528" cy="658368"/>
          </a:xfrm>
          <a:prstGeom prst="rect">
            <a:avLst/>
          </a:prstGeom>
          <a:solidFill>
            <a:srgbClr val="FFFFFF"/>
          </a:solidFill>
          <a:ln w="6350">
            <a:solidFill>
              <a:srgbClr val="DDE6F5"/>
            </a:solidFill>
            <a:prstDash val="solid"/>
          </a:ln>
        </p:spPr>
        <p:txBody>
          <a:bodyPr/>
          <a:lstStyle/>
          <a:p>
            <a:endParaRPr lang="en-US"/>
          </a:p>
        </p:txBody>
      </p:sp>
      <p:sp>
        <p:nvSpPr>
          <p:cNvPr id="47" name="Shape 43">
            <a:extLst>
              <a:ext uri="{FF2B5EF4-FFF2-40B4-BE49-F238E27FC236}">
                <a16:creationId xmlns:a16="http://schemas.microsoft.com/office/drawing/2014/main" id="{9B4F30FD-1CB4-4F53-58AE-7A241418A9DD}"/>
              </a:ext>
            </a:extLst>
          </p:cNvPr>
          <p:cNvSpPr/>
          <p:nvPr/>
        </p:nvSpPr>
        <p:spPr>
          <a:xfrm>
            <a:off x="4736592" y="2596896"/>
            <a:ext cx="475488" cy="384048"/>
          </a:xfrm>
          <a:prstGeom prst="rect">
            <a:avLst/>
          </a:prstGeom>
          <a:solidFill>
            <a:srgbClr val="243558"/>
          </a:solidFill>
          <a:ln w="12700">
            <a:solidFill>
              <a:srgbClr val="243558"/>
            </a:solidFill>
            <a:prstDash val="solid"/>
          </a:ln>
        </p:spPr>
        <p:txBody>
          <a:bodyPr/>
          <a:lstStyle/>
          <a:p>
            <a:endParaRPr lang="en-US"/>
          </a:p>
        </p:txBody>
      </p:sp>
      <p:sp>
        <p:nvSpPr>
          <p:cNvPr id="48" name="Text 44">
            <a:extLst>
              <a:ext uri="{FF2B5EF4-FFF2-40B4-BE49-F238E27FC236}">
                <a16:creationId xmlns:a16="http://schemas.microsoft.com/office/drawing/2014/main" id="{A59A38A0-40B9-791F-3E5F-D0E995C8FC5E}"/>
              </a:ext>
            </a:extLst>
          </p:cNvPr>
          <p:cNvSpPr/>
          <p:nvPr/>
        </p:nvSpPr>
        <p:spPr>
          <a:xfrm>
            <a:off x="4736592" y="2596896"/>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5–6</a:t>
            </a:r>
            <a:endParaRPr lang="en-US" sz="1000" dirty="0"/>
          </a:p>
        </p:txBody>
      </p:sp>
      <p:sp>
        <p:nvSpPr>
          <p:cNvPr id="49" name="Text 45">
            <a:extLst>
              <a:ext uri="{FF2B5EF4-FFF2-40B4-BE49-F238E27FC236}">
                <a16:creationId xmlns:a16="http://schemas.microsoft.com/office/drawing/2014/main" id="{E9440BE0-17F6-D15D-745D-C0F34B342D9B}"/>
              </a:ext>
            </a:extLst>
          </p:cNvPr>
          <p:cNvSpPr/>
          <p:nvPr/>
        </p:nvSpPr>
        <p:spPr>
          <a:xfrm>
            <a:off x="5303520" y="2523744"/>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Reasonable coverage but choices feel driven by what was easy to build rather than what was important to solve. The team addressed the obvious booking flow but missed meaningful parts of the problem space. Feature decisions are partially defensible.</a:t>
            </a:r>
            <a:endParaRPr lang="en-US" sz="850" dirty="0"/>
          </a:p>
        </p:txBody>
      </p:sp>
      <p:sp>
        <p:nvSpPr>
          <p:cNvPr id="50" name="Shape 46">
            <a:extLst>
              <a:ext uri="{FF2B5EF4-FFF2-40B4-BE49-F238E27FC236}">
                <a16:creationId xmlns:a16="http://schemas.microsoft.com/office/drawing/2014/main" id="{DE6501E8-3FC0-4DA8-A2C9-84647EB35CF1}"/>
              </a:ext>
            </a:extLst>
          </p:cNvPr>
          <p:cNvSpPr/>
          <p:nvPr/>
        </p:nvSpPr>
        <p:spPr>
          <a:xfrm>
            <a:off x="4663440" y="3163824"/>
            <a:ext cx="4224528" cy="658368"/>
          </a:xfrm>
          <a:prstGeom prst="rect">
            <a:avLst/>
          </a:prstGeom>
          <a:solidFill>
            <a:srgbClr val="F8FAFD"/>
          </a:solidFill>
          <a:ln w="6350">
            <a:solidFill>
              <a:srgbClr val="DDE6F5"/>
            </a:solidFill>
            <a:prstDash val="solid"/>
          </a:ln>
        </p:spPr>
        <p:txBody>
          <a:bodyPr/>
          <a:lstStyle/>
          <a:p>
            <a:endParaRPr lang="en-US"/>
          </a:p>
        </p:txBody>
      </p:sp>
      <p:sp>
        <p:nvSpPr>
          <p:cNvPr id="51" name="Shape 47">
            <a:extLst>
              <a:ext uri="{FF2B5EF4-FFF2-40B4-BE49-F238E27FC236}">
                <a16:creationId xmlns:a16="http://schemas.microsoft.com/office/drawing/2014/main" id="{91E872C3-B0BA-8C31-F4B1-4B3AC80659F3}"/>
              </a:ext>
            </a:extLst>
          </p:cNvPr>
          <p:cNvSpPr/>
          <p:nvPr/>
        </p:nvSpPr>
        <p:spPr>
          <a:xfrm>
            <a:off x="4736592" y="3291840"/>
            <a:ext cx="475488" cy="384048"/>
          </a:xfrm>
          <a:prstGeom prst="rect">
            <a:avLst/>
          </a:prstGeom>
          <a:solidFill>
            <a:srgbClr val="1E2F4A"/>
          </a:solidFill>
          <a:ln w="12700">
            <a:solidFill>
              <a:srgbClr val="1E2F4A"/>
            </a:solidFill>
            <a:prstDash val="solid"/>
          </a:ln>
        </p:spPr>
        <p:txBody>
          <a:bodyPr/>
          <a:lstStyle/>
          <a:p>
            <a:endParaRPr lang="en-US"/>
          </a:p>
        </p:txBody>
      </p:sp>
      <p:sp>
        <p:nvSpPr>
          <p:cNvPr id="52" name="Text 48">
            <a:extLst>
              <a:ext uri="{FF2B5EF4-FFF2-40B4-BE49-F238E27FC236}">
                <a16:creationId xmlns:a16="http://schemas.microsoft.com/office/drawing/2014/main" id="{11862402-546A-897C-63F5-5C38322FA01F}"/>
              </a:ext>
            </a:extLst>
          </p:cNvPr>
          <p:cNvSpPr/>
          <p:nvPr/>
        </p:nvSpPr>
        <p:spPr>
          <a:xfrm>
            <a:off x="4736592" y="3291840"/>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3–4</a:t>
            </a:r>
            <a:endParaRPr lang="en-US" sz="1000" dirty="0"/>
          </a:p>
        </p:txBody>
      </p:sp>
      <p:sp>
        <p:nvSpPr>
          <p:cNvPr id="53" name="Text 49">
            <a:extLst>
              <a:ext uri="{FF2B5EF4-FFF2-40B4-BE49-F238E27FC236}">
                <a16:creationId xmlns:a16="http://schemas.microsoft.com/office/drawing/2014/main" id="{EAF1D6F3-AF53-0518-BE31-0104F55520A9}"/>
              </a:ext>
            </a:extLst>
          </p:cNvPr>
          <p:cNvSpPr/>
          <p:nvPr/>
        </p:nvSpPr>
        <p:spPr>
          <a:xfrm>
            <a:off x="5303520" y="3218688"/>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Limited problem understanding evident in the feature choices. Built a subset of obvious features without demonstrating awareness of the broader problem space. Scope decisions feel arbitrary or driven by technical familiarity rather than user need.</a:t>
            </a:r>
            <a:endParaRPr lang="en-US" sz="850" dirty="0"/>
          </a:p>
        </p:txBody>
      </p:sp>
      <p:sp>
        <p:nvSpPr>
          <p:cNvPr id="54" name="Shape 50">
            <a:extLst>
              <a:ext uri="{FF2B5EF4-FFF2-40B4-BE49-F238E27FC236}">
                <a16:creationId xmlns:a16="http://schemas.microsoft.com/office/drawing/2014/main" id="{B72C9B45-65ED-8851-710C-9F0C2D054F16}"/>
              </a:ext>
            </a:extLst>
          </p:cNvPr>
          <p:cNvSpPr/>
          <p:nvPr/>
        </p:nvSpPr>
        <p:spPr>
          <a:xfrm>
            <a:off x="4663440" y="3858768"/>
            <a:ext cx="4224528" cy="658368"/>
          </a:xfrm>
          <a:prstGeom prst="rect">
            <a:avLst/>
          </a:prstGeom>
          <a:solidFill>
            <a:srgbClr val="F8FAFD"/>
          </a:solidFill>
          <a:ln w="6350">
            <a:solidFill>
              <a:srgbClr val="DDE6F5"/>
            </a:solidFill>
            <a:prstDash val="solid"/>
          </a:ln>
        </p:spPr>
        <p:txBody>
          <a:bodyPr/>
          <a:lstStyle/>
          <a:p>
            <a:endParaRPr lang="en-US"/>
          </a:p>
        </p:txBody>
      </p:sp>
      <p:sp>
        <p:nvSpPr>
          <p:cNvPr id="55" name="Shape 51">
            <a:extLst>
              <a:ext uri="{FF2B5EF4-FFF2-40B4-BE49-F238E27FC236}">
                <a16:creationId xmlns:a16="http://schemas.microsoft.com/office/drawing/2014/main" id="{C8C0D261-A36E-3A74-8FD5-2EE8F8121EF8}"/>
              </a:ext>
            </a:extLst>
          </p:cNvPr>
          <p:cNvSpPr/>
          <p:nvPr/>
        </p:nvSpPr>
        <p:spPr>
          <a:xfrm>
            <a:off x="4736592" y="3986784"/>
            <a:ext cx="475488" cy="384048"/>
          </a:xfrm>
          <a:prstGeom prst="rect">
            <a:avLst/>
          </a:prstGeom>
          <a:solidFill>
            <a:srgbClr val="1A2740"/>
          </a:solidFill>
          <a:ln w="12700">
            <a:solidFill>
              <a:srgbClr val="1A2740"/>
            </a:solidFill>
            <a:prstDash val="solid"/>
          </a:ln>
        </p:spPr>
        <p:txBody>
          <a:bodyPr/>
          <a:lstStyle/>
          <a:p>
            <a:endParaRPr lang="en-US"/>
          </a:p>
        </p:txBody>
      </p:sp>
      <p:sp>
        <p:nvSpPr>
          <p:cNvPr id="56" name="Text 52">
            <a:extLst>
              <a:ext uri="{FF2B5EF4-FFF2-40B4-BE49-F238E27FC236}">
                <a16:creationId xmlns:a16="http://schemas.microsoft.com/office/drawing/2014/main" id="{D8580C93-EB95-21AF-C7A2-3184ED27D69F}"/>
              </a:ext>
            </a:extLst>
          </p:cNvPr>
          <p:cNvSpPr/>
          <p:nvPr/>
        </p:nvSpPr>
        <p:spPr>
          <a:xfrm>
            <a:off x="4736592" y="3986784"/>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57" name="Text 53">
            <a:extLst>
              <a:ext uri="{FF2B5EF4-FFF2-40B4-BE49-F238E27FC236}">
                <a16:creationId xmlns:a16="http://schemas.microsoft.com/office/drawing/2014/main" id="{1081383B-A54A-1429-6C56-78538B5C7679}"/>
              </a:ext>
            </a:extLst>
          </p:cNvPr>
          <p:cNvSpPr/>
          <p:nvPr/>
        </p:nvSpPr>
        <p:spPr>
          <a:xfrm>
            <a:off x="5303520" y="3913632"/>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Feature choices show little connection to the problem space. What was built doesn't meaningfully address the core desk booking challenge, or the team cannot articulate why they chose what they did.</a:t>
            </a:r>
            <a:endParaRPr lang="en-US" sz="850" dirty="0"/>
          </a:p>
        </p:txBody>
      </p:sp>
      <p:sp>
        <p:nvSpPr>
          <p:cNvPr id="58" name="Shape 54">
            <a:extLst>
              <a:ext uri="{FF2B5EF4-FFF2-40B4-BE49-F238E27FC236}">
                <a16:creationId xmlns:a16="http://schemas.microsoft.com/office/drawing/2014/main" id="{632CD359-3D9B-6E64-D263-FE1F45BD9FB5}"/>
              </a:ext>
            </a:extLst>
          </p:cNvPr>
          <p:cNvSpPr/>
          <p:nvPr/>
        </p:nvSpPr>
        <p:spPr>
          <a:xfrm>
            <a:off x="4663440" y="4553712"/>
            <a:ext cx="4224528" cy="589788"/>
          </a:xfrm>
          <a:prstGeom prst="rect">
            <a:avLst/>
          </a:prstGeom>
          <a:solidFill>
            <a:srgbClr val="F8FAFD"/>
          </a:solidFill>
          <a:ln w="6350">
            <a:solidFill>
              <a:srgbClr val="DDE6F5"/>
            </a:solidFill>
            <a:prstDash val="solid"/>
          </a:ln>
        </p:spPr>
        <p:txBody>
          <a:bodyPr/>
          <a:lstStyle/>
          <a:p>
            <a:endParaRPr lang="en-US"/>
          </a:p>
        </p:txBody>
      </p:sp>
      <p:sp>
        <p:nvSpPr>
          <p:cNvPr id="59" name="Shape 55">
            <a:extLst>
              <a:ext uri="{FF2B5EF4-FFF2-40B4-BE49-F238E27FC236}">
                <a16:creationId xmlns:a16="http://schemas.microsoft.com/office/drawing/2014/main" id="{D6CFDDE7-DBB1-E815-B7E9-EEF335F54CD7}"/>
              </a:ext>
            </a:extLst>
          </p:cNvPr>
          <p:cNvSpPr/>
          <p:nvPr/>
        </p:nvSpPr>
        <p:spPr>
          <a:xfrm>
            <a:off x="4736592" y="4681728"/>
            <a:ext cx="475488" cy="384048"/>
          </a:xfrm>
          <a:prstGeom prst="rect">
            <a:avLst/>
          </a:prstGeom>
          <a:solidFill>
            <a:srgbClr val="151F30"/>
          </a:solidFill>
          <a:ln w="12700">
            <a:solidFill>
              <a:srgbClr val="151F30"/>
            </a:solidFill>
            <a:prstDash val="solid"/>
          </a:ln>
        </p:spPr>
        <p:txBody>
          <a:bodyPr/>
          <a:lstStyle/>
          <a:p>
            <a:endParaRPr lang="en-US"/>
          </a:p>
        </p:txBody>
      </p:sp>
      <p:sp>
        <p:nvSpPr>
          <p:cNvPr id="60" name="Text 56">
            <a:extLst>
              <a:ext uri="{FF2B5EF4-FFF2-40B4-BE49-F238E27FC236}">
                <a16:creationId xmlns:a16="http://schemas.microsoft.com/office/drawing/2014/main" id="{8FB92D97-9E1A-FFAC-9DB9-49EFAD1EFFD6}"/>
              </a:ext>
            </a:extLst>
          </p:cNvPr>
          <p:cNvSpPr/>
          <p:nvPr/>
        </p:nvSpPr>
        <p:spPr>
          <a:xfrm>
            <a:off x="4736592" y="4681728"/>
            <a:ext cx="47548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61" name="Text 57">
            <a:extLst>
              <a:ext uri="{FF2B5EF4-FFF2-40B4-BE49-F238E27FC236}">
                <a16:creationId xmlns:a16="http://schemas.microsoft.com/office/drawing/2014/main" id="{F9A87C01-1EC6-87ED-90EB-469401EF38C5}"/>
              </a:ext>
            </a:extLst>
          </p:cNvPr>
          <p:cNvSpPr/>
          <p:nvPr/>
        </p:nvSpPr>
        <p:spPr>
          <a:xfrm>
            <a:off x="5303520" y="4608576"/>
            <a:ext cx="3493008" cy="566928"/>
          </a:xfrm>
          <a:prstGeom prst="rect">
            <a:avLst/>
          </a:prstGeom>
          <a:noFill/>
          <a:ln/>
        </p:spPr>
        <p:txBody>
          <a:bodyPr wrap="square" rtlCol="0" anchor="ctr"/>
          <a:lstStyle/>
          <a:p>
            <a:pPr marL="0" indent="0">
              <a:buNone/>
            </a:pPr>
            <a:r>
              <a:rPr lang="en-US" sz="850" dirty="0">
                <a:solidFill>
                  <a:srgbClr val="6B7FA3"/>
                </a:solidFill>
                <a:latin typeface="Calibri" pitchFamily="34" charset="0"/>
                <a:ea typeface="Calibri" pitchFamily="34" charset="-122"/>
                <a:cs typeface="Calibri" pitchFamily="34" charset="-120"/>
              </a:rPr>
              <a:t>No meaningful feature choices to assess. Nothing was built, or what was built bears no relationship to the problem posed.</a:t>
            </a:r>
            <a:endParaRPr lang="en-US" sz="850" dirty="0"/>
          </a:p>
        </p:txBody>
      </p:sp>
    </p:spTree>
    <p:extLst>
      <p:ext uri="{BB962C8B-B14F-4D97-AF65-F5344CB8AC3E}">
        <p14:creationId xmlns:p14="http://schemas.microsoft.com/office/powerpoint/2010/main" val="2521472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85C00690D13244B8DBAE27BCD31B516" ma:contentTypeVersion="9" ma:contentTypeDescription="Create a new document." ma:contentTypeScope="" ma:versionID="0516acacd86287820e1829d07d232f62">
  <xsd:schema xmlns:xsd="http://www.w3.org/2001/XMLSchema" xmlns:xs="http://www.w3.org/2001/XMLSchema" xmlns:p="http://schemas.microsoft.com/office/2006/metadata/properties" xmlns:ns1="http://schemas.microsoft.com/sharepoint/v3" xmlns:ns2="5dc305f3-887d-428c-af02-d8206da1962b" targetNamespace="http://schemas.microsoft.com/office/2006/metadata/properties" ma:root="true" ma:fieldsID="68478a92b2f5107dd774b77913897855" ns1:_="" ns2:_="">
    <xsd:import namespace="http://schemas.microsoft.com/sharepoint/v3"/>
    <xsd:import namespace="5dc305f3-887d-428c-af02-d8206da1962b"/>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dc305f3-887d-428c-af02-d8206da1962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383FC1-FA37-43CC-8113-281120963156}">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13503DFF-6574-4FA6-B4DE-E2F5EBF0FD76}">
  <ds:schemaRefs>
    <ds:schemaRef ds:uri="http://schemas.microsoft.com/sharepoint/v3/contenttype/forms"/>
  </ds:schemaRefs>
</ds:datastoreItem>
</file>

<file path=customXml/itemProps3.xml><?xml version="1.0" encoding="utf-8"?>
<ds:datastoreItem xmlns:ds="http://schemas.openxmlformats.org/officeDocument/2006/customXml" ds:itemID="{79EDE7AC-2AC6-4D68-8EA2-199CBC2F0E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dc305f3-887d-428c-af02-d8206da196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bc792f8-6d75-423a-9981-629281829092}" enabled="1" method="Privileged" siteId="{3ded2960-214a-46ff-8cf4-611f125e2398}" removed="0"/>
</clbl:labelList>
</file>

<file path=docProps/app.xml><?xml version="1.0" encoding="utf-8"?>
<Properties xmlns="http://schemas.openxmlformats.org/officeDocument/2006/extended-properties" xmlns:vt="http://schemas.openxmlformats.org/officeDocument/2006/docPropsVTypes">
  <TotalTime>1534</TotalTime>
  <Words>2955</Words>
  <Application>Microsoft Office PowerPoint</Application>
  <PresentationFormat>On-screen Show (16:9)</PresentationFormat>
  <Paragraphs>264</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Workplaces Hack Day</dc:title>
  <dc:subject>PptxGenJS Presentation</dc:subject>
  <dc:creator>PptxGenJS</dc:creator>
  <cp:lastModifiedBy>Kelechi Aofolaju</cp:lastModifiedBy>
  <cp:revision>27</cp:revision>
  <dcterms:created xsi:type="dcterms:W3CDTF">2026-04-13T13:23:20Z</dcterms:created>
  <dcterms:modified xsi:type="dcterms:W3CDTF">2026-05-11T09:37:32Z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0x010100685C00690D13244B8DBAE27BCD31B516</vt:lpwstr>
  </property>
</Properties>
</file>